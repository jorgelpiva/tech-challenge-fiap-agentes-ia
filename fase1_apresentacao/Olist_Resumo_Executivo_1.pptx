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25BBE-6634-44C0-8EAC-C12052A3110B}" v="12" dt="2026-08-27T14:01:21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Granjeiro" userId="f8cdf1c46bfa1ab4" providerId="LiveId" clId="{303F3E2E-D5B0-429D-967C-1792299FE3E2}"/>
    <pc:docChg chg="modSld">
      <pc:chgData name="Leonardo Granjeiro" userId="f8cdf1c46bfa1ab4" providerId="LiveId" clId="{303F3E2E-D5B0-429D-967C-1792299FE3E2}" dt="2026-08-27T14:01:21.294" v="26"/>
      <pc:docMkLst>
        <pc:docMk/>
      </pc:docMkLst>
      <pc:sldChg chg="addSp delSp modSp mod modTransition modAnim">
        <pc:chgData name="Leonardo Granjeiro" userId="f8cdf1c46bfa1ab4" providerId="LiveId" clId="{303F3E2E-D5B0-429D-967C-1792299FE3E2}" dt="2026-08-27T14:00:21.434" v="25"/>
        <pc:sldMkLst>
          <pc:docMk/>
          <pc:sldMk cId="0" sldId="256"/>
        </pc:sldMkLst>
        <pc:spChg chg="mod">
          <ac:chgData name="Leonardo Granjeiro" userId="f8cdf1c46bfa1ab4" providerId="LiveId" clId="{303F3E2E-D5B0-429D-967C-1792299FE3E2}" dt="2026-08-27T03:20:07.903" v="9" actId="20577"/>
          <ac:spMkLst>
            <pc:docMk/>
            <pc:sldMk cId="0" sldId="256"/>
            <ac:spMk id="10" creationId="{00000000-0000-0000-0000-000000000000}"/>
          </ac:spMkLst>
        </pc:spChg>
        <pc:picChg chg="add del mod">
          <ac:chgData name="Leonardo Granjeiro" userId="f8cdf1c46bfa1ab4" providerId="LiveId" clId="{303F3E2E-D5B0-429D-967C-1792299FE3E2}" dt="2026-08-27T13:52:19.164" v="12"/>
          <ac:picMkLst>
            <pc:docMk/>
            <pc:sldMk cId="0" sldId="256"/>
            <ac:picMk id="33" creationId="{F3101774-04B0-FFAF-8832-5448B85A4219}"/>
          </ac:picMkLst>
        </pc:picChg>
        <pc:picChg chg="add del mod ord">
          <ac:chgData name="Leonardo Granjeiro" userId="f8cdf1c46bfa1ab4" providerId="LiveId" clId="{303F3E2E-D5B0-429D-967C-1792299FE3E2}" dt="2026-08-27T13:54:22.080" v="13"/>
          <ac:picMkLst>
            <pc:docMk/>
            <pc:sldMk cId="0" sldId="256"/>
            <ac:picMk id="37" creationId="{8FEE391E-A0C0-ABCE-C7D2-D3D0BF8375E7}"/>
          </ac:picMkLst>
        </pc:picChg>
        <pc:picChg chg="add del mod">
          <ac:chgData name="Leonardo Granjeiro" userId="f8cdf1c46bfa1ab4" providerId="LiveId" clId="{303F3E2E-D5B0-429D-967C-1792299FE3E2}" dt="2026-08-27T13:54:57.879" v="15"/>
          <ac:picMkLst>
            <pc:docMk/>
            <pc:sldMk cId="0" sldId="256"/>
            <ac:picMk id="38" creationId="{4AE68101-5176-2AFE-6A89-D50B01265787}"/>
          </ac:picMkLst>
        </pc:picChg>
        <pc:picChg chg="add del mod ord">
          <ac:chgData name="Leonardo Granjeiro" userId="f8cdf1c46bfa1ab4" providerId="LiveId" clId="{303F3E2E-D5B0-429D-967C-1792299FE3E2}" dt="2026-08-27T13:55:44.047" v="16"/>
          <ac:picMkLst>
            <pc:docMk/>
            <pc:sldMk cId="0" sldId="256"/>
            <ac:picMk id="42" creationId="{0601B6EA-2E62-3C01-10A0-98FBF7A7C369}"/>
          </ac:picMkLst>
        </pc:picChg>
        <pc:picChg chg="add del mod">
          <ac:chgData name="Leonardo Granjeiro" userId="f8cdf1c46bfa1ab4" providerId="LiveId" clId="{303F3E2E-D5B0-429D-967C-1792299FE3E2}" dt="2026-08-27T13:56:13.544" v="18"/>
          <ac:picMkLst>
            <pc:docMk/>
            <pc:sldMk cId="0" sldId="256"/>
            <ac:picMk id="43" creationId="{69A85DF0-8A2B-5D67-D2CB-0D0CD2C52766}"/>
          </ac:picMkLst>
        </pc:picChg>
        <pc:picChg chg="add del mod ord">
          <ac:chgData name="Leonardo Granjeiro" userId="f8cdf1c46bfa1ab4" providerId="LiveId" clId="{303F3E2E-D5B0-429D-967C-1792299FE3E2}" dt="2026-08-27T13:57:08.241" v="19"/>
          <ac:picMkLst>
            <pc:docMk/>
            <pc:sldMk cId="0" sldId="256"/>
            <ac:picMk id="46" creationId="{5DF4FE39-CD13-42EC-6B2B-6040668526E5}"/>
          </ac:picMkLst>
        </pc:picChg>
        <pc:picChg chg="add del mod">
          <ac:chgData name="Leonardo Granjeiro" userId="f8cdf1c46bfa1ab4" providerId="LiveId" clId="{303F3E2E-D5B0-429D-967C-1792299FE3E2}" dt="2026-08-27T13:58:01.156" v="21"/>
          <ac:picMkLst>
            <pc:docMk/>
            <pc:sldMk cId="0" sldId="256"/>
            <ac:picMk id="47" creationId="{2D521608-92D7-72FF-1BB0-CC95C0BE67A6}"/>
          </ac:picMkLst>
        </pc:picChg>
        <pc:picChg chg="add del mod ord">
          <ac:chgData name="Leonardo Granjeiro" userId="f8cdf1c46bfa1ab4" providerId="LiveId" clId="{303F3E2E-D5B0-429D-967C-1792299FE3E2}" dt="2026-08-27T13:58:11.871" v="22"/>
          <ac:picMkLst>
            <pc:docMk/>
            <pc:sldMk cId="0" sldId="256"/>
            <ac:picMk id="50" creationId="{4C6CB015-84F0-7369-C83A-4A90C612093C}"/>
          </ac:picMkLst>
        </pc:picChg>
        <pc:picChg chg="add del mod">
          <ac:chgData name="Leonardo Granjeiro" userId="f8cdf1c46bfa1ab4" providerId="LiveId" clId="{303F3E2E-D5B0-429D-967C-1792299FE3E2}" dt="2026-08-27T13:59:40.429" v="24"/>
          <ac:picMkLst>
            <pc:docMk/>
            <pc:sldMk cId="0" sldId="256"/>
            <ac:picMk id="51" creationId="{B57B3064-A715-06EA-417A-885DDEE74584}"/>
          </ac:picMkLst>
        </pc:picChg>
        <pc:picChg chg="add del mod ord">
          <ac:chgData name="Leonardo Granjeiro" userId="f8cdf1c46bfa1ab4" providerId="LiveId" clId="{303F3E2E-D5B0-429D-967C-1792299FE3E2}" dt="2026-08-27T14:00:21.434" v="25"/>
          <ac:picMkLst>
            <pc:docMk/>
            <pc:sldMk cId="0" sldId="256"/>
            <ac:picMk id="54" creationId="{2E2A7FFD-C535-F949-5FFC-ABD4C088972F}"/>
          </ac:picMkLst>
        </pc:picChg>
        <pc:picChg chg="add mod">
          <ac:chgData name="Leonardo Granjeiro" userId="f8cdf1c46bfa1ab4" providerId="LiveId" clId="{303F3E2E-D5B0-429D-967C-1792299FE3E2}" dt="2026-08-27T14:00:21.434" v="25"/>
          <ac:picMkLst>
            <pc:docMk/>
            <pc:sldMk cId="0" sldId="256"/>
            <ac:picMk id="55" creationId="{4100CD9E-48E3-A4D1-EA95-C3A4EB961421}"/>
          </ac:picMkLst>
        </pc:picChg>
      </pc:sldChg>
      <pc:sldChg chg="addSp modSp">
        <pc:chgData name="Leonardo Granjeiro" userId="f8cdf1c46bfa1ab4" providerId="LiveId" clId="{303F3E2E-D5B0-429D-967C-1792299FE3E2}" dt="2026-08-27T14:01:21.294" v="26"/>
        <pc:sldMkLst>
          <pc:docMk/>
          <pc:sldMk cId="0" sldId="257"/>
        </pc:sldMkLst>
        <pc:picChg chg="add mod">
          <ac:chgData name="Leonardo Granjeiro" userId="f8cdf1c46bfa1ab4" providerId="LiveId" clId="{303F3E2E-D5B0-429D-967C-1792299FE3E2}" dt="2026-08-27T14:01:21.294" v="26"/>
          <ac:picMkLst>
            <pc:docMk/>
            <pc:sldMk cId="0" sldId="257"/>
            <ac:picMk id="65" creationId="{DC200CC8-030E-03AD-D79A-C5D9F5E9CA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92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DESCOBRIR — Capa / Resumo Executivo. Abra reposicionando a conversa: isto não é um pitch de tecnologia, é um diagnóstico de negócio. Case Olist: como a IA Agêntica pode levar a operação de reativa para uma ação inteligente e orquestrada.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DESCOBRIR — O caso de negócio. Quatro fricções sustentadas pelos dados: 3% de recompra (97% compram só uma vez), 11,5% de notas 1 estrela, 8,11% de pedidos atrasados (74% do tempo em trânsito), ~21% de frete sobre o pedido. Não são problemas isolados — são um único desafio conectado, ponto de partida da estratégia de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lógica foi criar agentes diretamente conectados às necessidades que encontramos.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WinBack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atua na retenção de clientes.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SentimentDesk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analisa avaliações e identifica os principais motivos de insatisfação.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LogiPredict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busca antecipar riscos de atraso.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SellerCare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acompanha a performance dos vendedores.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SmartFreight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trabalha a relação entre frete, preço e margem.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seja, cada agente nasce de uma fricção real e busca um resultado de negócio específico.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 eles não funcionam de forma isolada. Os agentes podem compartilhar sinais e são conectados pelo Maestro, que atua como orquestrador do ecossistema.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reclamação identificada pelo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SentimentDesk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por exemplo, pode gerar sinais para logística, para a gestão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sellers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para retenção. O Maestro consolida esse contexto e ajuda a coordenar a resposta.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essa colaboração que transforma agentes especializados em um ecossistema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agêntico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E, para sustentar essa dinâmica, precisamos conectar dados, inteligência e ação em uma mesma arquitetura.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DESENHAR — Arquitetura simplificada. Cinco camadas transformam dados em ação: fontes de dados brutos, processamento analítico (ETL, RFM, NLP), os cinco agentes especialistas, a camada de orquestração do Maestro, e os usuários de negócio que recebem decisões e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DESENHAR — Exemplo concreto. Uma avaliação negativa aciona o SentimentDesk, que — dependendo do problema — envolve o LogiPredict e/ou o SellerCare; o Maestro consolida; o resultado é uma recomendação, alerta, resposta coordenada ou decisão humana. É um cenário plausível baseado no mapa de agentes, não uma sequência obrigatória.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ESCALAR — Governança sem perder velocidade. A autonomia evolui de insight para recomendar, agir e agir autonomamente, mas o nível de risco define o guardrail: tarefas de baixo risco ganham mais autonomia, risco médio exige guardrails, decisões de alto impacto mantêm um humano no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ESCALAR — Fechamento forte. Três fases em nove meses: isolar e validar (meses 1–3), conectar sinais (meses 4–6), orquestrar com o Maestro e aumentar a autonomia progressivamente (meses 7–9). A operação evolui de reativa para preditiva e agêntica. Encerre em: transformando dados em decisões, e decisões em 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Recapitule os três capítulos em uma frase cada e encerre no convite: começar pela Fase A, validando o valor individual de cada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376077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671352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966627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347627" y="571500"/>
            <a:ext cx="332857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01 · DESCOBRIR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816298"/>
            <a:ext cx="98320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RESUMO EXECUTIVO · CASE OLIST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330648"/>
            <a:ext cx="9206367" cy="3473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60"/>
              </a:lnSpc>
              <a:buNone/>
            </a:pPr>
            <a:r>
              <a:rPr lang="en-US" sz="6900" b="1" kern="0" spc="-24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AGENTES DE IA PARA O MARKETPLACE </a:t>
            </a:r>
            <a:r>
              <a:rPr lang="en-US" sz="6900" b="1" kern="0" spc="-241" dirty="0">
                <a:solidFill>
                  <a:srgbClr val="4DE1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OLIST</a:t>
            </a:r>
            <a:endParaRPr lang="en-US" sz="6900" dirty="0"/>
          </a:p>
        </p:txBody>
      </p:sp>
      <p:sp>
        <p:nvSpPr>
          <p:cNvPr id="11" name="Shape 8"/>
          <p:cNvSpPr/>
          <p:nvPr/>
        </p:nvSpPr>
        <p:spPr>
          <a:xfrm>
            <a:off x="914400" y="6184702"/>
            <a:ext cx="723900" cy="28575"/>
          </a:xfrm>
          <a:prstGeom prst="rect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6499027"/>
            <a:ext cx="647509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Como a IA Generativa e os Agentes de IA elevam a operação da Olist — e os indicadores que sustentam o negócio.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8194477"/>
            <a:ext cx="98320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CONSULTORIA ESTRATÉGICA DE IA AGÊNTICA · FASE 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67021" y="3586163"/>
            <a:ext cx="9525" cy="3067050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06770" y="3652838"/>
            <a:ext cx="158750" cy="158750"/>
          </a:xfrm>
          <a:prstGeom prst="ellipse">
            <a:avLst/>
          </a:prstGeom>
          <a:ln w="12700">
            <a:solidFill>
              <a:srgbClr val="4DE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675071" y="3586163"/>
            <a:ext cx="29706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b="1" kern="0" spc="216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DADOS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675071" y="3910013"/>
            <a:ext cx="29706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que a operação já registra.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306770" y="4852988"/>
            <a:ext cx="158750" cy="158750"/>
          </a:xfrm>
          <a:prstGeom prst="ellipse">
            <a:avLst/>
          </a:prstGeom>
          <a:ln w="12700">
            <a:solidFill>
              <a:srgbClr val="4DE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675071" y="4786313"/>
            <a:ext cx="39561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b="1" kern="0" spc="216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INTELIGÊNCIA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675071" y="5110163"/>
            <a:ext cx="39561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Agentes especialistas que leem sinais.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306770" y="6053138"/>
            <a:ext cx="133350" cy="133350"/>
          </a:xfrm>
          <a:prstGeom prst="ellipse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649670" y="5986463"/>
            <a:ext cx="38313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b="1" kern="0" spc="216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AÇÃO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649670" y="6310313"/>
            <a:ext cx="38313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Decisões orquestradas pelo Maestro.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" y="9658350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288048" y="9658350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  <p:pic>
        <p:nvPicPr>
          <p:cNvPr id="55" name="Audio 54">
            <a:hlinkClick r:id="" action="ppaction://media"/>
            <a:extLst>
              <a:ext uri="{FF2B5EF4-FFF2-40B4-BE49-F238E27FC236}">
                <a16:creationId xmlns:a16="http://schemas.microsoft.com/office/drawing/2014/main" id="{4100CD9E-48E3-A4D1-EA95-C3A4EB9614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40"/>
    </mc:Choice>
    <mc:Fallback xmlns="">
      <p:transition spd="slow" advTm="30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376077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671352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966627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347627" y="571500"/>
            <a:ext cx="332857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01 · DESCOBRIR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343025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CASO DE NEGÓCIO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762125"/>
            <a:ext cx="181051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7347"/>
              </a:lnSpc>
              <a:buNone/>
            </a:pPr>
            <a:r>
              <a:rPr lang="en-US" sz="4500" b="1" kern="0" spc="-112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Quatro fricções de negócio. Um desafio conectado.</a:t>
            </a:r>
            <a:endParaRPr lang="en-US" sz="4500" dirty="0"/>
          </a:p>
        </p:txBody>
      </p:sp>
      <p:sp>
        <p:nvSpPr>
          <p:cNvPr id="11" name="Shape 8"/>
          <p:cNvSpPr/>
          <p:nvPr/>
        </p:nvSpPr>
        <p:spPr>
          <a:xfrm>
            <a:off x="4955679" y="3489027"/>
            <a:ext cx="9525" cy="3028950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3569990"/>
            <a:ext cx="66675" cy="66675"/>
          </a:xfrm>
          <a:prstGeom prst="ellipse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66800" y="3489027"/>
            <a:ext cx="132780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RETENÇÃO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3908127"/>
            <a:ext cx="398439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7800" b="1" kern="0" spc="-3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3%</a:t>
            </a:r>
            <a:endParaRPr lang="en-US" sz="7800" dirty="0"/>
          </a:p>
        </p:txBody>
      </p:sp>
      <p:sp>
        <p:nvSpPr>
          <p:cNvPr id="15" name="Text 12"/>
          <p:cNvSpPr/>
          <p:nvPr/>
        </p:nvSpPr>
        <p:spPr>
          <a:xfrm>
            <a:off x="914400" y="5032078"/>
            <a:ext cx="39843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b="1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Taxa de recompra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14400" y="5594053"/>
            <a:ext cx="3622179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5775028"/>
            <a:ext cx="37308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~97% </a:t>
            </a:r>
            <a:r>
              <a:rPr lang="en-US" sz="195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 clientes compraram apenas uma vez.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9271992" y="3489027"/>
            <a:ext cx="9525" cy="3028950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81129" y="3569990"/>
            <a:ext cx="66675" cy="66675"/>
          </a:xfrm>
          <a:prstGeom prst="ellipse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33529" y="3489027"/>
            <a:ext cx="36513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EXPERIÊNCIA DO CLIENTE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81129" y="3908127"/>
            <a:ext cx="38189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7800" b="1" kern="0" spc="-3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11,5%</a:t>
            </a:r>
            <a:endParaRPr lang="en-US" sz="7800" dirty="0"/>
          </a:p>
        </p:txBody>
      </p:sp>
      <p:sp>
        <p:nvSpPr>
          <p:cNvPr id="22" name="Text 19"/>
          <p:cNvSpPr/>
          <p:nvPr/>
        </p:nvSpPr>
        <p:spPr>
          <a:xfrm>
            <a:off x="5381129" y="5032078"/>
            <a:ext cx="38189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b="1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Avaliações 1 estrela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381129" y="5594053"/>
            <a:ext cx="3471763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81129" y="5775028"/>
            <a:ext cx="35759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Detratores concentrados na experiência pós-compra.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3319621" y="3489027"/>
            <a:ext cx="9525" cy="3028950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697442" y="3569990"/>
            <a:ext cx="66675" cy="66675"/>
          </a:xfrm>
          <a:prstGeom prst="ellipse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849843" y="3489027"/>
            <a:ext cx="149369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LOGÍSTICA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97442" y="3908127"/>
            <a:ext cx="352338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7800" b="1" kern="0" spc="-3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8,11%</a:t>
            </a:r>
            <a:endParaRPr lang="en-US" sz="7800" dirty="0"/>
          </a:p>
        </p:txBody>
      </p:sp>
      <p:sp>
        <p:nvSpPr>
          <p:cNvPr id="29" name="Text 26"/>
          <p:cNvSpPr/>
          <p:nvPr/>
        </p:nvSpPr>
        <p:spPr>
          <a:xfrm>
            <a:off x="9697442" y="5032078"/>
            <a:ext cx="35233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b="1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Pedidos atrasados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697442" y="5594053"/>
            <a:ext cx="3203079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697442" y="5775028"/>
            <a:ext cx="329917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b="1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74% </a:t>
            </a:r>
            <a:r>
              <a:rPr lang="en-US" sz="195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 tempo total de entrega ocorre em trânsito.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3745071" y="3569990"/>
            <a:ext cx="66675" cy="66675"/>
          </a:xfrm>
          <a:prstGeom prst="ellipse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3897471" y="3489027"/>
            <a:ext cx="83065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FRETE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745071" y="3908127"/>
            <a:ext cx="399138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7800" b="1" kern="0" spc="-3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~21%</a:t>
            </a:r>
            <a:endParaRPr lang="en-US" sz="7800" dirty="0"/>
          </a:p>
        </p:txBody>
      </p:sp>
      <p:sp>
        <p:nvSpPr>
          <p:cNvPr id="35" name="Text 32"/>
          <p:cNvSpPr/>
          <p:nvPr/>
        </p:nvSpPr>
        <p:spPr>
          <a:xfrm>
            <a:off x="13745071" y="5032078"/>
            <a:ext cx="39913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b="1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Frete ÷ valor do pedido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3745071" y="5594053"/>
            <a:ext cx="3628529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3745071" y="5775028"/>
            <a:ext cx="37373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464"/>
              </a:lnSpc>
              <a:buNone/>
            </a:pPr>
            <a:r>
              <a:rPr lang="en-US" sz="195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Atrito de preço no momento do checkout.</a:t>
            </a:r>
            <a:endParaRPr lang="en-US" sz="19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7051378"/>
            <a:ext cx="16459200" cy="91440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5901928" y="8151515"/>
            <a:ext cx="85725" cy="85725"/>
          </a:xfrm>
          <a:prstGeom prst="ellipse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121003" y="8022928"/>
            <a:ext cx="68915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250" b="1" kern="0" spc="22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Quatro sintomas. Um único desafio conectado.</a:t>
            </a:r>
            <a:endParaRPr lang="en-US" sz="2250" dirty="0"/>
          </a:p>
        </p:txBody>
      </p:sp>
      <p:sp>
        <p:nvSpPr>
          <p:cNvPr id="41" name="Shape 37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14400" y="9648825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43" name="Text 39"/>
          <p:cNvSpPr/>
          <p:nvPr/>
        </p:nvSpPr>
        <p:spPr>
          <a:xfrm>
            <a:off x="7718227" y="9639300"/>
            <a:ext cx="75717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 fricções de negócio são o ponto de partida da estratégia de IA Agêntica.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16288048" y="9648825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  <p:pic>
        <p:nvPicPr>
          <p:cNvPr id="65" name="Audio 64">
            <a:hlinkClick r:id="" action="ppaction://media"/>
            <a:extLst>
              <a:ext uri="{FF2B5EF4-FFF2-40B4-BE49-F238E27FC236}">
                <a16:creationId xmlns:a16="http://schemas.microsoft.com/office/drawing/2014/main" id="{DC200CC8-030E-03AD-D79A-C5D9F5E9CA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29688" t="-329688" r="-329688" b="-329688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25"/>
    </mc:Choice>
    <mc:Fallback xmlns="">
      <p:transition spd="slow" advTm="408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53532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830598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12587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506873" y="571500"/>
            <a:ext cx="3153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02 · DESENHAR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304925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 DIAGNÓSTICO AO DESENHO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704975"/>
            <a:ext cx="13735050" cy="1168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83"/>
              </a:lnSpc>
              <a:buNone/>
            </a:pPr>
            <a:r>
              <a:rPr lang="en-US" sz="4200" b="1" kern="0" spc="-10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 agente existe porque os dados revelaram uma necessidade de negócio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914400" y="3254772"/>
            <a:ext cx="54314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FRICÇÃO DE NEGÓCIO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85521" y="3254772"/>
            <a:ext cx="61051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INTELIGÊNCIA ESPECIALIZADA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420600" y="3254772"/>
            <a:ext cx="55016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RESULTADO DE NEGÓCIO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3616722"/>
            <a:ext cx="16459200" cy="9525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4400" y="4788297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873897"/>
            <a:ext cx="543149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RETENÇÃO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4400" y="4197747"/>
            <a:ext cx="54314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250" b="1" kern="0" spc="-4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3% de recompra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6385521" y="3934222"/>
            <a:ext cx="546100" cy="5461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4745" y="4083447"/>
            <a:ext cx="247650" cy="2476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41171" y="3926284"/>
            <a:ext cx="14886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25" b="1" kern="0" spc="10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WINBACK</a:t>
            </a:r>
            <a:endParaRPr lang="en-US" sz="2025" dirty="0"/>
          </a:p>
        </p:txBody>
      </p:sp>
      <p:sp>
        <p:nvSpPr>
          <p:cNvPr id="21" name="Text 17"/>
          <p:cNvSpPr/>
          <p:nvPr/>
        </p:nvSpPr>
        <p:spPr>
          <a:xfrm>
            <a:off x="7141171" y="4259659"/>
            <a:ext cx="14886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RETENÇÃO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2420600" y="4202509"/>
            <a:ext cx="247650" cy="9525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12839700" y="3875881"/>
            <a:ext cx="4669917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Recuperar clientes em risco e reconstruir a recompra.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14400" y="5956697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14400" y="5042297"/>
            <a:ext cx="543149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EXPERIÊNCIA DO CLIENTE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914400" y="5366147"/>
            <a:ext cx="54314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250" b="1" kern="0" spc="-4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11,5% de notas 1 estrela</a:t>
            </a:r>
            <a:endParaRPr lang="en-US" sz="2250" dirty="0"/>
          </a:p>
        </p:txBody>
      </p:sp>
      <p:sp>
        <p:nvSpPr>
          <p:cNvPr id="27" name="Shape 23"/>
          <p:cNvSpPr/>
          <p:nvPr/>
        </p:nvSpPr>
        <p:spPr>
          <a:xfrm>
            <a:off x="6385521" y="5102622"/>
            <a:ext cx="546100" cy="5461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4745" y="5251847"/>
            <a:ext cx="247650" cy="24765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141171" y="5094684"/>
            <a:ext cx="40938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25" b="1" kern="0" spc="10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SENTIMENTDESK</a:t>
            </a:r>
            <a:endParaRPr lang="en-US" sz="2025" dirty="0"/>
          </a:p>
        </p:txBody>
      </p:sp>
      <p:sp>
        <p:nvSpPr>
          <p:cNvPr id="30" name="Text 25"/>
          <p:cNvSpPr/>
          <p:nvPr/>
        </p:nvSpPr>
        <p:spPr>
          <a:xfrm>
            <a:off x="7141171" y="5428059"/>
            <a:ext cx="40938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EXPERIÊNCIA DO CLIENTE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2420600" y="5370909"/>
            <a:ext cx="247650" cy="9525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12839700" y="5044282"/>
            <a:ext cx="4669917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Responder aos detratores enquanto o momento ainda importa.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914400" y="7125097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914400" y="6210697"/>
            <a:ext cx="543149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LOGÍSTICA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914400" y="6534547"/>
            <a:ext cx="54314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250" b="1" kern="0" spc="-4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8,11% de pedidos atrasados</a:t>
            </a:r>
            <a:endParaRPr lang="en-US" sz="2250" dirty="0"/>
          </a:p>
        </p:txBody>
      </p:sp>
      <p:sp>
        <p:nvSpPr>
          <p:cNvPr id="36" name="Shape 31"/>
          <p:cNvSpPr/>
          <p:nvPr/>
        </p:nvSpPr>
        <p:spPr>
          <a:xfrm>
            <a:off x="6385521" y="6271022"/>
            <a:ext cx="546100" cy="5461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4745" y="6420247"/>
            <a:ext cx="247650" cy="24765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141171" y="6263085"/>
            <a:ext cx="19802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25" b="1" kern="0" spc="10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LOGIPREDICT</a:t>
            </a:r>
            <a:endParaRPr lang="en-US" sz="2025" dirty="0"/>
          </a:p>
        </p:txBody>
      </p:sp>
      <p:sp>
        <p:nvSpPr>
          <p:cNvPr id="39" name="Text 33"/>
          <p:cNvSpPr/>
          <p:nvPr/>
        </p:nvSpPr>
        <p:spPr>
          <a:xfrm>
            <a:off x="7141171" y="6596460"/>
            <a:ext cx="19802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LOGÍSTICA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12420600" y="6539310"/>
            <a:ext cx="247650" cy="9525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12839700" y="6212681"/>
            <a:ext cx="4669917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Antecipar o risco de entrega antes que o cliente sinta.</a:t>
            </a:r>
            <a:endParaRPr lang="en-US" sz="1800" dirty="0"/>
          </a:p>
        </p:txBody>
      </p:sp>
      <p:sp>
        <p:nvSpPr>
          <p:cNvPr id="42" name="Shape 36"/>
          <p:cNvSpPr/>
          <p:nvPr/>
        </p:nvSpPr>
        <p:spPr>
          <a:xfrm>
            <a:off x="914400" y="8293497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914400" y="7379097"/>
            <a:ext cx="543149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 DE VENDEDORES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914400" y="7702947"/>
            <a:ext cx="54314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250" b="1" kern="0" spc="-4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Cluster de vendedores problemáticos</a:t>
            </a:r>
            <a:endParaRPr lang="en-US" sz="2250" dirty="0"/>
          </a:p>
        </p:txBody>
      </p:sp>
      <p:sp>
        <p:nvSpPr>
          <p:cNvPr id="45" name="Shape 39"/>
          <p:cNvSpPr/>
          <p:nvPr/>
        </p:nvSpPr>
        <p:spPr>
          <a:xfrm>
            <a:off x="6385521" y="7439422"/>
            <a:ext cx="546100" cy="5461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4745" y="7588647"/>
            <a:ext cx="247650" cy="24765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141171" y="7431485"/>
            <a:ext cx="4652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25" b="1" kern="0" spc="10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SELLERCARE</a:t>
            </a:r>
            <a:endParaRPr lang="en-US" sz="2025" dirty="0"/>
          </a:p>
        </p:txBody>
      </p:sp>
      <p:sp>
        <p:nvSpPr>
          <p:cNvPr id="48" name="Text 41"/>
          <p:cNvSpPr/>
          <p:nvPr/>
        </p:nvSpPr>
        <p:spPr>
          <a:xfrm>
            <a:off x="7141171" y="7764860"/>
            <a:ext cx="4652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 DE VENDEDORES</a:t>
            </a:r>
            <a:endParaRPr lang="en-US" sz="1800" dirty="0"/>
          </a:p>
        </p:txBody>
      </p:sp>
      <p:sp>
        <p:nvSpPr>
          <p:cNvPr id="49" name="Shape 42"/>
          <p:cNvSpPr/>
          <p:nvPr/>
        </p:nvSpPr>
        <p:spPr>
          <a:xfrm>
            <a:off x="12420600" y="7707710"/>
            <a:ext cx="247650" cy="9525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12839700" y="7381081"/>
            <a:ext cx="4669917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Proteger a reputação e a qualidade do marketplace na origem.</a:t>
            </a:r>
            <a:endParaRPr lang="en-US" sz="1800" dirty="0"/>
          </a:p>
        </p:txBody>
      </p:sp>
      <p:sp>
        <p:nvSpPr>
          <p:cNvPr id="51" name="Text 44"/>
          <p:cNvSpPr/>
          <p:nvPr/>
        </p:nvSpPr>
        <p:spPr>
          <a:xfrm>
            <a:off x="914400" y="8547497"/>
            <a:ext cx="543149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FRETE &amp; PRECIFICAÇÃO</a:t>
            </a:r>
            <a:endParaRPr lang="en-US" sz="1800" dirty="0"/>
          </a:p>
        </p:txBody>
      </p:sp>
      <p:sp>
        <p:nvSpPr>
          <p:cNvPr id="52" name="Text 45"/>
          <p:cNvSpPr/>
          <p:nvPr/>
        </p:nvSpPr>
        <p:spPr>
          <a:xfrm>
            <a:off x="914400" y="8871347"/>
            <a:ext cx="54314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250" b="1" kern="0" spc="-4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~21% do valor do pedido</a:t>
            </a:r>
            <a:endParaRPr lang="en-US" sz="2250" dirty="0"/>
          </a:p>
        </p:txBody>
      </p:sp>
      <p:sp>
        <p:nvSpPr>
          <p:cNvPr id="53" name="Shape 46"/>
          <p:cNvSpPr/>
          <p:nvPr/>
        </p:nvSpPr>
        <p:spPr>
          <a:xfrm>
            <a:off x="6385521" y="8607822"/>
            <a:ext cx="546100" cy="5461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4745" y="8757047"/>
            <a:ext cx="247650" cy="24765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141171" y="8599884"/>
            <a:ext cx="3721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25" b="1" kern="0" spc="10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SMARTFREIGHT</a:t>
            </a:r>
            <a:endParaRPr lang="en-US" sz="2025" dirty="0"/>
          </a:p>
        </p:txBody>
      </p:sp>
      <p:sp>
        <p:nvSpPr>
          <p:cNvPr id="56" name="Text 48"/>
          <p:cNvSpPr/>
          <p:nvPr/>
        </p:nvSpPr>
        <p:spPr>
          <a:xfrm>
            <a:off x="7141171" y="8933259"/>
            <a:ext cx="37216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FRETE &amp; PRECIFICAÇÃO</a:t>
            </a:r>
            <a:endParaRPr lang="en-US" sz="1800" dirty="0"/>
          </a:p>
        </p:txBody>
      </p:sp>
      <p:sp>
        <p:nvSpPr>
          <p:cNvPr id="57" name="Shape 49"/>
          <p:cNvSpPr/>
          <p:nvPr/>
        </p:nvSpPr>
        <p:spPr>
          <a:xfrm>
            <a:off x="12420600" y="8876109"/>
            <a:ext cx="247650" cy="9525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/>
          <p:nvPr/>
        </p:nvSpPr>
        <p:spPr>
          <a:xfrm>
            <a:off x="12839700" y="8549482"/>
            <a:ext cx="4669917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Reduzir o atrito do frete no checkout </a:t>
            </a:r>
          </a:p>
          <a:p>
            <a:pPr marL="0" indent="0" algn="l">
              <a:lnSpc>
                <a:spcPct val="102353"/>
              </a:lnSpc>
              <a:buNone/>
            </a:pPr>
            <a:r>
              <a:rPr lang="en-US" sz="1800" dirty="0" err="1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</a:t>
            </a: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corroer</a:t>
            </a: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margem.</a:t>
            </a:r>
            <a:endParaRPr lang="en-US" sz="1800" dirty="0"/>
          </a:p>
        </p:txBody>
      </p:sp>
      <p:sp>
        <p:nvSpPr>
          <p:cNvPr id="59" name="Shape 51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914400" y="9648825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61" name="Text 53"/>
          <p:cNvSpPr/>
          <p:nvPr/>
        </p:nvSpPr>
        <p:spPr>
          <a:xfrm>
            <a:off x="6275294" y="9639300"/>
            <a:ext cx="99350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agentes foram desenhados em torno de </a:t>
            </a:r>
            <a:r>
              <a:rPr lang="en-US" sz="1800" i="1" dirty="0" err="1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resultados</a:t>
            </a: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não de capacidades tecnológicas.</a:t>
            </a:r>
            <a:endParaRPr lang="en-US" sz="1800" dirty="0"/>
          </a:p>
        </p:txBody>
      </p:sp>
      <p:sp>
        <p:nvSpPr>
          <p:cNvPr id="62" name="Text 54"/>
          <p:cNvSpPr/>
          <p:nvPr/>
        </p:nvSpPr>
        <p:spPr>
          <a:xfrm>
            <a:off x="16288048" y="9648825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53532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830598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12587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506873" y="571500"/>
            <a:ext cx="3153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02 · DESENHAR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247775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ECOSSISTEMA AGÊNTICO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647825"/>
            <a:ext cx="5101590" cy="1612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429"/>
              </a:lnSpc>
              <a:buNone/>
            </a:pPr>
            <a:r>
              <a:rPr lang="en-US" sz="3900" b="1" kern="0" spc="-98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Cinco especialistas. Um ecossistema orquestrado.</a:t>
            </a:r>
            <a:endParaRPr lang="en-US" sz="3900" dirty="0"/>
          </a:p>
        </p:txBody>
      </p:sp>
      <p:sp>
        <p:nvSpPr>
          <p:cNvPr id="11" name="Shape 8"/>
          <p:cNvSpPr/>
          <p:nvPr/>
        </p:nvSpPr>
        <p:spPr>
          <a:xfrm>
            <a:off x="914400" y="3603724"/>
            <a:ext cx="49530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879949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ESPECIALISTAS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4203799"/>
            <a:ext cx="51015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Inteligência de domínio. Cada um resolve uma fricção.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5175349"/>
            <a:ext cx="5448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97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MAESTRO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14400" y="5480149"/>
            <a:ext cx="51015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Orquestração. Consolida sinais e coordena a resposta.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8419207"/>
            <a:ext cx="295870" cy="190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43620" y="8145860"/>
            <a:ext cx="4659493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605"/>
              </a:lnSpc>
              <a:buNone/>
            </a:pPr>
            <a:r>
              <a:rPr lang="en-US" sz="1650" kern="0" spc="6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MAESTRO ↔ ESPECIALISTA · ORQUESTRAÇÃO</a:t>
            </a:r>
            <a:endParaRPr lang="en-US" sz="16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9118303"/>
            <a:ext cx="288528" cy="190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36278" y="8844955"/>
            <a:ext cx="4667056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605"/>
              </a:lnSpc>
              <a:buNone/>
            </a:pPr>
            <a:r>
              <a:rPr lang="en-US" sz="1650" kern="0" spc="6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AGENTE → AGENTE · SINAL DE COLABORAÇÃO</a:t>
            </a:r>
            <a:endParaRPr lang="en-US" sz="16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3750" y="2033588"/>
            <a:ext cx="9334500" cy="66675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0664826" y="4221163"/>
            <a:ext cx="2292350" cy="2292350"/>
          </a:xfrm>
          <a:prstGeom prst="ellipse">
            <a:avLst/>
          </a:prstGeom>
          <a:solidFill>
            <a:srgbClr val="0A1024"/>
          </a:solidFill>
          <a:ln w="12700">
            <a:solidFill>
              <a:srgbClr val="FFC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49075" y="4697809"/>
            <a:ext cx="323850" cy="3238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01599" y="5135960"/>
            <a:ext cx="13406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1875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MAESTRO</a:t>
            </a:r>
            <a:endParaRPr lang="en-US" sz="1875" dirty="0"/>
          </a:p>
        </p:txBody>
      </p:sp>
      <p:sp>
        <p:nvSpPr>
          <p:cNvPr id="24" name="Text 17"/>
          <p:cNvSpPr/>
          <p:nvPr/>
        </p:nvSpPr>
        <p:spPr>
          <a:xfrm>
            <a:off x="10892730" y="5450285"/>
            <a:ext cx="1836440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442"/>
              </a:lnSpc>
              <a:buNone/>
            </a:pPr>
            <a:r>
              <a:rPr lang="en-US" sz="1650" kern="0" spc="165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ORQUESTRADOR DE IA</a:t>
            </a:r>
            <a:endParaRPr lang="en-US" sz="1650" dirty="0"/>
          </a:p>
        </p:txBody>
      </p:sp>
      <p:sp>
        <p:nvSpPr>
          <p:cNvPr id="25" name="Shape 18"/>
          <p:cNvSpPr/>
          <p:nvPr/>
        </p:nvSpPr>
        <p:spPr>
          <a:xfrm>
            <a:off x="11271250" y="2446338"/>
            <a:ext cx="1079500" cy="1079500"/>
          </a:xfrm>
          <a:prstGeom prst="ellipse">
            <a:avLst/>
          </a:prstGeom>
          <a:solidFill>
            <a:srgbClr val="0A1024"/>
          </a:solidFill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49075" y="2824163"/>
            <a:ext cx="323850" cy="3238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29825" y="1366838"/>
            <a:ext cx="3562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SENTIMENTDESK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10143173" y="1671638"/>
            <a:ext cx="33356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EXPERIÊNCIA DO CLIENTE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13538200" y="4094163"/>
            <a:ext cx="1079500" cy="1079500"/>
          </a:xfrm>
          <a:prstGeom prst="ellipse">
            <a:avLst/>
          </a:prstGeom>
          <a:solidFill>
            <a:srgbClr val="0A1024"/>
          </a:solidFill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16025" y="4471988"/>
            <a:ext cx="323850" cy="3238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878050" y="4367213"/>
            <a:ext cx="17464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LOGIPREDICT</a:t>
            </a:r>
            <a:endParaRPr lang="en-US" sz="1800" dirty="0"/>
          </a:p>
        </p:txBody>
      </p:sp>
      <p:sp>
        <p:nvSpPr>
          <p:cNvPr id="32" name="Text 23"/>
          <p:cNvSpPr/>
          <p:nvPr/>
        </p:nvSpPr>
        <p:spPr>
          <a:xfrm>
            <a:off x="14878050" y="4672013"/>
            <a:ext cx="17464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LOGÍSTICA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9004300" y="4094163"/>
            <a:ext cx="1079500" cy="1079500"/>
          </a:xfrm>
          <a:prstGeom prst="ellipse">
            <a:avLst/>
          </a:prstGeom>
          <a:solidFill>
            <a:srgbClr val="0A1024"/>
          </a:solidFill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82125" y="4471988"/>
            <a:ext cx="323850" cy="3238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081962" y="5424488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SELLERCARE</a:t>
            </a:r>
            <a:endParaRPr lang="en-US" sz="1800" dirty="0"/>
          </a:p>
        </p:txBody>
      </p:sp>
      <p:sp>
        <p:nvSpPr>
          <p:cNvPr id="36" name="Text 26"/>
          <p:cNvSpPr/>
          <p:nvPr/>
        </p:nvSpPr>
        <p:spPr>
          <a:xfrm>
            <a:off x="8162925" y="5729288"/>
            <a:ext cx="2457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 DE VENDEDORES</a:t>
            </a:r>
            <a:endParaRPr lang="en-US" sz="1800" dirty="0"/>
          </a:p>
        </p:txBody>
      </p:sp>
      <p:sp>
        <p:nvSpPr>
          <p:cNvPr id="37" name="Shape 27"/>
          <p:cNvSpPr/>
          <p:nvPr/>
        </p:nvSpPr>
        <p:spPr>
          <a:xfrm>
            <a:off x="9871075" y="6751638"/>
            <a:ext cx="1079500" cy="1079500"/>
          </a:xfrm>
          <a:prstGeom prst="ellipse">
            <a:avLst/>
          </a:prstGeom>
          <a:solidFill>
            <a:srgbClr val="0A1024"/>
          </a:solidFill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48900" y="7129463"/>
            <a:ext cx="323850" cy="32385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258300" y="7986713"/>
            <a:ext cx="2305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WINBACK</a:t>
            </a:r>
            <a:endParaRPr lang="en-US" sz="1800" dirty="0"/>
          </a:p>
        </p:txBody>
      </p:sp>
      <p:sp>
        <p:nvSpPr>
          <p:cNvPr id="40" name="Text 29"/>
          <p:cNvSpPr/>
          <p:nvPr/>
        </p:nvSpPr>
        <p:spPr>
          <a:xfrm>
            <a:off x="9258300" y="8291513"/>
            <a:ext cx="2305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RETENÇÃO</a:t>
            </a:r>
            <a:endParaRPr lang="en-US" sz="1800" dirty="0"/>
          </a:p>
        </p:txBody>
      </p:sp>
      <p:sp>
        <p:nvSpPr>
          <p:cNvPr id="41" name="Shape 30"/>
          <p:cNvSpPr/>
          <p:nvPr/>
        </p:nvSpPr>
        <p:spPr>
          <a:xfrm>
            <a:off x="12671425" y="6751638"/>
            <a:ext cx="1079500" cy="1079500"/>
          </a:xfrm>
          <a:prstGeom prst="ellipse">
            <a:avLst/>
          </a:prstGeom>
          <a:solidFill>
            <a:srgbClr val="0A1024"/>
          </a:solidFill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49250" y="7129463"/>
            <a:ext cx="323850" cy="32385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849100" y="7986713"/>
            <a:ext cx="2724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SMARTFREIGHT</a:t>
            </a:r>
            <a:endParaRPr lang="en-US" sz="1800" dirty="0"/>
          </a:p>
        </p:txBody>
      </p:sp>
      <p:sp>
        <p:nvSpPr>
          <p:cNvPr id="44" name="Text 32"/>
          <p:cNvSpPr/>
          <p:nvPr/>
        </p:nvSpPr>
        <p:spPr>
          <a:xfrm>
            <a:off x="11934825" y="8291513"/>
            <a:ext cx="2552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FRETE &amp; PRECIFICAÇÃO</a:t>
            </a:r>
            <a:endParaRPr lang="en-US" sz="1800" dirty="0"/>
          </a:p>
        </p:txBody>
      </p:sp>
      <p:sp>
        <p:nvSpPr>
          <p:cNvPr id="45" name="Shape 33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4"/>
          <p:cNvSpPr/>
          <p:nvPr/>
        </p:nvSpPr>
        <p:spPr>
          <a:xfrm>
            <a:off x="914400" y="9648825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47" name="Text 35"/>
          <p:cNvSpPr/>
          <p:nvPr/>
        </p:nvSpPr>
        <p:spPr>
          <a:xfrm>
            <a:off x="8769746" y="9639300"/>
            <a:ext cx="67929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Maestro orquestra. Não substitui os especialistas.</a:t>
            </a:r>
            <a:endParaRPr lang="en-US" sz="1800" dirty="0"/>
          </a:p>
        </p:txBody>
      </p:sp>
      <p:sp>
        <p:nvSpPr>
          <p:cNvPr id="48" name="Text 36"/>
          <p:cNvSpPr/>
          <p:nvPr/>
        </p:nvSpPr>
        <p:spPr>
          <a:xfrm>
            <a:off x="16288048" y="9648825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53532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830598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12587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506873" y="571500"/>
            <a:ext cx="3153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02 · DESENHAR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304925"/>
            <a:ext cx="70259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 ECOSSISTEMA À ARQUITETURA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704975"/>
            <a:ext cx="6578823" cy="1734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83"/>
              </a:lnSpc>
              <a:buNone/>
            </a:pPr>
            <a:r>
              <a:rPr lang="en-US" sz="4200" b="1" kern="0" spc="-10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 arquitetura de cinco camadas transforma dados em ação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873107" y="3096220"/>
            <a:ext cx="1045054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DADOS → SINAIS → AGENTES → ORQUESTRAÇÃO → DECISÕES E AÇÕES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14400" y="3706515"/>
            <a:ext cx="3017441" cy="28575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906540"/>
            <a:ext cx="33191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01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4249440"/>
            <a:ext cx="331918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183"/>
              </a:lnSpc>
              <a:buNone/>
            </a:pPr>
            <a:r>
              <a:rPr lang="en-US" sz="1875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Fontes de Dados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914400" y="4618534"/>
            <a:ext cx="33191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99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LAKE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14400" y="5582444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5180509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Clientes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4400" y="6181229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5779294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Pedidos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6780014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6378079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Pagamentos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14400" y="7378799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14400" y="6976864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Produtos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14400" y="7977584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" y="7575649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Vendedores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14400" y="8576370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8174435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Avaliações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14400" y="9175155"/>
            <a:ext cx="3017441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14400" y="8773220"/>
            <a:ext cx="3107964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Geolocalização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274741" y="3706515"/>
            <a:ext cx="3017540" cy="28575"/>
          </a:xfrm>
          <a:prstGeom prst="rect">
            <a:avLst/>
          </a:prstGeom>
          <a:solidFill>
            <a:srgbClr val="5B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274741" y="3906540"/>
            <a:ext cx="33192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02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274741" y="4249440"/>
            <a:ext cx="331929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183"/>
              </a:lnSpc>
              <a:buNone/>
            </a:pPr>
            <a:r>
              <a:rPr lang="en-US" sz="1875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Processamento Analítico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4274741" y="4618534"/>
            <a:ext cx="31080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99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ETL · ENGENHARIA DE ATRIBUTOS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4274741" y="5791994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274741" y="5390059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ETL &amp; Limpeza de Dados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4274741" y="6390779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274741" y="5988844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Engenharia de Atributos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274741" y="6989564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274741" y="6587629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Segmentação RFM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274741" y="7588349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274741" y="7186414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NLP &amp; Modelagem de Tópicos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7635180" y="3706515"/>
            <a:ext cx="3017540" cy="28575"/>
          </a:xfrm>
          <a:prstGeom prst="rect">
            <a:avLst/>
          </a:prstGeom>
          <a:solidFill>
            <a:srgbClr val="5B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635180" y="3906540"/>
            <a:ext cx="33192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03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7635180" y="4249440"/>
            <a:ext cx="331929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183"/>
              </a:lnSpc>
              <a:buNone/>
            </a:pPr>
            <a:r>
              <a:rPr lang="en-US" sz="1875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Agentes Especialistas</a:t>
            </a:r>
            <a:endParaRPr lang="en-US" sz="1875" dirty="0"/>
          </a:p>
        </p:txBody>
      </p:sp>
      <p:sp>
        <p:nvSpPr>
          <p:cNvPr id="45" name="Text 42"/>
          <p:cNvSpPr/>
          <p:nvPr/>
        </p:nvSpPr>
        <p:spPr>
          <a:xfrm>
            <a:off x="7635180" y="4618534"/>
            <a:ext cx="31080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99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INTELIGÊNCIA DE DOMÍNIO</a:t>
            </a:r>
            <a:endParaRPr lang="en-US" sz="1650" dirty="0"/>
          </a:p>
        </p:txBody>
      </p:sp>
      <p:sp>
        <p:nvSpPr>
          <p:cNvPr id="46" name="Shape 43"/>
          <p:cNvSpPr/>
          <p:nvPr/>
        </p:nvSpPr>
        <p:spPr>
          <a:xfrm>
            <a:off x="7635180" y="5285284"/>
            <a:ext cx="3017540" cy="4889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3931" y="5434509"/>
            <a:ext cx="190500" cy="1905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117781" y="5415459"/>
            <a:ext cx="10231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WinBack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7635180" y="5888534"/>
            <a:ext cx="3017540" cy="4889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3931" y="6037759"/>
            <a:ext cx="190500" cy="19050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8117781" y="6018709"/>
            <a:ext cx="17781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SentimentDesk</a:t>
            </a:r>
            <a:endParaRPr lang="en-US" sz="1800" dirty="0"/>
          </a:p>
        </p:txBody>
      </p:sp>
      <p:sp>
        <p:nvSpPr>
          <p:cNvPr id="52" name="Shape 47"/>
          <p:cNvSpPr/>
          <p:nvPr/>
        </p:nvSpPr>
        <p:spPr>
          <a:xfrm>
            <a:off x="7635180" y="6491784"/>
            <a:ext cx="3017540" cy="4889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3931" y="6641009"/>
            <a:ext cx="190500" cy="19050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117781" y="6621959"/>
            <a:ext cx="13324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LogiPredict</a:t>
            </a:r>
            <a:endParaRPr lang="en-US" sz="1800" dirty="0"/>
          </a:p>
        </p:txBody>
      </p:sp>
      <p:sp>
        <p:nvSpPr>
          <p:cNvPr id="55" name="Shape 49"/>
          <p:cNvSpPr/>
          <p:nvPr/>
        </p:nvSpPr>
        <p:spPr>
          <a:xfrm>
            <a:off x="7635180" y="7095034"/>
            <a:ext cx="3017540" cy="4889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3931" y="7244259"/>
            <a:ext cx="190500" cy="19050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117781" y="7225209"/>
            <a:ext cx="11837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SellerCare</a:t>
            </a:r>
            <a:endParaRPr lang="en-US" sz="1800" dirty="0"/>
          </a:p>
        </p:txBody>
      </p:sp>
      <p:sp>
        <p:nvSpPr>
          <p:cNvPr id="58" name="Shape 51"/>
          <p:cNvSpPr/>
          <p:nvPr/>
        </p:nvSpPr>
        <p:spPr>
          <a:xfrm>
            <a:off x="7635180" y="7698284"/>
            <a:ext cx="3017540" cy="4889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3931" y="7847509"/>
            <a:ext cx="190500" cy="190500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8117781" y="7828459"/>
            <a:ext cx="1514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SmartFreight</a:t>
            </a:r>
            <a:endParaRPr lang="en-US" sz="1800" dirty="0"/>
          </a:p>
        </p:txBody>
      </p:sp>
      <p:sp>
        <p:nvSpPr>
          <p:cNvPr id="61" name="Shape 53"/>
          <p:cNvSpPr/>
          <p:nvPr/>
        </p:nvSpPr>
        <p:spPr>
          <a:xfrm>
            <a:off x="10995621" y="3706515"/>
            <a:ext cx="3017540" cy="28575"/>
          </a:xfrm>
          <a:prstGeom prst="rect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/>
          <p:nvPr/>
        </p:nvSpPr>
        <p:spPr>
          <a:xfrm>
            <a:off x="10995621" y="3906540"/>
            <a:ext cx="33192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04</a:t>
            </a:r>
            <a:endParaRPr lang="en-US" sz="1800" dirty="0"/>
          </a:p>
        </p:txBody>
      </p:sp>
      <p:sp>
        <p:nvSpPr>
          <p:cNvPr id="63" name="Text 55"/>
          <p:cNvSpPr/>
          <p:nvPr/>
        </p:nvSpPr>
        <p:spPr>
          <a:xfrm>
            <a:off x="10995621" y="4249440"/>
            <a:ext cx="331929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183"/>
              </a:lnSpc>
              <a:buNone/>
            </a:pPr>
            <a:r>
              <a:rPr lang="en-US" sz="1875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Orquestração</a:t>
            </a:r>
            <a:endParaRPr lang="en-US" sz="1875" dirty="0"/>
          </a:p>
        </p:txBody>
      </p:sp>
      <p:sp>
        <p:nvSpPr>
          <p:cNvPr id="64" name="Text 56"/>
          <p:cNvSpPr/>
          <p:nvPr/>
        </p:nvSpPr>
        <p:spPr>
          <a:xfrm>
            <a:off x="10995621" y="4618534"/>
            <a:ext cx="33192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99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EXECUTIVA</a:t>
            </a:r>
            <a:endParaRPr lang="en-US" sz="1650" dirty="0"/>
          </a:p>
        </p:txBody>
      </p:sp>
      <p:sp>
        <p:nvSpPr>
          <p:cNvPr id="65" name="Shape 57"/>
          <p:cNvSpPr/>
          <p:nvPr/>
        </p:nvSpPr>
        <p:spPr>
          <a:xfrm>
            <a:off x="10995621" y="5075734"/>
            <a:ext cx="3017540" cy="1545431"/>
          </a:xfrm>
          <a:prstGeom prst="rect">
            <a:avLst/>
          </a:prstGeom>
          <a:ln w="12700">
            <a:solidFill>
              <a:srgbClr val="FFC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17871" y="5317034"/>
            <a:ext cx="247650" cy="247650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11598871" y="5326559"/>
            <a:ext cx="12462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MAESTRO</a:t>
            </a:r>
            <a:endParaRPr lang="en-US" sz="1800" dirty="0"/>
          </a:p>
        </p:txBody>
      </p:sp>
      <p:sp>
        <p:nvSpPr>
          <p:cNvPr id="68" name="Text 59"/>
          <p:cNvSpPr/>
          <p:nvPr/>
        </p:nvSpPr>
        <p:spPr>
          <a:xfrm>
            <a:off x="11217871" y="5717084"/>
            <a:ext cx="2650231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Agente Executivo de IA &amp; Orquestrador.</a:t>
            </a:r>
            <a:endParaRPr lang="en-US" sz="1800" dirty="0"/>
          </a:p>
        </p:txBody>
      </p:sp>
      <p:sp>
        <p:nvSpPr>
          <p:cNvPr id="69" name="Shape 60"/>
          <p:cNvSpPr/>
          <p:nvPr/>
        </p:nvSpPr>
        <p:spPr>
          <a:xfrm>
            <a:off x="14356061" y="3706515"/>
            <a:ext cx="3017540" cy="28575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1"/>
          <p:cNvSpPr/>
          <p:nvPr/>
        </p:nvSpPr>
        <p:spPr>
          <a:xfrm>
            <a:off x="14356061" y="3906540"/>
            <a:ext cx="33192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6E85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05</a:t>
            </a:r>
            <a:endParaRPr lang="en-US" sz="1800" dirty="0"/>
          </a:p>
        </p:txBody>
      </p:sp>
      <p:sp>
        <p:nvSpPr>
          <p:cNvPr id="71" name="Text 62"/>
          <p:cNvSpPr/>
          <p:nvPr/>
        </p:nvSpPr>
        <p:spPr>
          <a:xfrm>
            <a:off x="14356061" y="4249440"/>
            <a:ext cx="331929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183"/>
              </a:lnSpc>
              <a:buNone/>
            </a:pPr>
            <a:r>
              <a:rPr lang="en-US" sz="1875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Usuários de Negócio</a:t>
            </a:r>
            <a:endParaRPr lang="en-US" sz="1875" dirty="0"/>
          </a:p>
        </p:txBody>
      </p:sp>
      <p:sp>
        <p:nvSpPr>
          <p:cNvPr id="72" name="Text 63"/>
          <p:cNvSpPr/>
          <p:nvPr/>
        </p:nvSpPr>
        <p:spPr>
          <a:xfrm>
            <a:off x="14356061" y="4618534"/>
            <a:ext cx="33192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99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DECISÕES &amp; AÇÃO</a:t>
            </a:r>
            <a:endParaRPr lang="en-US" sz="1650" dirty="0"/>
          </a:p>
        </p:txBody>
      </p:sp>
      <p:sp>
        <p:nvSpPr>
          <p:cNvPr id="73" name="Shape 64"/>
          <p:cNvSpPr/>
          <p:nvPr/>
        </p:nvSpPr>
        <p:spPr>
          <a:xfrm>
            <a:off x="14356061" y="5582444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5"/>
          <p:cNvSpPr/>
          <p:nvPr/>
        </p:nvSpPr>
        <p:spPr>
          <a:xfrm>
            <a:off x="14356061" y="5180509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 / CRM</a:t>
            </a:r>
            <a:endParaRPr lang="en-US" sz="1800" dirty="0"/>
          </a:p>
        </p:txBody>
      </p:sp>
      <p:sp>
        <p:nvSpPr>
          <p:cNvPr id="75" name="Shape 66"/>
          <p:cNvSpPr/>
          <p:nvPr/>
        </p:nvSpPr>
        <p:spPr>
          <a:xfrm>
            <a:off x="14356061" y="6181229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7"/>
          <p:cNvSpPr/>
          <p:nvPr/>
        </p:nvSpPr>
        <p:spPr>
          <a:xfrm>
            <a:off x="14356061" y="5779294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Logística / Operações</a:t>
            </a:r>
            <a:endParaRPr lang="en-US" sz="1800" dirty="0"/>
          </a:p>
        </p:txBody>
      </p:sp>
      <p:sp>
        <p:nvSpPr>
          <p:cNvPr id="77" name="Shape 68"/>
          <p:cNvSpPr/>
          <p:nvPr/>
        </p:nvSpPr>
        <p:spPr>
          <a:xfrm>
            <a:off x="14356061" y="6780014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69"/>
          <p:cNvSpPr/>
          <p:nvPr/>
        </p:nvSpPr>
        <p:spPr>
          <a:xfrm>
            <a:off x="14356061" y="6378079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Success</a:t>
            </a:r>
            <a:endParaRPr lang="en-US" sz="1800" dirty="0"/>
          </a:p>
        </p:txBody>
      </p:sp>
      <p:sp>
        <p:nvSpPr>
          <p:cNvPr id="79" name="Shape 70"/>
          <p:cNvSpPr/>
          <p:nvPr/>
        </p:nvSpPr>
        <p:spPr>
          <a:xfrm>
            <a:off x="14356061" y="7378799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1"/>
          <p:cNvSpPr/>
          <p:nvPr/>
        </p:nvSpPr>
        <p:spPr>
          <a:xfrm>
            <a:off x="14356061" y="6976864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Gestão Comercial</a:t>
            </a:r>
            <a:endParaRPr lang="en-US" sz="1800" dirty="0"/>
          </a:p>
        </p:txBody>
      </p:sp>
      <p:sp>
        <p:nvSpPr>
          <p:cNvPr id="81" name="Shape 72"/>
          <p:cNvSpPr/>
          <p:nvPr/>
        </p:nvSpPr>
        <p:spPr>
          <a:xfrm>
            <a:off x="14356061" y="7977584"/>
            <a:ext cx="3017540" cy="9525"/>
          </a:xfrm>
          <a:prstGeom prst="rect">
            <a:avLst/>
          </a:prstGeom>
          <a:solidFill>
            <a:srgbClr val="1B2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3"/>
          <p:cNvSpPr/>
          <p:nvPr/>
        </p:nvSpPr>
        <p:spPr>
          <a:xfrm>
            <a:off x="14356061" y="7575649"/>
            <a:ext cx="3108066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765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Executivos</a:t>
            </a:r>
            <a:endParaRPr lang="en-US" sz="1800" dirty="0"/>
          </a:p>
        </p:txBody>
      </p:sp>
      <p:sp>
        <p:nvSpPr>
          <p:cNvPr id="83" name="Shape 74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5"/>
          <p:cNvSpPr/>
          <p:nvPr/>
        </p:nvSpPr>
        <p:spPr>
          <a:xfrm>
            <a:off x="914400" y="9648825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85" name="Text 76"/>
          <p:cNvSpPr/>
          <p:nvPr/>
        </p:nvSpPr>
        <p:spPr>
          <a:xfrm>
            <a:off x="7746306" y="9639300"/>
            <a:ext cx="7509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Cinco camadas, um fluxo contínuo — do dado bruto à decisão de negócio.</a:t>
            </a:r>
            <a:endParaRPr lang="en-US" sz="1800" dirty="0"/>
          </a:p>
        </p:txBody>
      </p:sp>
      <p:sp>
        <p:nvSpPr>
          <p:cNvPr id="86" name="Text 77"/>
          <p:cNvSpPr/>
          <p:nvPr/>
        </p:nvSpPr>
        <p:spPr>
          <a:xfrm>
            <a:off x="16288048" y="9648825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53532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830598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125873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506873" y="571500"/>
            <a:ext cx="3153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02 · DESENHAR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1295400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ECOSSISTEMA EM AÇÃO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695450"/>
            <a:ext cx="18105120" cy="60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6783"/>
              </a:lnSpc>
              <a:buNone/>
            </a:pPr>
            <a:r>
              <a:rPr lang="en-US" sz="4200" b="1" kern="0" spc="-10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 sinal pode acionar inteligência coordenada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5813425" y="3116759"/>
            <a:ext cx="6661150" cy="9525"/>
          </a:xfrm>
          <a:prstGeom prst="rect">
            <a:avLst/>
          </a:prstGeom>
          <a:solidFill>
            <a:srgbClr val="6E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13425" y="2432248"/>
            <a:ext cx="6661150" cy="9525"/>
          </a:xfrm>
          <a:prstGeom prst="rect">
            <a:avLst/>
          </a:prstGeom>
          <a:solidFill>
            <a:srgbClr val="6E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13425" y="2432248"/>
            <a:ext cx="25400" cy="690860"/>
          </a:xfrm>
          <a:prstGeom prst="rect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2468226" y="2432248"/>
            <a:ext cx="9525" cy="690860"/>
          </a:xfrm>
          <a:prstGeom prst="rect">
            <a:avLst/>
          </a:prstGeom>
          <a:solidFill>
            <a:srgbClr val="6E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05525" y="2734767"/>
            <a:ext cx="85725" cy="85725"/>
          </a:xfrm>
          <a:prstGeom prst="ellipse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43650" y="2629099"/>
            <a:ext cx="4368899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kern="0" spc="-18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Cliente publica uma avaliação negativa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39238" y="3123109"/>
            <a:ext cx="9525" cy="247650"/>
          </a:xfrm>
          <a:prstGeom prst="rect">
            <a:avLst/>
          </a:prstGeom>
          <a:solidFill>
            <a:srgbClr val="8A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70450" y="3370759"/>
            <a:ext cx="8547100" cy="1069975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43500" y="3651746"/>
            <a:ext cx="508000" cy="5080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3200" y="3791446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61050" y="3586659"/>
            <a:ext cx="59725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SENTIMENTDESK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861050" y="3891459"/>
            <a:ext cx="59725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57"/>
              </a:lnSpc>
              <a:buNone/>
            </a:pPr>
            <a:r>
              <a:rPr lang="en-US" sz="1875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Detecta o sentimento negativo e identifica a causa raiz.</a:t>
            </a:r>
            <a:endParaRPr lang="en-US" sz="1875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4250" y="4440734"/>
            <a:ext cx="11239500" cy="990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311353" y="4993184"/>
            <a:ext cx="4140796" cy="228600"/>
          </a:xfrm>
          <a:prstGeom prst="rect">
            <a:avLst/>
          </a:prstGeom>
          <a:solidFill>
            <a:srgbClr val="0A10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406603" y="4993184"/>
            <a:ext cx="4364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 RELACIONADO À ENTREGA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0477500" y="4993184"/>
            <a:ext cx="2857500" cy="457200"/>
          </a:xfrm>
          <a:prstGeom prst="rect">
            <a:avLst/>
          </a:prstGeom>
          <a:solidFill>
            <a:srgbClr val="0A10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0572750" y="4993184"/>
            <a:ext cx="27527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 RELACIONADO AO VENDEDOR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3714750" y="5431334"/>
            <a:ext cx="4953000" cy="1399381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3968750" y="5896074"/>
            <a:ext cx="469900" cy="4699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8925" y="6026250"/>
            <a:ext cx="209550" cy="2095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29150" y="5647234"/>
            <a:ext cx="4163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LOGIPREDICT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4629150" y="5952034"/>
            <a:ext cx="3898138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 o risco logístico e os padrões de entrega.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620250" y="5431334"/>
            <a:ext cx="4953000" cy="1399381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9874251" y="5896074"/>
            <a:ext cx="469900" cy="469900"/>
          </a:xfrm>
          <a:prstGeom prst="ellipse">
            <a:avLst/>
          </a:prstGeom>
          <a:ln w="6350">
            <a:solidFill>
              <a:srgbClr val="3C5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4425" y="6026250"/>
            <a:ext cx="209550" cy="2095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534650" y="5647234"/>
            <a:ext cx="4163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SELLERCARE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10534650" y="5952034"/>
            <a:ext cx="3898138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 o histórico de performance do vendedor.</a:t>
            </a:r>
            <a:endParaRPr lang="en-US" sz="1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24250" y="6830715"/>
            <a:ext cx="11239500" cy="66675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816600" y="7364115"/>
            <a:ext cx="6654800" cy="1080691"/>
          </a:xfrm>
          <a:prstGeom prst="rect">
            <a:avLst/>
          </a:prstGeom>
          <a:ln w="12700">
            <a:solidFill>
              <a:srgbClr val="FFC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6096000" y="7659985"/>
            <a:ext cx="488950" cy="488950"/>
          </a:xfrm>
          <a:prstGeom prst="ellipse">
            <a:avLst/>
          </a:prstGeom>
          <a:ln w="6350">
            <a:solidFill>
              <a:srgbClr val="C7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6175" y="7790161"/>
            <a:ext cx="228600" cy="22860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75450" y="7586365"/>
            <a:ext cx="45735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MAESTRO</a:t>
            </a:r>
            <a:endParaRPr lang="en-US" sz="1800" dirty="0"/>
          </a:p>
        </p:txBody>
      </p:sp>
      <p:sp>
        <p:nvSpPr>
          <p:cNvPr id="42" name="Text 33"/>
          <p:cNvSpPr/>
          <p:nvPr/>
        </p:nvSpPr>
        <p:spPr>
          <a:xfrm>
            <a:off x="6775450" y="7891165"/>
            <a:ext cx="4573538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Consolida os sinais e o contexto de negócio.</a:t>
            </a:r>
            <a:endParaRPr lang="en-US" sz="1800" dirty="0"/>
          </a:p>
        </p:txBody>
      </p:sp>
      <p:sp>
        <p:nvSpPr>
          <p:cNvPr id="43" name="Shape 34"/>
          <p:cNvSpPr/>
          <p:nvPr/>
        </p:nvSpPr>
        <p:spPr>
          <a:xfrm>
            <a:off x="9139238" y="8444805"/>
            <a:ext cx="9525" cy="228600"/>
          </a:xfrm>
          <a:prstGeom prst="rect">
            <a:avLst/>
          </a:prstGeom>
          <a:solidFill>
            <a:srgbClr val="1E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4108450" y="9763621"/>
            <a:ext cx="10071100" cy="9525"/>
          </a:xfrm>
          <a:prstGeom prst="rect">
            <a:avLst/>
          </a:prstGeom>
          <a:solidFill>
            <a:srgbClr val="1E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6"/>
          <p:cNvSpPr/>
          <p:nvPr/>
        </p:nvSpPr>
        <p:spPr>
          <a:xfrm>
            <a:off x="4108450" y="8673405"/>
            <a:ext cx="10071100" cy="25400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4108450" y="8673405"/>
            <a:ext cx="9525" cy="1096566"/>
          </a:xfrm>
          <a:prstGeom prst="rect">
            <a:avLst/>
          </a:prstGeom>
          <a:solidFill>
            <a:srgbClr val="1E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>
            <a:off x="14173200" y="8673405"/>
            <a:ext cx="9525" cy="1096566"/>
          </a:xfrm>
          <a:prstGeom prst="rect">
            <a:avLst/>
          </a:prstGeom>
          <a:solidFill>
            <a:srgbClr val="1E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/>
          <p:nvPr/>
        </p:nvSpPr>
        <p:spPr>
          <a:xfrm>
            <a:off x="3905250" y="8889306"/>
            <a:ext cx="10477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76596"/>
              </a:lnSpc>
              <a:buNone/>
            </a:pPr>
            <a:r>
              <a:rPr lang="en-US" sz="1800" kern="0" spc="288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AÇÃO DE NEGÓCIO</a:t>
            </a:r>
            <a:endParaRPr lang="en-US" sz="1800" dirty="0"/>
          </a:p>
        </p:txBody>
      </p:sp>
      <p:sp>
        <p:nvSpPr>
          <p:cNvPr id="49" name="Text 40"/>
          <p:cNvSpPr/>
          <p:nvPr/>
        </p:nvSpPr>
        <p:spPr>
          <a:xfrm>
            <a:off x="3905250" y="9251256"/>
            <a:ext cx="10477500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0714"/>
              </a:lnSpc>
              <a:buNone/>
            </a:pPr>
            <a:r>
              <a:rPr lang="en-US" sz="1950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Recomendação · Alerta · Resposta Coordenada · ou Decisão Humana</a:t>
            </a:r>
            <a:endParaRPr lang="en-US" sz="1950" dirty="0"/>
          </a:p>
        </p:txBody>
      </p:sp>
      <p:sp>
        <p:nvSpPr>
          <p:cNvPr id="50" name="Shape 41"/>
          <p:cNvSpPr/>
          <p:nvPr/>
        </p:nvSpPr>
        <p:spPr>
          <a:xfrm>
            <a:off x="914400" y="9769971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914400" y="9931896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52" name="Text 43"/>
          <p:cNvSpPr/>
          <p:nvPr/>
        </p:nvSpPr>
        <p:spPr>
          <a:xfrm>
            <a:off x="7703344" y="9922371"/>
            <a:ext cx="76044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Cenário plausível de colaboração — nem todo sinal segue todas as etapas.</a:t>
            </a:r>
            <a:endParaRPr lang="en-US" sz="1800" dirty="0"/>
          </a:p>
        </p:txBody>
      </p:sp>
      <p:sp>
        <p:nvSpPr>
          <p:cNvPr id="53" name="Text 44"/>
          <p:cNvSpPr/>
          <p:nvPr/>
        </p:nvSpPr>
        <p:spPr>
          <a:xfrm>
            <a:off x="16288048" y="9931896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694569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989844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285119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666119" y="571500"/>
            <a:ext cx="29782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03 · ESCALAR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1295400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AUTONOMIA RESPONSÁVEL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695450"/>
            <a:ext cx="18105120" cy="60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6783"/>
              </a:lnSpc>
              <a:buNone/>
            </a:pPr>
            <a:r>
              <a:rPr lang="en-US" sz="4200" b="1" kern="0" spc="-105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Mais autonomia não significa menos controle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-731520" y="2260798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MAIOR AUTONOMIA 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14400" y="2622749"/>
            <a:ext cx="1645920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565599"/>
            <a:ext cx="171450" cy="171450"/>
          </a:xfrm>
          <a:prstGeom prst="ellipse">
            <a:avLst/>
          </a:prstGeom>
          <a:solidFill>
            <a:srgbClr val="0A1024"/>
          </a:solidFill>
          <a:ln w="19050">
            <a:solidFill>
              <a:srgbClr val="4DE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205" y="2565599"/>
            <a:ext cx="171450" cy="171450"/>
          </a:xfrm>
          <a:prstGeom prst="ellipse">
            <a:avLst/>
          </a:prstGeom>
          <a:solidFill>
            <a:srgbClr val="0A1024"/>
          </a:solidFill>
          <a:ln w="19050">
            <a:solidFill>
              <a:srgbClr val="4DE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1886009" y="2565599"/>
            <a:ext cx="171450" cy="171450"/>
          </a:xfrm>
          <a:prstGeom prst="ellipse">
            <a:avLst/>
          </a:prstGeom>
          <a:solidFill>
            <a:srgbClr val="0A1024"/>
          </a:solidFill>
          <a:ln w="19050">
            <a:solidFill>
              <a:srgbClr val="4DE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7202150" y="2565599"/>
            <a:ext cx="171450" cy="171450"/>
          </a:xfrm>
          <a:prstGeom prst="ellipse">
            <a:avLst/>
          </a:prstGeom>
          <a:solidFill>
            <a:srgbClr val="FFC24D"/>
          </a:solidFill>
          <a:ln w="19050">
            <a:solidFill>
              <a:srgbClr val="FFC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2813249"/>
            <a:ext cx="1196380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574"/>
              </a:lnSpc>
              <a:buNone/>
            </a:pPr>
            <a:r>
              <a:rPr lang="en-US" sz="1800" kern="0" spc="180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INSIGHT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7888" y="2813249"/>
            <a:ext cx="1676400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574"/>
              </a:lnSpc>
              <a:buNone/>
            </a:pPr>
            <a:r>
              <a:rPr lang="en-US" sz="1800" kern="0" spc="180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RECOMENDAR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706100" y="2813249"/>
            <a:ext cx="716359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574"/>
              </a:lnSpc>
              <a:buNone/>
            </a:pPr>
            <a:r>
              <a:rPr lang="en-US" sz="1800" kern="0" spc="180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217080" y="2813249"/>
            <a:ext cx="2156520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99574"/>
              </a:lnSpc>
              <a:buNone/>
            </a:pPr>
            <a:r>
              <a:rPr lang="en-US" sz="1800" kern="0" spc="180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AGIR AUTONOMAMENTE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4017169"/>
            <a:ext cx="16459200" cy="1549400"/>
          </a:xfrm>
          <a:prstGeom prst="rect">
            <a:avLst/>
          </a:prstGeom>
          <a:solidFill>
            <a:srgbClr val="3B6B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14400" y="4017169"/>
            <a:ext cx="25400" cy="1549400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244600" y="4753769"/>
            <a:ext cx="76200" cy="76200"/>
          </a:xfrm>
          <a:prstGeom prst="ellipse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416050" y="4677569"/>
            <a:ext cx="19915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b="1" kern="0" spc="216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BAIXO RISCO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483100" y="4283869"/>
            <a:ext cx="2204045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79950" y="4394994"/>
            <a:ext cx="1886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Analisar avaliações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801445" y="4283869"/>
            <a:ext cx="2860377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98295" y="4394994"/>
            <a:ext cx="25524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Identificar risco do cliente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776123" y="4283869"/>
            <a:ext cx="2667397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972973" y="4394994"/>
            <a:ext cx="23537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Detectar possível atraso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483100" y="4849019"/>
            <a:ext cx="1612900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679950" y="4960144"/>
            <a:ext cx="1295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Gerar insight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4474826" y="4575969"/>
            <a:ext cx="2593975" cy="431800"/>
          </a:xfrm>
          <a:prstGeom prst="rect">
            <a:avLst/>
          </a:prstGeom>
          <a:ln w="6350">
            <a:solidFill>
              <a:srgbClr val="2FE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4671676" y="4687094"/>
            <a:ext cx="2278094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165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MAIOR AUTONOMIA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914400" y="5814219"/>
            <a:ext cx="16459200" cy="1549400"/>
          </a:xfrm>
          <a:prstGeom prst="rect">
            <a:avLst/>
          </a:prstGeom>
          <a:solidFill>
            <a:srgbClr val="3B6B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14400" y="5814219"/>
            <a:ext cx="25400" cy="1549400"/>
          </a:xfrm>
          <a:prstGeom prst="rect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244600" y="6550819"/>
            <a:ext cx="76200" cy="76200"/>
          </a:xfrm>
          <a:prstGeom prst="ellipse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416050" y="6474619"/>
            <a:ext cx="19915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b="1" kern="0" spc="216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RISCO MÉDIO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483100" y="6080919"/>
            <a:ext cx="3243064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679950" y="6192044"/>
            <a:ext cx="29466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Rascunhar resposta ao cliente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7840464" y="6080919"/>
            <a:ext cx="2535734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037314" y="6192044"/>
            <a:ext cx="22182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Recomendar desconto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4483100" y="6646069"/>
            <a:ext cx="3354884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679950" y="6757194"/>
            <a:ext cx="30618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Recomendar ação ao vendedor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3448011" y="6373019"/>
            <a:ext cx="3620790" cy="431800"/>
          </a:xfrm>
          <a:prstGeom prst="rect">
            <a:avLst/>
          </a:prstGeom>
          <a:ln w="6350">
            <a:solidFill>
              <a:srgbClr val="FFC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3644861" y="6484144"/>
            <a:ext cx="3335714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165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GUARDRAILS NECESSÁRIOS</a:t>
            </a:r>
            <a:endParaRPr lang="en-US" sz="1650" dirty="0"/>
          </a:p>
        </p:txBody>
      </p:sp>
      <p:sp>
        <p:nvSpPr>
          <p:cNvPr id="46" name="Shape 43"/>
          <p:cNvSpPr/>
          <p:nvPr/>
        </p:nvSpPr>
        <p:spPr>
          <a:xfrm>
            <a:off x="914400" y="7611269"/>
            <a:ext cx="16459200" cy="1549400"/>
          </a:xfrm>
          <a:prstGeom prst="rect">
            <a:avLst/>
          </a:prstGeom>
          <a:solidFill>
            <a:srgbClr val="3B6B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914400" y="7611269"/>
            <a:ext cx="25400" cy="1549400"/>
          </a:xfrm>
          <a:prstGeom prst="rect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244600" y="8347869"/>
            <a:ext cx="76200" cy="76200"/>
          </a:xfrm>
          <a:prstGeom prst="ellipse">
            <a:avLst/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416050" y="8271669"/>
            <a:ext cx="21726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b="1" kern="0" spc="216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ALTO IMPACTO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4483100" y="7877969"/>
            <a:ext cx="2747665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679950" y="7989094"/>
            <a:ext cx="24363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Compensação financeira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7345065" y="7877969"/>
            <a:ext cx="2682578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541915" y="7989094"/>
            <a:ext cx="23693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Suspensão de vendedor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4483100" y="8443119"/>
            <a:ext cx="3349129" cy="450850"/>
          </a:xfrm>
          <a:prstGeom prst="rect">
            <a:avLst/>
          </a:prstGeom>
          <a:solidFill>
            <a:srgbClr val="0A1024"/>
          </a:solidFill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679950" y="8554244"/>
            <a:ext cx="30559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Decisões comerciais relevantes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2714586" y="8170069"/>
            <a:ext cx="4354215" cy="431800"/>
          </a:xfrm>
          <a:prstGeom prst="rect">
            <a:avLst/>
          </a:prstGeom>
          <a:ln w="6350">
            <a:solidFill>
              <a:srgbClr val="FF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2911436" y="8281194"/>
            <a:ext cx="4091141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165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APROVAÇÃO HUMANA NECESSÁRIA</a:t>
            </a:r>
            <a:endParaRPr lang="en-US" sz="1650" dirty="0"/>
          </a:p>
        </p:txBody>
      </p:sp>
      <p:sp>
        <p:nvSpPr>
          <p:cNvPr id="58" name="Text 55"/>
          <p:cNvSpPr/>
          <p:nvPr/>
        </p:nvSpPr>
        <p:spPr>
          <a:xfrm>
            <a:off x="2770485" y="9160669"/>
            <a:ext cx="18105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8FA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4949825" y="9160669"/>
            <a:ext cx="2408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2A3C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5647829" y="9160669"/>
            <a:ext cx="25347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8FA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HUMANO NO LOOP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8485584" y="9160669"/>
            <a:ext cx="2408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2A3C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9183588" y="9160669"/>
            <a:ext cx="30778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8FA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REGRAS DE NEGÓCIO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2515057" y="9160669"/>
            <a:ext cx="2408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2A3C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13213061" y="9160669"/>
            <a:ext cx="25347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16" dirty="0">
                <a:solidFill>
                  <a:srgbClr val="8FA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AUDITABILIDADE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914400" y="9713119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914400" y="9875044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67" name="Text 64"/>
          <p:cNvSpPr/>
          <p:nvPr/>
        </p:nvSpPr>
        <p:spPr>
          <a:xfrm>
            <a:off x="6990755" y="9865519"/>
            <a:ext cx="91720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i="1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autonomia cresce conforme a confiança, os controles e a validação de negócio evoluem.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16288048" y="9875044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3694569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989844" y="666750"/>
            <a:ext cx="247650" cy="19050"/>
          </a:xfrm>
          <a:prstGeom prst="rect">
            <a:avLst/>
          </a:prstGeom>
          <a:solidFill>
            <a:srgbClr val="2A3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285119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666119" y="571500"/>
            <a:ext cx="29782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CAP. 03 · ESCALAR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266825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PARA ESCALA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647825"/>
            <a:ext cx="181051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6951"/>
              </a:lnSpc>
              <a:buNone/>
            </a:pPr>
            <a:r>
              <a:rPr lang="en-US" sz="3750" b="1" kern="0" spc="-94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Comece focado. Conecte inteligência. Escale autonomia.</a:t>
            </a:r>
            <a:endParaRPr lang="en-US" sz="3750" dirty="0"/>
          </a:p>
        </p:txBody>
      </p:sp>
      <p:sp>
        <p:nvSpPr>
          <p:cNvPr id="11" name="Shape 8"/>
          <p:cNvSpPr/>
          <p:nvPr/>
        </p:nvSpPr>
        <p:spPr>
          <a:xfrm>
            <a:off x="914400" y="2571750"/>
            <a:ext cx="5207000" cy="25400"/>
          </a:xfrm>
          <a:prstGeom prst="rect">
            <a:avLst/>
          </a:prstGeom>
          <a:solidFill>
            <a:srgbClr val="4DE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806700"/>
            <a:ext cx="10912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98888" y="2806700"/>
            <a:ext cx="16747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MESES 1–3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3187700"/>
            <a:ext cx="5727700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179"/>
              </a:lnSpc>
              <a:buNone/>
            </a:pPr>
            <a:r>
              <a:rPr lang="en-US" sz="2550" b="1" kern="0" spc="-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Inteligência Isolada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914400" y="3753445"/>
            <a:ext cx="1779885" cy="4127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73150" y="3845520"/>
            <a:ext cx="1538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SentimentDesk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789535" y="3753445"/>
            <a:ext cx="1145778" cy="4127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948285" y="3845520"/>
            <a:ext cx="9044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WinBack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030563" y="3753445"/>
            <a:ext cx="1298476" cy="4127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89313" y="3845520"/>
            <a:ext cx="10571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SellerCare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14400" y="4394795"/>
            <a:ext cx="52070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4556720"/>
            <a:ext cx="536321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79"/>
              </a:lnSpc>
              <a:buNone/>
            </a:pPr>
            <a:r>
              <a:rPr lang="en-US" sz="1650" kern="0" spc="132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VALIDAR O VALOR INDIVIDUAL DE CADA AGENTE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6540500" y="2571750"/>
            <a:ext cx="5207000" cy="25400"/>
          </a:xfrm>
          <a:prstGeom prst="rect">
            <a:avLst/>
          </a:prstGeom>
          <a:solidFill>
            <a:srgbClr val="2FE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40500" y="2806700"/>
            <a:ext cx="10912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B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224989" y="2806700"/>
            <a:ext cx="16747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MESES 4–6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540500" y="3187700"/>
            <a:ext cx="5727700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179"/>
              </a:lnSpc>
              <a:buNone/>
            </a:pPr>
            <a:r>
              <a:rPr lang="en-US" sz="2550" b="1" kern="0" spc="-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Sinergia</a:t>
            </a:r>
            <a:endParaRPr lang="en-US" sz="2550" dirty="0"/>
          </a:p>
        </p:txBody>
      </p:sp>
      <p:sp>
        <p:nvSpPr>
          <p:cNvPr id="27" name="Shape 24"/>
          <p:cNvSpPr/>
          <p:nvPr/>
        </p:nvSpPr>
        <p:spPr>
          <a:xfrm>
            <a:off x="6540500" y="3753445"/>
            <a:ext cx="1563192" cy="4127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99250" y="3845520"/>
            <a:ext cx="13218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LogiPredict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198941" y="3753445"/>
            <a:ext cx="1732359" cy="412750"/>
          </a:xfrm>
          <a:prstGeom prst="rect">
            <a:avLst/>
          </a:prstGeom>
          <a:ln w="6350">
            <a:solidFill>
              <a:srgbClr val="273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357691" y="3845520"/>
            <a:ext cx="149105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SmartFreight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540500" y="4394795"/>
            <a:ext cx="52070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40500" y="4556720"/>
            <a:ext cx="5727700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79"/>
              </a:lnSpc>
              <a:buNone/>
            </a:pPr>
            <a:r>
              <a:rPr lang="en-US" sz="1650" kern="0" spc="132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CONECTAR SINAIS E COORDENAR AÇÕES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166600" y="2571750"/>
            <a:ext cx="5207000" cy="25400"/>
          </a:xfrm>
          <a:prstGeom prst="rect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2166600" y="2806700"/>
            <a:ext cx="10912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C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5851088" y="2806700"/>
            <a:ext cx="16747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MESES 7–9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2166600" y="3187700"/>
            <a:ext cx="5727700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179"/>
              </a:lnSpc>
              <a:buNone/>
            </a:pPr>
            <a:r>
              <a:rPr lang="en-US" sz="2550" b="1" kern="0" spc="-5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Orquestração</a:t>
            </a:r>
            <a:endParaRPr lang="en-US" sz="2550" dirty="0"/>
          </a:p>
        </p:txBody>
      </p:sp>
      <p:sp>
        <p:nvSpPr>
          <p:cNvPr id="37" name="Shape 34"/>
          <p:cNvSpPr/>
          <p:nvPr/>
        </p:nvSpPr>
        <p:spPr>
          <a:xfrm>
            <a:off x="12166600" y="3753445"/>
            <a:ext cx="1241127" cy="412750"/>
          </a:xfrm>
          <a:prstGeom prst="rect">
            <a:avLst/>
          </a:prstGeom>
          <a:ln w="6350">
            <a:solidFill>
              <a:srgbClr val="C7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2325350" y="3845520"/>
            <a:ext cx="99982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588"/>
              </a:lnSpc>
              <a:buNone/>
            </a:pPr>
            <a:r>
              <a:rPr lang="en-US" sz="1800" dirty="0">
                <a:solidFill>
                  <a:srgbClr val="F2F6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Maestro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2166600" y="4394795"/>
            <a:ext cx="52070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2166600" y="4556720"/>
            <a:ext cx="536321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279"/>
              </a:lnSpc>
              <a:buNone/>
            </a:pPr>
            <a:r>
              <a:rPr lang="en-US" sz="1650" kern="0" spc="132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ORQUESTRAR O ECOSSISTEMA; AUMENTAR A AUTONOMIA PROGRESSIVAMENTE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914400" y="5583436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14400" y="5894586"/>
            <a:ext cx="57277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REATIVO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914400" y="6237486"/>
            <a:ext cx="572770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problemas acontecem. As equipes reagem.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6540500" y="5894586"/>
            <a:ext cx="5727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PREDITIVO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540500" y="6237486"/>
            <a:ext cx="572770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sinais antecipam os problemas.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2166600" y="5894586"/>
            <a:ext cx="5727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AGÊNTICO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2166600" y="6237486"/>
            <a:ext cx="572770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agentes coordenam e agem progressivamente.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3963210" y="7187109"/>
            <a:ext cx="10361481" cy="1395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4950" b="1" kern="0" spc="-148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Transformando dados em decisões. </a:t>
            </a:r>
            <a:r>
              <a:rPr lang="en-US" sz="4950" b="1" kern="0" spc="-148" dirty="0">
                <a:solidFill>
                  <a:srgbClr val="FFC2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 decisões em ação.</a:t>
            </a:r>
            <a:endParaRPr lang="en-US" sz="4950" dirty="0"/>
          </a:p>
        </p:txBody>
      </p:sp>
      <p:sp>
        <p:nvSpPr>
          <p:cNvPr id="49" name="Text 46"/>
          <p:cNvSpPr/>
          <p:nvPr/>
        </p:nvSpPr>
        <p:spPr>
          <a:xfrm>
            <a:off x="5742310" y="8773418"/>
            <a:ext cx="6803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882"/>
              </a:lnSpc>
              <a:buNone/>
            </a:pPr>
            <a:r>
              <a:rPr lang="en-US" sz="1800" dirty="0">
                <a:solidFill>
                  <a:srgbClr val="8FA4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Gerando valor para clientes, vendedores e para a operação da Olist.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914400" y="9658350"/>
            <a:ext cx="56290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</a:t>
            </a:r>
            <a:endParaRPr lang="en-US" sz="1650" dirty="0"/>
          </a:p>
        </p:txBody>
      </p:sp>
      <p:sp>
        <p:nvSpPr>
          <p:cNvPr id="52" name="Text 49"/>
          <p:cNvSpPr/>
          <p:nvPr/>
        </p:nvSpPr>
        <p:spPr>
          <a:xfrm>
            <a:off x="16288048" y="9658350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12087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</a:t>
            </a:r>
            <a:r>
              <a:rPr lang="en-US" sz="1650" kern="0" spc="264" dirty="0">
                <a:solidFill>
                  <a:srgbClr val="7189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INTELLIGENT MARKETPLACE · FIAP TECH CHALLENGE · IA AGÊNTICA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14809391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5104666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5399941" y="666750"/>
            <a:ext cx="247650" cy="19050"/>
          </a:xfrm>
          <a:prstGeom prst="rect">
            <a:avLst/>
          </a:prstGeom>
          <a:solidFill>
            <a:srgbClr val="3B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780941" y="571500"/>
            <a:ext cx="17519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64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FECHAMENTO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131020"/>
            <a:ext cx="12992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360" dirty="0">
                <a:solidFill>
                  <a:srgbClr val="FFC2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RESUMO EXECUTIVO · CASE OLIST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645371"/>
            <a:ext cx="12165330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00"/>
              </a:lnSpc>
              <a:buNone/>
            </a:pPr>
            <a:r>
              <a:rPr lang="en-US" sz="6600" b="1" kern="0" spc="-23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fricção à </a:t>
            </a:r>
            <a:r>
              <a:rPr lang="en-US" sz="6600" b="1" kern="0" spc="-231" dirty="0">
                <a:solidFill>
                  <a:srgbClr val="4DE1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orquestração</a:t>
            </a:r>
            <a:r>
              <a:rPr lang="en-US" sz="6600" b="1" kern="0" spc="-231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6600" dirty="0"/>
          </a:p>
        </p:txBody>
      </p:sp>
      <p:sp>
        <p:nvSpPr>
          <p:cNvPr id="11" name="Text 8"/>
          <p:cNvSpPr/>
          <p:nvPr/>
        </p:nvSpPr>
        <p:spPr>
          <a:xfrm>
            <a:off x="914400" y="4678958"/>
            <a:ext cx="88296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Cinco agentes especialistas, um Maestro e nove meses de roadmap para levar a operação da Olist de reativa a agêntica.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14400" y="6107708"/>
            <a:ext cx="118110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6456958"/>
            <a:ext cx="393954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108" dirty="0">
                <a:solidFill>
                  <a:srgbClr val="FF5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6818908"/>
            <a:ext cx="3688842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Quatro fricções de negócio sustentadas pelos dados.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0" y="6456958"/>
            <a:ext cx="393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330" dirty="0">
                <a:solidFill>
                  <a:srgbClr val="4DE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029200" y="6799858"/>
            <a:ext cx="3688842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agente para cada fricção, orquestrados pelo Maestro.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44000" y="6456958"/>
            <a:ext cx="39395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800" kern="0" spc="252" dirty="0">
                <a:solidFill>
                  <a:srgbClr val="2FE3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0" y="6818908"/>
            <a:ext cx="3688842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1800" dirty="0">
                <a:solidFill>
                  <a:srgbClr val="A8BC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Autonomia progressiva, com guardrails e humano no loop.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8166497"/>
            <a:ext cx="495300" cy="19050"/>
          </a:xfrm>
          <a:prstGeom prst="rect">
            <a:avLst/>
          </a:prstGeom>
          <a:solidFill>
            <a:srgbClr val="FFC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600200" y="8015089"/>
            <a:ext cx="810740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714"/>
              </a:lnSpc>
              <a:buNone/>
            </a:pPr>
            <a:r>
              <a:rPr lang="en-US" sz="1950" b="1" kern="0" spc="-19" dirty="0">
                <a:solidFill>
                  <a:srgbClr val="F2F6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Próximo passo: Fase A — validar o valor individual de cada agente.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1E2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9658350"/>
            <a:ext cx="7164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— ESTRATÉGIA DE IA AGÊNTICA · FASE 1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288048" y="9658350"/>
            <a:ext cx="11617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1650" b="1" kern="0" spc="231" dirty="0">
                <a:solidFill>
                  <a:srgbClr val="F2F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</a:t>
            </a:r>
            <a:r>
              <a:rPr lang="en-US" sz="1650" kern="0" spc="231" dirty="0">
                <a:solidFill>
                  <a:srgbClr val="5E7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09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1619</Words>
  <Application>Microsoft Office PowerPoint</Application>
  <PresentationFormat>Custom</PresentationFormat>
  <Paragraphs>272</Paragraphs>
  <Slides>9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Archivo</vt:lpstr>
      <vt:lpstr>Arial</vt:lpstr>
      <vt:lpstr>IBM Plex Mono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JORGE LEANDRO PIVA</cp:lastModifiedBy>
  <cp:revision>2</cp:revision>
  <dcterms:created xsi:type="dcterms:W3CDTF">2026-08-27T03:06:49Z</dcterms:created>
  <dcterms:modified xsi:type="dcterms:W3CDTF">2026-08-27T23:19:13Z</dcterms:modified>
</cp:coreProperties>
</file>