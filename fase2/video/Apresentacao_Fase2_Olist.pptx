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b91801dd3b4238" /><Relationship Type="http://schemas.openxmlformats.org/officeDocument/2006/relationships/extended-properties" Target="/docProps/app.xml" Id="R63b941cb6de644c6" /><Relationship Type="http://schemas.openxmlformats.org/officeDocument/2006/relationships/officeDocument" Target="/ppt/presentation.xml" Id="R1d6f1e6560fa4b9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fcb4278b94494e"/>
  </p:sldMasterIdLst>
  <p:notesMasterIdLst>
    <p:notesMasterId xmlns:r="http://schemas.openxmlformats.org/officeDocument/2006/relationships" r:id="Rfe45770d23ba4e51"/>
  </p:notesMasterIdLst>
  <p:sldIdLst>
    <p:sldId xmlns:r="http://schemas.openxmlformats.org/officeDocument/2006/relationships" id="256" r:id="R2ac58a3d029146ba"/>
    <p:sldId xmlns:r="http://schemas.openxmlformats.org/officeDocument/2006/relationships" id="257" r:id="R1e92cc474b824c96"/>
    <p:sldId xmlns:r="http://schemas.openxmlformats.org/officeDocument/2006/relationships" id="258" r:id="R8a65f255d899422e"/>
    <p:sldId xmlns:r="http://schemas.openxmlformats.org/officeDocument/2006/relationships" id="259" r:id="Rc11dc12e0cee495e"/>
    <p:sldId xmlns:r="http://schemas.openxmlformats.org/officeDocument/2006/relationships" id="260" r:id="R59afdcb6ffdf43db"/>
    <p:sldId xmlns:r="http://schemas.openxmlformats.org/officeDocument/2006/relationships" id="261" r:id="R06f0a4829e1e4ffb"/>
    <p:sldId xmlns:r="http://schemas.openxmlformats.org/officeDocument/2006/relationships" id="262" r:id="R88cc54c206414e4b"/>
    <p:sldId xmlns:r="http://schemas.openxmlformats.org/officeDocument/2006/relationships" id="263" r:id="R822a21b353f3498d"/>
    <p:sldId xmlns:r="http://schemas.openxmlformats.org/officeDocument/2006/relationships" id="264" r:id="Re49b215f4e6547eb"/>
    <p:sldId xmlns:r="http://schemas.openxmlformats.org/officeDocument/2006/relationships" id="265" r:id="Rabbcc16bbab1482f"/>
    <p:sldId xmlns:r="http://schemas.openxmlformats.org/officeDocument/2006/relationships" id="266" r:id="R14fba938fdea4a54"/>
    <p:sldId xmlns:r="http://schemas.openxmlformats.org/officeDocument/2006/relationships" id="267" r:id="Rd1ac086c0057450c"/>
  </p:sldIdLst>
  <p:sldSz cx="18288000" cy="10287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a09f60bb704412" /><Relationship Type="http://schemas.openxmlformats.org/officeDocument/2006/relationships/slideMaster" Target="/ppt/slideMasters/slideMaster1.xml" Id="Rf9fcb4278b94494e" /><Relationship Type="http://schemas.openxmlformats.org/officeDocument/2006/relationships/notesMaster" Target="/ppt/notesMasters/notesMaster1.xml" Id="Rfe45770d23ba4e51" /><Relationship Type="http://schemas.openxmlformats.org/officeDocument/2006/relationships/presProps" Target="/ppt/presProps.xml" Id="Rcf33144c23b34cb4" /><Relationship Type="http://schemas.openxmlformats.org/officeDocument/2006/relationships/viewProps" Target="/ppt/viewProps.xml" Id="Rc9204afef35c4b5c" /><Relationship Type="http://schemas.openxmlformats.org/officeDocument/2006/relationships/tableStyles" Target="/ppt/tableStyles.xml" Id="Ra4f366a7a53b435e" /><Relationship Type="http://schemas.openxmlformats.org/officeDocument/2006/relationships/slide" Target="/ppt/slides/slide1.xml" Id="R2ac58a3d029146ba" /><Relationship Type="http://schemas.openxmlformats.org/officeDocument/2006/relationships/slide" Target="/ppt/slides/slide2.xml" Id="R1e92cc474b824c96" /><Relationship Type="http://schemas.openxmlformats.org/officeDocument/2006/relationships/slide" Target="/ppt/slides/slide3.xml" Id="R8a65f255d899422e" /><Relationship Type="http://schemas.openxmlformats.org/officeDocument/2006/relationships/slide" Target="/ppt/slides/slide4.xml" Id="Rc11dc12e0cee495e" /><Relationship Type="http://schemas.openxmlformats.org/officeDocument/2006/relationships/slide" Target="/ppt/slides/slide5.xml" Id="R59afdcb6ffdf43db" /><Relationship Type="http://schemas.openxmlformats.org/officeDocument/2006/relationships/slide" Target="/ppt/slides/slide6.xml" Id="R06f0a4829e1e4ffb" /><Relationship Type="http://schemas.openxmlformats.org/officeDocument/2006/relationships/slide" Target="/ppt/slides/slide7.xml" Id="R88cc54c206414e4b" /><Relationship Type="http://schemas.openxmlformats.org/officeDocument/2006/relationships/slide" Target="/ppt/slides/slide8.xml" Id="R822a21b353f3498d" /><Relationship Type="http://schemas.openxmlformats.org/officeDocument/2006/relationships/slide" Target="/ppt/slides/slide9.xml" Id="Re49b215f4e6547eb" /><Relationship Type="http://schemas.openxmlformats.org/officeDocument/2006/relationships/slide" Target="/ppt/slides/slide10.xml" Id="Rabbcc16bbab1482f" /><Relationship Type="http://schemas.openxmlformats.org/officeDocument/2006/relationships/slide" Target="/ppt/slides/slide11.xml" Id="R14fba938fdea4a54" /><Relationship Type="http://schemas.openxmlformats.org/officeDocument/2006/relationships/slide" Target="/ppt/slides/slide12.xml" Id="Rd1ac086c005745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ecb6aca87945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47d6dba0ab43f8" /><Relationship Type="http://schemas.openxmlformats.org/officeDocument/2006/relationships/notesMaster" Target="/ppt/notesMasters/notesMaster1.xml" Id="R74ba407f9e374b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59eabf0e5e4c93" /><Relationship Type="http://schemas.openxmlformats.org/officeDocument/2006/relationships/notesMaster" Target="/ppt/notesMasters/notesMaster1.xml" Id="R5a740a2e0e494b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cc820c4f724d14" /><Relationship Type="http://schemas.openxmlformats.org/officeDocument/2006/relationships/notesMaster" Target="/ppt/notesMasters/notesMaster1.xml" Id="Re1403884d3ef43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f9b57519e74755" /><Relationship Type="http://schemas.openxmlformats.org/officeDocument/2006/relationships/notesMaster" Target="/ppt/notesMasters/notesMaster1.xml" Id="R496fe55c9a8142b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9105feebb84da8" /><Relationship Type="http://schemas.openxmlformats.org/officeDocument/2006/relationships/notesMaster" Target="/ppt/notesMasters/notesMaster1.xml" Id="R8486f9ceb32745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62f162100749bc" /><Relationship Type="http://schemas.openxmlformats.org/officeDocument/2006/relationships/notesMaster" Target="/ppt/notesMasters/notesMaster1.xml" Id="R2808483e888f45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0dbdca47af495b" /><Relationship Type="http://schemas.openxmlformats.org/officeDocument/2006/relationships/notesMaster" Target="/ppt/notesMasters/notesMaster1.xml" Id="Rf9f7f94ed6e14d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782db9c6a9e4d80" /><Relationship Type="http://schemas.openxmlformats.org/officeDocument/2006/relationships/notesMaster" Target="/ppt/notesMasters/notesMaster1.xml" Id="R2c53da536e144d6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ba5538058e4fcb" /><Relationship Type="http://schemas.openxmlformats.org/officeDocument/2006/relationships/notesMaster" Target="/ppt/notesMasters/notesMaster1.xml" Id="R716b9c72b2d2462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da64afd8234325" /><Relationship Type="http://schemas.openxmlformats.org/officeDocument/2006/relationships/notesMaster" Target="/ppt/notesMasters/notesMaster1.xml" Id="R13aa878b42bb4b8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768fd3819bf4dd0" /><Relationship Type="http://schemas.openxmlformats.org/officeDocument/2006/relationships/notesMaster" Target="/ppt/notesMasters/notesMaster1.xml" Id="R6ec9ed59ad414c1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71d7e5c40040b4" /><Relationship Type="http://schemas.openxmlformats.org/officeDocument/2006/relationships/notesMaster" Target="/ppt/notesMasters/notesMaster1.xml" Id="R65d3a5f4ba184f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 · Slide 1 · Abertura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Olá, pessoal! Nós somos o grupo responsável pelo projeto Olist Intelligent Marketplace e, neste vídeo, vamos apresentar a evolução do nosso trabalho para a segunda fase do Tech Challenge.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 primeira etapa, analisamos os dados da Olist e identificamos algumas oportunidades importantes para o uso de inteligência artificial. Agora, nosso desafio é mostrar como essas oportunidades podem se transformar em soluções práticas para o negócio.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 · Slide 2 · Nossa recomendação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 a nossa proposta é começar de forma bem objetiva: com dois agentes, o LogiPredict e o SentimentDesk, em um piloto controlado de 90 dias.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ideia é testar essas soluções em rotas selecionadas do Nordeste, comparar os resultados com um grupo de controle e manter a supervisão humana nas decisões mais sensíveis.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 · Slide 3 · Evolução da Fase 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Para chegar até aqui, partimos das seis oportunidades identificadas na primeira fase e priorizamos três agentes.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Mais do que definir o que cada um faz, detalhamos quais dados utilizam, como tomam decisões, quando devem agir e quais são seus limites.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Ou seja, saímos de um mapa de oportunidades para uma proposta que pode ser testada e medida.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JORGE · Slide 4 · Evidências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Mas por que começar justamente por esses agentes?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Quando olhamos os dados históricos da Olist, encontramos alguns sinais importantes.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Cerca de 8% das entregas chegaram atrasadas. E, entre esses pedidos, mais da metade recebeu avaliações negativas, contra apenas 9% dos pedidos entregues no prazo.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Outro ponto interessante é que aproximadamente 27% dos atrasos estão associados à postagem tardia dos vendedores.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Esses números não provam uma relação de causa e efeito, mas mostram onde temos oportunidades relevantes de intervenção.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JORGE · Slide 5 · Priorização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Com essas evidências, avaliamos os seis agentes considerando impacto, proximidade com o negócio, qualidade das evidências, viabilidade e risco.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 três se destacaram: o LogiPredict, que atua antes da entrega; o SentimentDesk, que entra na etapa de avaliação; e o WinBack, que busca estimular uma segunda compra.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São agentes diferentes, mas que trabalham em momentos complementares da mesma jornada.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JORGE · Slide 6 · Responsabilidades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 aqui existe um ponto importante: não estamos falando de chatbots que simplesmente respondem perguntas.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Cada agente tem uma missão específica, utiliza informações para tomar decisões e possui limites claros de atuação.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Quando existe algum risco maior, como uma compensação financeira ou uma decisão operacional sensível, a responsabilidade continua sendo humana.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CAIO · Slide 7 · Funcionamento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 prática, como isso funciona?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Os agentes seguem uma sequência de eventos, análise e decisão.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LogiPredict acompanha os principais marcos da entrega, identifica possíveis atrasos e pode acionar a operação antes que o problema aconteça.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SentimentDesk analisa as avaliações considerando não apenas o texto, mas também os dados do pedido.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Já o WinBack verifica se o cliente está elegível para uma nova abordagem, respeitando consentimento, prazo e eventuais problemas ainda não resolvidos.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Tudo isso com regras claras sobre o que pode ser automatizado e o que precisa passar por uma pessoa.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CAIO · Slide 8 · Caso real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Para ilustrar, usamos um pedido real do dataset, enviado de Minas Gerais para o Maranhão.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Nesse caso, o vendedor postou o produto quatro dias depois do limite, a entrega aconteceu dez dias após o prazo e o cliente deu nota um.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Com o LogiPredict, seria possível identificar antecipadamente alguns sinais de risco. Depois, o SentimentDesk poderia tratar a avaliação, enquanto o WinBack evitaria uma oferta comercial antes da resolução do problema.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É importante lembrar que essas intervenções são simulações. O que estamos mostrando é como os agentes poderiam atuar.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CAIO · Slide 9 · Exemplo do SentimentDesk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Outro exemplo interessante é uma avaliação em que o cliente diz: “Só chegou a mochila, estou aguardando a lancheira”.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Uma análise superficial poderia interpretar que o pedido inteiro não foi entregue.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Mas, ao cruzar a mensagem com os dados do pedido, o SentimentDesk deve identificar que existe um item faltante e encaminhar o caso para o responsável.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É esse contexto que permite uma decisão mais adequada.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LUCAS · Slide 10 · Impacto esperado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cenário base anual, estimamos 672 atrasos evitados, 302 avaliações negativas a menos e cerca de 1.230 horas de triagem liberadas. Na expansão futura, o WinBack poderia gerar 358 segundas compras adicionais.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São projeções sobre a amostra histórica, não resultados comprovados nem metas para os 90 dias. Horas liberadas representam capacidade operacional; compras adicionais representam receita bruta, não lucro.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LUCAS · Slide 11 · Próximos passos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piloto de 90 dias começa com LogiPredict e SentimentDesk. Vamos comparar qualidade, segurança e benefício incremental com o controle, além da viabilidade econômica. Os resultados orientarão escalar, ajustar ou encerrar.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 Fase 3 acadêmica, desenvolveremos os protótipos low-code para testar esse funcionamento.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LUCAS · Slide 12 · Encerramento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Queremos agentes com objetivos claros, decisões responsáveis e impacto mensurável. O próximo passo é validar. Muito obrigado!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5d34080c0f4ffa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6206589f7d4060" /><Relationship Type="http://schemas.openxmlformats.org/officeDocument/2006/relationships/slideLayout" Target="/ppt/slideLayouts/slideLayout1.xml" Id="R5598be03695f464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98be03695f464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26bcf01b74125" /><Relationship Type="http://schemas.openxmlformats.org/officeDocument/2006/relationships/notesSlide" Target="/ppt/notesSlides/notesSlide1.xml" Id="R1aa0aaee32ed4d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d5b3786fe44759" /><Relationship Type="http://schemas.openxmlformats.org/officeDocument/2006/relationships/notesSlide" Target="/ppt/notesSlides/notesSlide2.xml" Id="R5d862f8c0f3743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91660ba094f88" /><Relationship Type="http://schemas.openxmlformats.org/officeDocument/2006/relationships/notesSlide" Target="/ppt/notesSlides/notesSlide3.xml" Id="R6b13df5e71c948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a50498b954a02" /><Relationship Type="http://schemas.openxmlformats.org/officeDocument/2006/relationships/notesSlide" Target="/ppt/notesSlides/notesSlide4.xml" Id="Rbe1c8e4aec1d48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bc29a1f7e1402e" /><Relationship Type="http://schemas.openxmlformats.org/officeDocument/2006/relationships/notesSlide" Target="/ppt/notesSlides/notesSlide5.xml" Id="R1c596e5ea5804a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ad5421c6e740df" /><Relationship Type="http://schemas.openxmlformats.org/officeDocument/2006/relationships/notesSlide" Target="/ppt/notesSlides/notesSlide6.xml" Id="R59957939a92f45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33a027d57456c" /><Relationship Type="http://schemas.openxmlformats.org/officeDocument/2006/relationships/notesSlide" Target="/ppt/notesSlides/notesSlide7.xml" Id="R4014f528c8cd4e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38dd5f38f9463a" /><Relationship Type="http://schemas.openxmlformats.org/officeDocument/2006/relationships/notesSlide" Target="/ppt/notesSlides/notesSlide8.xml" Id="R5520ffda8bb142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dbadcc466485d" /><Relationship Type="http://schemas.openxmlformats.org/officeDocument/2006/relationships/notesSlide" Target="/ppt/notesSlides/notesSlide9.xml" Id="Rb6cb2a59a232492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bf67686b64b19" /><Relationship Type="http://schemas.openxmlformats.org/officeDocument/2006/relationships/notesSlide" Target="/ppt/notesSlides/notesSlide10.xml" Id="R8deabe2c497e43a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9a710c86b4a1b" /><Relationship Type="http://schemas.openxmlformats.org/officeDocument/2006/relationships/notesSlide" Target="/ppt/notesSlides/notesSlide11.xml" Id="Ra255dec90de84da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33fa9d656f4711" /><Relationship Type="http://schemas.openxmlformats.org/officeDocument/2006/relationships/notesSlide" Target="/ppt/notesSlides/notesSlide12.xml" Id="Rdbae8bb61ff442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1E51C6A-26AE-4C80-B5C4-BA27E2CF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6263"/>
            <a:ext cx="5129828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FIAP · TECH CHALLENGE · FASE 2</a:t>
            </a:r>
            <a:endParaRPr sz="18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AC368D3-5A32-4ADA-BF34-DBA2C172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298" y="890587"/>
            <a:ext cx="1399084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7BAFC0F-198D-4678-A641-25758B61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318" y="535019"/>
            <a:ext cx="1703927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DESCOBRIR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3CE5C0-8671-46D9-9EEF-A7363D073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50" y="533400"/>
            <a:ext cx="1548384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DESENHAR</a:t>
            </a:r>
            <a:endParaRPr sz="1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54EA31-F56F-4A19-9886-89F078F4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9029" y="533400"/>
            <a:ext cx="1393031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ESCALAR</a:t>
            </a:r>
            <a:endParaRPr sz="1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C8B17C3-757B-4CE3-AB5A-1A745525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8221" y="533400"/>
            <a:ext cx="85348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01/12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C176914-C92F-4D72-8F0B-8958DD70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90750"/>
            <a:ext cx="4938395" cy="16138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68933"/>
              </a:lnSpc>
              <a:buNone/>
            </a:pPr>
            <a:r>
              <a:rPr sz="13200" b="1" spc="-462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FROM</a:t>
            </a:r>
            <a:endParaRPr sz="13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D51D344-F8EB-4CF1-8BF4-869A7DB04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190750"/>
            <a:ext cx="7066419" cy="16138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68933"/>
              </a:lnSpc>
              <a:buNone/>
            </a:pPr>
            <a:r>
              <a:rPr sz="13200" b="1" spc="-462">
                <a:solidFill>
                  <a:srgbClr val="F0B547"/>
                </a:solidFill>
                <a:latin typeface="Manrope"/>
                <a:ea typeface="Manrope"/>
                <a:cs typeface="Manrope"/>
              </a:rPr>
              <a:t>INSIGHT</a:t>
            </a:r>
            <a:endParaRPr sz="13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014C443-AC00-49F5-A9FF-835F97B3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66542"/>
            <a:ext cx="2393672" cy="16138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68933"/>
              </a:lnSpc>
              <a:buNone/>
            </a:pPr>
            <a:r>
              <a:rPr sz="13200" b="1" spc="-462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TO</a:t>
            </a:r>
            <a:endParaRPr sz="13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8227810-624A-4A83-85FC-1A79B510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666" y="3766542"/>
            <a:ext cx="6574086" cy="16138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68933"/>
              </a:lnSpc>
              <a:buNone/>
            </a:pPr>
            <a:r>
              <a:rPr sz="13200" b="1" spc="-462">
                <a:solidFill>
                  <a:srgbClr val="3CCFB4"/>
                </a:solidFill>
                <a:latin typeface="Manrope"/>
                <a:ea typeface="Manrope"/>
                <a:cs typeface="Manrope"/>
              </a:rPr>
              <a:t>IMPACT</a:t>
            </a:r>
            <a:endParaRPr sz="13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A827AB2-8C16-4124-9707-5B3A7B9B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61434"/>
            <a:ext cx="14650929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1463"/>
              </a:lnSpc>
              <a:buNone/>
            </a:pPr>
            <a:r>
              <a:rPr sz="30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Olist Intelligent Marketplace | Agentes de IA aplicados à jornada do pedido</a:t>
            </a:r>
            <a:endParaRPr sz="3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9CB72E4-BD60-43A8-9F02-8DAA4A01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371034"/>
            <a:ext cx="14650929" cy="449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9692"/>
              </a:lnSpc>
              <a:buNone/>
            </a:pPr>
            <a:r>
              <a:rPr sz="24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Da identificação dos problemas ao desenho de agentes capazes de atuar sobre eles.</a:t>
            </a:r>
            <a:endParaRPr sz="24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EA3CC73-A810-4894-A0EA-4BA5F1F55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382000"/>
            <a:ext cx="1638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D1B8E9D-55F5-4080-AE5E-7139C3D6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7810500"/>
            <a:ext cx="19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EDDAFC4-C570-4B68-8B10-81F20994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7810500"/>
            <a:ext cx="19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2C78CA38-DAB9-4C58-82D2-CDF1E0E2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7810500"/>
            <a:ext cx="19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22F4009-2E10-4CF4-983E-DB7131E8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77152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AFF69FA-072C-47F9-A874-6460B32C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77152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EDDE050-D375-4BAA-B9E6-5B108E7D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2375" y="77152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C87942A-0FA5-46C2-9924-FBE5DAE6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8324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55C3627-C23C-4278-A1C8-21D46C75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8324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0031090-50FE-411F-8293-6C279F9F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8324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0F0A57E0-FCA3-437B-A4B4-66B9CDDB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73075" y="8324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85E647A-F266-483B-8A1C-43F275C7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8825" y="8324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F09C28A-7405-445A-8449-3DDA4F65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648700"/>
            <a:ext cx="1008955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8756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COMPRA</a:t>
            </a:r>
            <a:endParaRPr sz="18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334A751-859C-495F-A41D-515422E5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6446" y="8648700"/>
            <a:ext cx="1367969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257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POSTAGEM</a:t>
            </a:r>
            <a:endParaRPr sz="18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7D81B7B-019E-4853-89FC-1499EEAC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9884" y="8648700"/>
            <a:ext cx="1164431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172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ENTREGA</a:t>
            </a:r>
            <a:endParaRPr sz="18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B42D46C0-E1F8-4369-82F0-8378B44A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0209" y="8648700"/>
            <a:ext cx="1538992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AVALIAÇÃO</a:t>
            </a:r>
            <a:endParaRPr sz="18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4B690FA-4CF5-45CB-988E-5F9F1B26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892" y="8648700"/>
            <a:ext cx="1367969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095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RECOMPRA</a:t>
            </a:r>
            <a:endParaRPr sz="18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DED7A02-81AC-400D-B350-239CA27E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556750"/>
            <a:ext cx="13018731" cy="349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Manrope"/>
                <a:ea typeface="Manrope"/>
                <a:cs typeface="Manrope"/>
              </a:rPr>
              <a:t>Leonardo Granjeiro · Jorge Leandro Piva · Caio Sousa · Lucas Vinicius Oliveira Mendes — Pós-graduação em IA, FIAP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9065938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8A9180B-B2DC-418D-85BC-C04AB445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6263"/>
            <a:ext cx="5129828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OLIST · FROM INSIGHT TO IMPACT</a:t>
            </a:r>
            <a:endParaRPr sz="18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7EEA383-6671-482F-B390-CA2D9D7F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298" y="890587"/>
            <a:ext cx="1399084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717FC44-759D-4AC9-A94D-AEDBB846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318" y="535019"/>
            <a:ext cx="1703927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DESCOBRIR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6C5B29B-47BD-4E0D-99B4-C9E228A7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50" y="533400"/>
            <a:ext cx="1548384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DESENHAR</a:t>
            </a:r>
            <a:endParaRPr sz="1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BDA92EC-6977-4D86-922C-7BB11B72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9029" y="533400"/>
            <a:ext cx="1393031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ESCALAR</a:t>
            </a:r>
            <a:endParaRPr sz="1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1C1C9C7-B3AB-4708-841D-1031BB5A5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8221" y="533400"/>
            <a:ext cx="85348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02/12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D9A71B-8E7B-4759-9ECB-7E1294810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28750"/>
            <a:ext cx="1638300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F0B547"/>
                </a:solidFill>
                <a:latin typeface="IBM Plex Mono"/>
                <a:ea typeface="IBM Plex Mono"/>
                <a:cs typeface="IBM Plex Mono"/>
              </a:rPr>
              <a:t>A DECISÃO SOLICITADA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DC5BDEF-B4C6-452D-9BE1-2B0A7EED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98650"/>
            <a:ext cx="14716125" cy="1318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1951"/>
              </a:lnSpc>
              <a:buNone/>
            </a:pPr>
            <a:r>
              <a:rPr sz="4500" b="1" spc="-9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Nossa recomendação: validar dois agentes em 90 dias.</a:t>
            </a:r>
            <a:endParaRPr sz="45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27F81F9-C879-41E9-A42F-10BFB5E7E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12171"/>
            <a:ext cx="6496050" cy="3162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60000"/>
              </a:lnSpc>
              <a:buNone/>
            </a:pPr>
            <a:r>
              <a:rPr sz="30000" b="1" spc="-1500">
                <a:solidFill>
                  <a:srgbClr val="3CCFB4"/>
                </a:solidFill>
                <a:latin typeface="Manrope"/>
                <a:ea typeface="Manrope"/>
                <a:cs typeface="Manrope"/>
              </a:rPr>
              <a:t>90</a:t>
            </a:r>
            <a:endParaRPr sz="30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C01F7FF-E48F-4DAE-838E-9DE3AD2D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22121"/>
            <a:ext cx="6496050" cy="387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spc="252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DIAS DE PILOTO CONTROLADO</a:t>
            </a:r>
            <a:endParaRPr sz="21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0B62E9C-5268-442F-8089-D742F8CB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83621"/>
            <a:ext cx="337179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500" b="1" spc="-90">
                <a:solidFill>
                  <a:srgbClr val="8E7CFF"/>
                </a:solidFill>
                <a:latin typeface="Manrope"/>
                <a:ea typeface="Manrope"/>
                <a:cs typeface="Manrope"/>
              </a:rPr>
              <a:t>LogiPredict</a:t>
            </a:r>
            <a:endParaRPr sz="4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4CB138C-5886-45C9-A423-C24041CA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1964" y="3966170"/>
            <a:ext cx="361752" cy="711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900">
                <a:solidFill>
                  <a:srgbClr val="7C8299"/>
                </a:solidFill>
                <a:latin typeface="Manrope"/>
                <a:ea typeface="Manrope"/>
                <a:cs typeface="Manrope"/>
              </a:rPr>
              <a:t>+</a:t>
            </a:r>
            <a:endParaRPr sz="39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F454721-7F63-40B7-BBFD-74CF704A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4216" y="3883621"/>
            <a:ext cx="4552583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500" b="1" spc="-90">
                <a:solidFill>
                  <a:srgbClr val="8E7CFF"/>
                </a:solidFill>
                <a:latin typeface="Manrope"/>
                <a:ea typeface="Manrope"/>
                <a:cs typeface="Manrope"/>
              </a:rPr>
              <a:t>SentimentDesk</a:t>
            </a:r>
            <a:endParaRPr sz="45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032E5BE-036A-4F9C-A0B8-DFC8E2CF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36121"/>
            <a:ext cx="971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37F8597-38AD-43E2-9B87-2B4910EE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26621"/>
            <a:ext cx="10006965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984"/>
              </a:lnSpc>
              <a:buNone/>
            </a:pPr>
            <a:r>
              <a:rPr sz="225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Prevenção de atrasos antes da entrega e triagem das avaliações negativas depois dela: dois elos da mesma jornada.</a:t>
            </a:r>
            <a:endParaRPr sz="22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EBC248C-4FC5-4601-A633-26B53991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328371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F9BE0DE-5CF2-4B3A-95F1-C94574D7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6179146"/>
            <a:ext cx="4993729" cy="450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Rotas selecionadas do Nordeste</a:t>
            </a:r>
            <a:endParaRPr sz="24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2D029E9-A04E-47C0-901A-A99859EB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893521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730491E-DA97-459A-A609-FBEFB010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6744295"/>
            <a:ext cx="4630946" cy="450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Grupo de controle comparável</a:t>
            </a:r>
            <a:endParaRPr sz="2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0624804-0172-4FBA-AD36-679BC040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45867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142DC32-A639-45EE-BC62-EB25E88E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7309446"/>
            <a:ext cx="10055453" cy="450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Supervisão humana e avaliação técnica, operacional e econômica</a:t>
            </a:r>
            <a:endParaRPr sz="24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4CF04C44-ADBD-4286-AC18-F889BC1F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166100"/>
            <a:ext cx="1638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C2C46F82-EBFF-40CC-9D09-BD4ECBA7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394700"/>
            <a:ext cx="859155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PILOTO AGORA</a:t>
            </a:r>
            <a:endParaRPr sz="1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B657FA8-75BB-4646-8DBC-43EDEF59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769350"/>
            <a:ext cx="859155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Prevenção de atrasos e triagem de avaliações.</a:t>
            </a:r>
            <a:endParaRPr sz="21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3C8EE5A-4D59-4E51-ADBB-CB799F25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8185150"/>
            <a:ext cx="190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88110CA-6AF9-4982-8A16-104FC64E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8394700"/>
            <a:ext cx="8570595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EXPANSÃO FUTURA · CONDICIONADA</a:t>
            </a:r>
            <a:endParaRPr sz="18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8719C076-3171-46DE-A01B-9AD612B3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8769350"/>
            <a:ext cx="8570595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Conversão em segunda compra com WinBack.</a:t>
            </a:r>
            <a:endParaRPr sz="21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0279A0E-C8B8-4D26-89A0-0E6487E6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309100"/>
            <a:ext cx="16383000" cy="349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Manrope"/>
                <a:ea typeface="Manrope"/>
                <a:cs typeface="Manrope"/>
              </a:rPr>
              <a:t>Rotas finais sujeitas à confirmação de volume elegível e viabilidade operacional.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14600521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BC00AA52-0897-4648-945E-B5299FAC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6263"/>
            <a:ext cx="5129828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OLIST · FROM INSIGHT TO IMPACT</a:t>
            </a:r>
            <a:endParaRPr sz="1800"/>
          </a:p>
        </p:txBody>
      </p:sp>
      <p:sp>
        <p:nvSpPr>
          <p:cNvPr id="3" name="Shape 3">
            <a:extLst xmlns:a="http://schemas.openxmlformats.org/drawingml/2006/main">
              <a:ext uri="{FF2B5EF4-FFF2-40B4-BE49-F238E27FC236}">
                <a16:creationId xmlns:a16="http://schemas.microsoft.com/office/drawing/2014/main" id="{41766D89-0874-483C-8E40-286779D0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298" y="890587"/>
            <a:ext cx="1399084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4">
            <a:extLst xmlns:a="http://schemas.openxmlformats.org/drawingml/2006/main">
              <a:ext uri="{FF2B5EF4-FFF2-40B4-BE49-F238E27FC236}">
                <a16:creationId xmlns:a16="http://schemas.microsoft.com/office/drawing/2014/main" id="{8503CFD2-909A-4A8C-B672-F3328338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318" y="535019"/>
            <a:ext cx="1703927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DESCOBRIR</a:t>
            </a:r>
            <a:endParaRPr sz="1800"/>
          </a:p>
        </p:txBody>
      </p:sp>
      <p:sp>
        <p:nvSpPr>
          <p:cNvPr id="5" name="Text 5">
            <a:extLst xmlns:a="http://schemas.openxmlformats.org/drawingml/2006/main">
              <a:ext uri="{FF2B5EF4-FFF2-40B4-BE49-F238E27FC236}">
                <a16:creationId xmlns:a16="http://schemas.microsoft.com/office/drawing/2014/main" id="{4A3A9EF4-DDD1-4664-A0C4-78A0FFEB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50" y="533400"/>
            <a:ext cx="1548384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DESENHAR</a:t>
            </a:r>
            <a:endParaRPr sz="1800"/>
          </a:p>
        </p:txBody>
      </p:sp>
      <p:sp>
        <p:nvSpPr>
          <p:cNvPr id="6" name="Text 6">
            <a:extLst xmlns:a="http://schemas.openxmlformats.org/drawingml/2006/main">
              <a:ext uri="{FF2B5EF4-FFF2-40B4-BE49-F238E27FC236}">
                <a16:creationId xmlns:a16="http://schemas.microsoft.com/office/drawing/2014/main" id="{C58E4757-8488-413A-AA35-BC61F18C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9029" y="533400"/>
            <a:ext cx="1393031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ESCALAR</a:t>
            </a:r>
            <a:endParaRPr sz="1800"/>
          </a:p>
        </p:txBody>
      </p:sp>
      <p:sp>
        <p:nvSpPr>
          <p:cNvPr id="7" name="Text 7">
            <a:extLst xmlns:a="http://schemas.openxmlformats.org/drawingml/2006/main">
              <a:ext uri="{FF2B5EF4-FFF2-40B4-BE49-F238E27FC236}">
                <a16:creationId xmlns:a16="http://schemas.microsoft.com/office/drawing/2014/main" id="{7344CD1E-0900-4FA4-84C8-03BB0D69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8221" y="533400"/>
            <a:ext cx="85348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03/12</a:t>
            </a:r>
            <a:endParaRPr sz="1800"/>
          </a:p>
        </p:txBody>
      </p:sp>
      <p:sp>
        <p:nvSpPr>
          <p:cNvPr id="8" name="Text 8">
            <a:extLst xmlns:a="http://schemas.openxmlformats.org/drawingml/2006/main">
              <a:ext uri="{FF2B5EF4-FFF2-40B4-BE49-F238E27FC236}">
                <a16:creationId xmlns:a16="http://schemas.microsoft.com/office/drawing/2014/main" id="{A3F8B912-AB36-41F6-B2AD-222C1827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28750"/>
            <a:ext cx="1638300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F0B547"/>
                </a:solidFill>
                <a:latin typeface="IBM Plex Mono"/>
                <a:ea typeface="IBM Plex Mono"/>
                <a:cs typeface="IBM Plex Mono"/>
              </a:rPr>
              <a:t>DA FASE 1 PARA A FASE 2</a:t>
            </a:r>
            <a:endParaRPr sz="1800"/>
          </a:p>
        </p:txBody>
      </p:sp>
      <p:sp>
        <p:nvSpPr>
          <p:cNvPr id="9" name="Text 9">
            <a:extLst xmlns:a="http://schemas.openxmlformats.org/drawingml/2006/main">
              <a:ext uri="{FF2B5EF4-FFF2-40B4-BE49-F238E27FC236}">
                <a16:creationId xmlns:a16="http://schemas.microsoft.com/office/drawing/2014/main" id="{D6EB8C34-3999-4684-8215-A3D0E923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98650"/>
            <a:ext cx="13735050" cy="1318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1951"/>
              </a:lnSpc>
              <a:buNone/>
            </a:pPr>
            <a:r>
              <a:rPr sz="4500" b="1" spc="-9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De seis oportunidades a três agentes com decisões definidas.</a:t>
            </a:r>
            <a:endParaRPr sz="4500"/>
          </a:p>
        </p:txBody>
      </p:sp>
      <p:sp>
        <p:nvSpPr>
          <p:cNvPr id="10" name="Text 10">
            <a:extLst xmlns:a="http://schemas.openxmlformats.org/drawingml/2006/main">
              <a:ext uri="{FF2B5EF4-FFF2-40B4-BE49-F238E27FC236}">
                <a16:creationId xmlns:a16="http://schemas.microsoft.com/office/drawing/2014/main" id="{5FFE6503-1B60-47CF-B38A-B9766653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6712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F0B547"/>
                </a:solidFill>
                <a:latin typeface="IBM Plex Mono"/>
                <a:ea typeface="IBM Plex Mono"/>
                <a:cs typeface="IBM Plex Mono"/>
              </a:rPr>
              <a:t>FASE 1 · IDENTIFICAR</a:t>
            </a:r>
            <a:endParaRPr sz="1800"/>
          </a:p>
        </p:txBody>
      </p:sp>
      <p:sp>
        <p:nvSpPr>
          <p:cNvPr id="11" name="Text 11">
            <a:extLst xmlns:a="http://schemas.openxmlformats.org/drawingml/2006/main">
              <a:ext uri="{FF2B5EF4-FFF2-40B4-BE49-F238E27FC236}">
                <a16:creationId xmlns:a16="http://schemas.microsoft.com/office/drawing/2014/main" id="{77CA64BE-2A39-4CA2-88DB-3BC3EA28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Seis oportunidades de IA · diagnóstico das fricções da jornada · proposta conceitual</a:t>
            </a:r>
            <a:endParaRPr sz="2100"/>
          </a:p>
        </p:txBody>
      </p:sp>
      <p:sp>
        <p:nvSpPr>
          <p:cNvPr id="12" name="Text 12">
            <a:extLst xmlns:a="http://schemas.openxmlformats.org/drawingml/2006/main">
              <a:ext uri="{FF2B5EF4-FFF2-40B4-BE49-F238E27FC236}">
                <a16:creationId xmlns:a16="http://schemas.microsoft.com/office/drawing/2014/main" id="{5DCDECB8-8395-44DD-825D-94B3BE29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67125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FASE 2 · OPERACIONALIZAR</a:t>
            </a:r>
            <a:endParaRPr sz="1800"/>
          </a:p>
        </p:txBody>
      </p:sp>
      <p:sp>
        <p:nvSpPr>
          <p:cNvPr id="13" name="Text 13">
            <a:extLst xmlns:a="http://schemas.openxmlformats.org/drawingml/2006/main">
              <a:ext uri="{FF2B5EF4-FFF2-40B4-BE49-F238E27FC236}">
                <a16:creationId xmlns:a16="http://schemas.microsoft.com/office/drawing/2014/main" id="{3BED7747-D60F-4822-BFA5-E3CA1401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076700"/>
            <a:ext cx="666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Três agentes priorizados · jornadas e decisões detalhadas · limites de autonomia · indicadores e validação</a:t>
            </a:r>
            <a:endParaRPr sz="2100"/>
          </a:p>
        </p:txBody>
      </p:sp>
      <p:sp>
        <p:nvSpPr>
          <p:cNvPr id="14" name="Text 14">
            <a:extLst xmlns:a="http://schemas.openxmlformats.org/drawingml/2006/main">
              <a:ext uri="{FF2B5EF4-FFF2-40B4-BE49-F238E27FC236}">
                <a16:creationId xmlns:a16="http://schemas.microsoft.com/office/drawing/2014/main" id="{BA4807A5-28F4-42FA-A71D-235EBAB6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219700"/>
            <a:ext cx="533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8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PRIORIZAÇÃO PONDERADA</a:t>
            </a:r>
            <a:endParaRPr sz="1800"/>
          </a:p>
        </p:txBody>
      </p:sp>
      <p:sp>
        <p:nvSpPr>
          <p:cNvPr id="15" name="Text 15">
            <a:extLst xmlns:a="http://schemas.openxmlformats.org/drawingml/2006/main">
              <a:ext uri="{FF2B5EF4-FFF2-40B4-BE49-F238E27FC236}">
                <a16:creationId xmlns:a16="http://schemas.microsoft.com/office/drawing/2014/main" id="{0F88FC7C-47A9-4039-B267-FEEC520F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86425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LogiPredict</a:t>
            </a:r>
            <a:endParaRPr sz="2400"/>
          </a:p>
        </p:txBody>
      </p:sp>
      <p:sp>
        <p:nvSpPr>
          <p:cNvPr id="16" name="Shape 16">
            <a:extLst xmlns:a="http://schemas.openxmlformats.org/drawingml/2006/main">
              <a:ext uri="{FF2B5EF4-FFF2-40B4-BE49-F238E27FC236}">
                <a16:creationId xmlns:a16="http://schemas.microsoft.com/office/drawing/2014/main" id="{E1E045DE-6031-4EBA-B276-920908D9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829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Shape 17">
            <a:extLst xmlns:a="http://schemas.openxmlformats.org/drawingml/2006/main">
              <a:ext uri="{FF2B5EF4-FFF2-40B4-BE49-F238E27FC236}">
                <a16:creationId xmlns:a16="http://schemas.microsoft.com/office/drawing/2014/main" id="{5D76F081-1338-4495-A79D-8CFCAF5E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891213"/>
            <a:ext cx="590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8">
            <a:extLst xmlns:a="http://schemas.openxmlformats.org/drawingml/2006/main">
              <a:ext uri="{FF2B5EF4-FFF2-40B4-BE49-F238E27FC236}">
                <a16:creationId xmlns:a16="http://schemas.microsoft.com/office/drawing/2014/main" id="{94AE99C4-3CD9-4F92-AD29-171AE11E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219825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SentimentDesk</a:t>
            </a:r>
            <a:endParaRPr sz="2400"/>
          </a:p>
        </p:txBody>
      </p:sp>
      <p:sp>
        <p:nvSpPr>
          <p:cNvPr id="19" name="Shape 19">
            <a:extLst xmlns:a="http://schemas.openxmlformats.org/drawingml/2006/main">
              <a:ext uri="{FF2B5EF4-FFF2-40B4-BE49-F238E27FC236}">
                <a16:creationId xmlns:a16="http://schemas.microsoft.com/office/drawing/2014/main" id="{C831064D-2866-42DE-B3C5-82CB9940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63627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20">
            <a:extLst xmlns:a="http://schemas.openxmlformats.org/drawingml/2006/main">
              <a:ext uri="{FF2B5EF4-FFF2-40B4-BE49-F238E27FC236}">
                <a16:creationId xmlns:a16="http://schemas.microsoft.com/office/drawing/2014/main" id="{E69F2A03-5CEB-4FE9-A6D2-A55B1AA6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424613"/>
            <a:ext cx="590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Text 21">
            <a:extLst xmlns:a="http://schemas.openxmlformats.org/drawingml/2006/main">
              <a:ext uri="{FF2B5EF4-FFF2-40B4-BE49-F238E27FC236}">
                <a16:creationId xmlns:a16="http://schemas.microsoft.com/office/drawing/2014/main" id="{D36074D3-370C-4314-9BB3-276B4623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753225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WinBack</a:t>
            </a:r>
            <a:endParaRPr sz="2400"/>
          </a:p>
        </p:txBody>
      </p:sp>
      <p:sp>
        <p:nvSpPr>
          <p:cNvPr id="22" name="Shape 22">
            <a:extLst xmlns:a="http://schemas.openxmlformats.org/drawingml/2006/main">
              <a:ext uri="{FF2B5EF4-FFF2-40B4-BE49-F238E27FC236}">
                <a16:creationId xmlns:a16="http://schemas.microsoft.com/office/drawing/2014/main" id="{7618D693-9BC9-40C2-A805-F6C99B523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68961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Shape 23">
            <a:extLst xmlns:a="http://schemas.openxmlformats.org/drawingml/2006/main">
              <a:ext uri="{FF2B5EF4-FFF2-40B4-BE49-F238E27FC236}">
                <a16:creationId xmlns:a16="http://schemas.microsoft.com/office/drawing/2014/main" id="{3A0E01FF-487B-45FF-A542-CE9BC076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958013"/>
            <a:ext cx="590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4">
            <a:extLst xmlns:a="http://schemas.openxmlformats.org/drawingml/2006/main">
              <a:ext uri="{FF2B5EF4-FFF2-40B4-BE49-F238E27FC236}">
                <a16:creationId xmlns:a16="http://schemas.microsoft.com/office/drawing/2014/main" id="{950EEB14-5978-470F-A792-6251DADA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286625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>
                <a:solidFill>
                  <a:srgbClr val="7C8299"/>
                </a:solidFill>
                <a:latin typeface="Manrope"/>
                <a:ea typeface="Manrope"/>
                <a:cs typeface="Manrope"/>
              </a:rPr>
              <a:t>SellerCare</a:t>
            </a:r>
            <a:endParaRPr sz="2400"/>
          </a:p>
        </p:txBody>
      </p:sp>
      <p:sp>
        <p:nvSpPr>
          <p:cNvPr id="25" name="Shape 25">
            <a:extLst xmlns:a="http://schemas.openxmlformats.org/drawingml/2006/main">
              <a:ext uri="{FF2B5EF4-FFF2-40B4-BE49-F238E27FC236}">
                <a16:creationId xmlns:a16="http://schemas.microsoft.com/office/drawing/2014/main" id="{007D1E44-063B-4341-8BA6-EC4EA344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7439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D1A"/>
          </a:solidFill>
          <a:ln xmlns:a="http://schemas.openxmlformats.org/drawingml/2006/main" w="14288">
            <a:solidFill>
              <a:srgbClr val="7C829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Shape 26">
            <a:extLst xmlns:a="http://schemas.openxmlformats.org/drawingml/2006/main">
              <a:ext uri="{FF2B5EF4-FFF2-40B4-BE49-F238E27FC236}">
                <a16:creationId xmlns:a16="http://schemas.microsoft.com/office/drawing/2014/main" id="{35AD10F8-508B-46D0-ACEC-63BF1CE6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74961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7">
            <a:extLst xmlns:a="http://schemas.openxmlformats.org/drawingml/2006/main">
              <a:ext uri="{FF2B5EF4-FFF2-40B4-BE49-F238E27FC236}">
                <a16:creationId xmlns:a16="http://schemas.microsoft.com/office/drawing/2014/main" id="{B5179619-F14A-413C-8D41-EF97A837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7343314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absorvido pelos dois primeiros</a:t>
            </a:r>
            <a:endParaRPr sz="1800"/>
          </a:p>
        </p:txBody>
      </p:sp>
      <p:sp>
        <p:nvSpPr>
          <p:cNvPr id="28" name="Text 28">
            <a:extLst xmlns:a="http://schemas.openxmlformats.org/drawingml/2006/main">
              <a:ext uri="{FF2B5EF4-FFF2-40B4-BE49-F238E27FC236}">
                <a16:creationId xmlns:a16="http://schemas.microsoft.com/office/drawing/2014/main" id="{88592D33-48B6-400B-AF2F-AAE8F99C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820025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>
                <a:solidFill>
                  <a:srgbClr val="7C8299"/>
                </a:solidFill>
                <a:latin typeface="Manrope"/>
                <a:ea typeface="Manrope"/>
                <a:cs typeface="Manrope"/>
              </a:rPr>
              <a:t>SmartFreight</a:t>
            </a:r>
            <a:endParaRPr sz="2400"/>
          </a:p>
        </p:txBody>
      </p:sp>
      <p:sp>
        <p:nvSpPr>
          <p:cNvPr id="29" name="Shape 29">
            <a:extLst xmlns:a="http://schemas.openxmlformats.org/drawingml/2006/main">
              <a:ext uri="{FF2B5EF4-FFF2-40B4-BE49-F238E27FC236}">
                <a16:creationId xmlns:a16="http://schemas.microsoft.com/office/drawing/2014/main" id="{A93AC22E-C326-4FBE-9DFF-7C53B907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79724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D1A"/>
          </a:solidFill>
          <a:ln xmlns:a="http://schemas.openxmlformats.org/drawingml/2006/main" w="14288">
            <a:solidFill>
              <a:srgbClr val="7C829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Shape 30">
            <a:extLst xmlns:a="http://schemas.openxmlformats.org/drawingml/2006/main">
              <a:ext uri="{FF2B5EF4-FFF2-40B4-BE49-F238E27FC236}">
                <a16:creationId xmlns:a16="http://schemas.microsoft.com/office/drawing/2014/main" id="{F831AA57-6E3D-4A7F-82D8-B1F394F0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80295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Text 31">
            <a:extLst xmlns:a="http://schemas.openxmlformats.org/drawingml/2006/main">
              <a:ext uri="{FF2B5EF4-FFF2-40B4-BE49-F238E27FC236}">
                <a16:creationId xmlns:a16="http://schemas.microsoft.com/office/drawing/2014/main" id="{8F835438-6A22-4859-B043-CAC79E84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7876714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backlog</a:t>
            </a:r>
            <a:endParaRPr sz="1800"/>
          </a:p>
        </p:txBody>
      </p:sp>
      <p:sp>
        <p:nvSpPr>
          <p:cNvPr id="32" name="Text 32">
            <a:extLst xmlns:a="http://schemas.openxmlformats.org/drawingml/2006/main">
              <a:ext uri="{FF2B5EF4-FFF2-40B4-BE49-F238E27FC236}">
                <a16:creationId xmlns:a16="http://schemas.microsoft.com/office/drawing/2014/main" id="{E176631D-B0E7-4853-AD7A-AD07FB51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353425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>
                <a:solidFill>
                  <a:srgbClr val="7C8299"/>
                </a:solidFill>
                <a:latin typeface="Manrope"/>
                <a:ea typeface="Manrope"/>
                <a:cs typeface="Manrope"/>
              </a:rPr>
              <a:t>Maestro</a:t>
            </a:r>
            <a:endParaRPr sz="2400"/>
          </a:p>
        </p:txBody>
      </p:sp>
      <p:sp>
        <p:nvSpPr>
          <p:cNvPr id="33" name="Shape 33">
            <a:extLst xmlns:a="http://schemas.openxmlformats.org/drawingml/2006/main">
              <a:ext uri="{FF2B5EF4-FFF2-40B4-BE49-F238E27FC236}">
                <a16:creationId xmlns:a16="http://schemas.microsoft.com/office/drawing/2014/main" id="{7A111D49-C787-4858-9689-D9089E13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85058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D1A"/>
          </a:solidFill>
          <a:ln xmlns:a="http://schemas.openxmlformats.org/drawingml/2006/main" w="14288">
            <a:solidFill>
              <a:srgbClr val="7C829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Shape 34">
            <a:extLst xmlns:a="http://schemas.openxmlformats.org/drawingml/2006/main">
              <a:ext uri="{FF2B5EF4-FFF2-40B4-BE49-F238E27FC236}">
                <a16:creationId xmlns:a16="http://schemas.microsoft.com/office/drawing/2014/main" id="{20EF355F-F377-4803-8523-2AF4431F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85629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Text 35">
            <a:extLst xmlns:a="http://schemas.openxmlformats.org/drawingml/2006/main">
              <a:ext uri="{FF2B5EF4-FFF2-40B4-BE49-F238E27FC236}">
                <a16:creationId xmlns:a16="http://schemas.microsoft.com/office/drawing/2014/main" id="{D84BC5A5-3895-4AC5-8FE7-BAB64A16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8410114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orquestração na Fase 4</a:t>
            </a:r>
            <a:endParaRPr sz="1800"/>
          </a:p>
        </p:txBody>
      </p:sp>
      <p:sp>
        <p:nvSpPr>
          <p:cNvPr id="36" name="Shape 36">
            <a:extLst xmlns:a="http://schemas.openxmlformats.org/drawingml/2006/main">
              <a:ext uri="{FF2B5EF4-FFF2-40B4-BE49-F238E27FC236}">
                <a16:creationId xmlns:a16="http://schemas.microsoft.com/office/drawing/2014/main" id="{29378168-D789-4E47-84CF-983743B7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5891213"/>
            <a:ext cx="3810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Shape 37">
            <a:extLst xmlns:a="http://schemas.openxmlformats.org/drawingml/2006/main">
              <a:ext uri="{FF2B5EF4-FFF2-40B4-BE49-F238E27FC236}">
                <a16:creationId xmlns:a16="http://schemas.microsoft.com/office/drawing/2014/main" id="{FE2BA7EB-BC4C-4DB2-B8DD-77734C52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6424613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Text 38">
            <a:extLst xmlns:a="http://schemas.openxmlformats.org/drawingml/2006/main">
              <a:ext uri="{FF2B5EF4-FFF2-40B4-BE49-F238E27FC236}">
                <a16:creationId xmlns:a16="http://schemas.microsoft.com/office/drawing/2014/main" id="{9E4A27E3-669D-4577-8338-04B7F86E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581650"/>
            <a:ext cx="1809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0000"/>
              </a:lnSpc>
              <a:buNone/>
            </a:pPr>
            <a:r>
              <a:rPr sz="12000" b="1" spc="-240">
                <a:solidFill>
                  <a:srgbClr val="8E7CFF"/>
                </a:solidFill>
                <a:latin typeface="Manrope"/>
                <a:ea typeface="Manrope"/>
                <a:cs typeface="Manrope"/>
              </a:rPr>
              <a:t>3</a:t>
            </a:r>
            <a:endParaRPr sz="12000"/>
          </a:p>
        </p:txBody>
      </p:sp>
      <p:sp>
        <p:nvSpPr>
          <p:cNvPr id="39" name="Text 39">
            <a:extLst xmlns:a="http://schemas.openxmlformats.org/drawingml/2006/main">
              <a:ext uri="{FF2B5EF4-FFF2-40B4-BE49-F238E27FC236}">
                <a16:creationId xmlns:a16="http://schemas.microsoft.com/office/drawing/2014/main" id="{310549A5-54FB-4DFB-A738-5C1A6EDD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945444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000"/>
              </a:lnSpc>
              <a:buNone/>
            </a:pPr>
            <a:r>
              <a:rPr sz="255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agentes especializados na jornada do pedido</a:t>
            </a:r>
            <a:endParaRPr sz="2550"/>
          </a:p>
        </p:txBody>
      </p:sp>
      <p:sp>
        <p:nvSpPr>
          <p:cNvPr id="40" name="Shape 40">
            <a:extLst xmlns:a="http://schemas.openxmlformats.org/drawingml/2006/main">
              <a:ext uri="{FF2B5EF4-FFF2-40B4-BE49-F238E27FC236}">
                <a16:creationId xmlns:a16="http://schemas.microsoft.com/office/drawing/2014/main" id="{3D5A0BD6-0A18-4415-8A16-067621E7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048750"/>
            <a:ext cx="1638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Text 41">
            <a:extLst xmlns:a="http://schemas.openxmlformats.org/drawingml/2006/main">
              <a:ext uri="{FF2B5EF4-FFF2-40B4-BE49-F238E27FC236}">
                <a16:creationId xmlns:a16="http://schemas.microsoft.com/office/drawing/2014/main" id="{C389AB4E-7CBE-4FA6-BDAD-9EB59336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28687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DA EVIDÊNCIA À DECISÃO</a:t>
            </a:r>
            <a:endParaRPr sz="1800"/>
          </a:p>
        </p:txBody>
      </p:sp>
      <p:sp>
        <p:nvSpPr>
          <p:cNvPr id="42" name="Text 42">
            <a:extLst xmlns:a="http://schemas.openxmlformats.org/drawingml/2006/main">
              <a:ext uri="{FF2B5EF4-FFF2-40B4-BE49-F238E27FC236}">
                <a16:creationId xmlns:a16="http://schemas.microsoft.com/office/drawing/2014/main" id="{5876A4C4-8173-4E72-B03D-56F3B00F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9239250"/>
            <a:ext cx="276987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F0B547"/>
                </a:solidFill>
                <a:latin typeface="Manrope"/>
                <a:ea typeface="Manrope"/>
                <a:cs typeface="Manrope"/>
              </a:rPr>
              <a:t>Dados rastreáveis</a:t>
            </a:r>
            <a:endParaRPr sz="2100"/>
          </a:p>
        </p:txBody>
      </p:sp>
      <p:sp>
        <p:nvSpPr>
          <p:cNvPr id="43" name="Text 43">
            <a:extLst xmlns:a="http://schemas.openxmlformats.org/drawingml/2006/main">
              <a:ext uri="{FF2B5EF4-FFF2-40B4-BE49-F238E27FC236}">
                <a16:creationId xmlns:a16="http://schemas.microsoft.com/office/drawing/2014/main" id="{BB9FA0E1-7BBE-42AA-B38D-090BE631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9239250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8839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7C8299"/>
                </a:solidFill>
                <a:latin typeface="Manrope"/>
                <a:ea typeface="Manrope"/>
                <a:cs typeface="Manrope"/>
              </a:rPr>
              <a:t>→</a:t>
            </a:r>
            <a:endParaRPr sz="2100"/>
          </a:p>
        </p:txBody>
      </p:sp>
      <p:sp>
        <p:nvSpPr>
          <p:cNvPr id="44" name="Text 44">
            <a:extLst xmlns:a="http://schemas.openxmlformats.org/drawingml/2006/main">
              <a:ext uri="{FF2B5EF4-FFF2-40B4-BE49-F238E27FC236}">
                <a16:creationId xmlns:a16="http://schemas.microsoft.com/office/drawing/2014/main" id="{67DFC704-67F6-48A7-AB20-8079EE57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9120" y="9239250"/>
            <a:ext cx="495681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8E7CFF"/>
                </a:solidFill>
                <a:latin typeface="Manrope"/>
                <a:ea typeface="Manrope"/>
                <a:cs typeface="Manrope"/>
              </a:rPr>
              <a:t>Prompts desenhados com contexto</a:t>
            </a:r>
            <a:endParaRPr sz="2100"/>
          </a:p>
        </p:txBody>
      </p:sp>
      <p:sp>
        <p:nvSpPr>
          <p:cNvPr id="45" name="Text 45">
            <a:extLst xmlns:a="http://schemas.openxmlformats.org/drawingml/2006/main">
              <a:ext uri="{FF2B5EF4-FFF2-40B4-BE49-F238E27FC236}">
                <a16:creationId xmlns:a16="http://schemas.microsoft.com/office/drawing/2014/main" id="{9AA6BE69-D0A4-45B8-B900-784A01BC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1180" y="9239250"/>
            <a:ext cx="28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8839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7C8299"/>
                </a:solidFill>
                <a:latin typeface="Manrope"/>
                <a:ea typeface="Manrope"/>
                <a:cs typeface="Manrope"/>
              </a:rPr>
              <a:t>→</a:t>
            </a:r>
            <a:endParaRPr sz="2100"/>
          </a:p>
        </p:txBody>
      </p:sp>
      <p:sp>
        <p:nvSpPr>
          <p:cNvPr id="46" name="Text 46">
            <a:extLst xmlns:a="http://schemas.openxmlformats.org/drawingml/2006/main">
              <a:ext uri="{FF2B5EF4-FFF2-40B4-BE49-F238E27FC236}">
                <a16:creationId xmlns:a16="http://schemas.microsoft.com/office/drawing/2014/main" id="{B846C111-8D30-41CF-8784-A2AF92BC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2180" y="9239250"/>
            <a:ext cx="276987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3CCFB4"/>
                </a:solidFill>
                <a:latin typeface="Manrope"/>
                <a:ea typeface="Manrope"/>
                <a:cs typeface="Manrope"/>
              </a:rPr>
              <a:t>Ações delimitadas</a:t>
            </a:r>
            <a:endParaRPr sz="2100"/>
          </a:p>
        </p:txBody>
      </p:sp>
    </p:spTree>
    <p:extLst>
      <p:ext uri="{BB962C8B-B14F-4D97-AF65-F5344CB8AC3E}">
        <p14:creationId xmlns:p14="http://schemas.microsoft.com/office/powerpoint/2010/main" val="9706369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6AAB4453-DBF6-490A-864E-5FF9D158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6263"/>
            <a:ext cx="5129828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OLIST · FROM INSIGHT TO IMPACT</a:t>
            </a:r>
            <a:endParaRPr sz="1800"/>
          </a:p>
        </p:txBody>
      </p:sp>
      <p:sp>
        <p:nvSpPr>
          <p:cNvPr id="3" name="Shape 3">
            <a:extLst xmlns:a="http://schemas.openxmlformats.org/drawingml/2006/main">
              <a:ext uri="{FF2B5EF4-FFF2-40B4-BE49-F238E27FC236}">
                <a16:creationId xmlns:a16="http://schemas.microsoft.com/office/drawing/2014/main" id="{5C302F65-B10C-4446-B171-F2062F5F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298" y="890587"/>
            <a:ext cx="1399084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4">
            <a:extLst xmlns:a="http://schemas.openxmlformats.org/drawingml/2006/main">
              <a:ext uri="{FF2B5EF4-FFF2-40B4-BE49-F238E27FC236}">
                <a16:creationId xmlns:a16="http://schemas.microsoft.com/office/drawing/2014/main" id="{E0F907BF-50C8-4A2D-B32A-557993E7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318" y="535019"/>
            <a:ext cx="1703927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DESCOBRIR</a:t>
            </a:r>
            <a:endParaRPr sz="1800"/>
          </a:p>
        </p:txBody>
      </p:sp>
      <p:sp>
        <p:nvSpPr>
          <p:cNvPr id="5" name="Text 5">
            <a:extLst xmlns:a="http://schemas.openxmlformats.org/drawingml/2006/main">
              <a:ext uri="{FF2B5EF4-FFF2-40B4-BE49-F238E27FC236}">
                <a16:creationId xmlns:a16="http://schemas.microsoft.com/office/drawing/2014/main" id="{BD0A7A91-7D3A-4CE3-96D8-8D04B196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50" y="533400"/>
            <a:ext cx="1548384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DESENHAR</a:t>
            </a:r>
            <a:endParaRPr sz="1800"/>
          </a:p>
        </p:txBody>
      </p:sp>
      <p:sp>
        <p:nvSpPr>
          <p:cNvPr id="6" name="Text 6">
            <a:extLst xmlns:a="http://schemas.openxmlformats.org/drawingml/2006/main">
              <a:ext uri="{FF2B5EF4-FFF2-40B4-BE49-F238E27FC236}">
                <a16:creationId xmlns:a16="http://schemas.microsoft.com/office/drawing/2014/main" id="{CE6082DB-D791-4AC0-A93D-1C38C70E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9029" y="533400"/>
            <a:ext cx="1393031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ESCALAR</a:t>
            </a:r>
            <a:endParaRPr sz="1800"/>
          </a:p>
        </p:txBody>
      </p:sp>
      <p:sp>
        <p:nvSpPr>
          <p:cNvPr id="7" name="Text 7">
            <a:extLst xmlns:a="http://schemas.openxmlformats.org/drawingml/2006/main">
              <a:ext uri="{FF2B5EF4-FFF2-40B4-BE49-F238E27FC236}">
                <a16:creationId xmlns:a16="http://schemas.microsoft.com/office/drawing/2014/main" id="{4EA13B27-F76C-4334-83D5-819CE5E3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8221" y="533400"/>
            <a:ext cx="85348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04/12</a:t>
            </a:r>
            <a:endParaRPr sz="1800"/>
          </a:p>
        </p:txBody>
      </p:sp>
      <p:sp>
        <p:nvSpPr>
          <p:cNvPr id="8" name="Text 8">
            <a:extLst xmlns:a="http://schemas.openxmlformats.org/drawingml/2006/main">
              <a:ext uri="{FF2B5EF4-FFF2-40B4-BE49-F238E27FC236}">
                <a16:creationId xmlns:a16="http://schemas.microsoft.com/office/drawing/2014/main" id="{6EC7E838-4925-4949-84AC-3A86A09C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28750"/>
            <a:ext cx="1638300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F0B547"/>
                </a:solidFill>
                <a:latin typeface="IBM Plex Mono"/>
                <a:ea typeface="IBM Plex Mono"/>
                <a:cs typeface="IBM Plex Mono"/>
              </a:rPr>
              <a:t>O PROBLEMA DE NEGÓCIO · OBSERVADO</a:t>
            </a:r>
            <a:endParaRPr sz="1800"/>
          </a:p>
        </p:txBody>
      </p:sp>
      <p:sp>
        <p:nvSpPr>
          <p:cNvPr id="9" name="Text 9">
            <a:extLst xmlns:a="http://schemas.openxmlformats.org/drawingml/2006/main">
              <a:ext uri="{FF2B5EF4-FFF2-40B4-BE49-F238E27FC236}">
                <a16:creationId xmlns:a16="http://schemas.microsoft.com/office/drawing/2014/main" id="{805BAC19-03BB-4E05-96BE-4EC13C4E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98650"/>
            <a:ext cx="14716125" cy="1318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1951"/>
              </a:lnSpc>
              <a:buNone/>
            </a:pPr>
            <a:r>
              <a:rPr sz="4500" b="1" spc="-9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O atraso não termina na entrega. Ele compromete a relação com o cliente.</a:t>
            </a:r>
            <a:endParaRPr sz="4500"/>
          </a:p>
        </p:txBody>
      </p:sp>
      <p:sp>
        <p:nvSpPr>
          <p:cNvPr id="10" name="Shape 10">
            <a:extLst xmlns:a="http://schemas.openxmlformats.org/drawingml/2006/main">
              <a:ext uri="{FF2B5EF4-FFF2-40B4-BE49-F238E27FC236}">
                <a16:creationId xmlns:a16="http://schemas.microsoft.com/office/drawing/2014/main" id="{C2F4F8EE-FBD2-4959-9447-11DB9619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31246"/>
            <a:ext cx="1638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11">
            <a:extLst xmlns:a="http://schemas.openxmlformats.org/drawingml/2006/main">
              <a:ext uri="{FF2B5EF4-FFF2-40B4-BE49-F238E27FC236}">
                <a16:creationId xmlns:a16="http://schemas.microsoft.com/office/drawing/2014/main" id="{B9E774B5-DFF7-464A-AE72-3076191A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8576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2">
            <a:extLst xmlns:a="http://schemas.openxmlformats.org/drawingml/2006/main">
              <a:ext uri="{FF2B5EF4-FFF2-40B4-BE49-F238E27FC236}">
                <a16:creationId xmlns:a16="http://schemas.microsoft.com/office/drawing/2014/main" id="{7901CCAB-7071-49DC-B731-096FDF18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83671"/>
            <a:ext cx="3781614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01 POSTAGEM</a:t>
            </a:r>
            <a:endParaRPr sz="1800"/>
          </a:p>
        </p:txBody>
      </p:sp>
      <p:sp>
        <p:nvSpPr>
          <p:cNvPr id="13" name="Text 13">
            <a:extLst xmlns:a="http://schemas.openxmlformats.org/drawingml/2006/main">
              <a:ext uri="{FF2B5EF4-FFF2-40B4-BE49-F238E27FC236}">
                <a16:creationId xmlns:a16="http://schemas.microsoft.com/office/drawing/2014/main" id="{46BD6C68-E381-40C8-B8C1-50065354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29175"/>
            <a:ext cx="3781614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009"/>
              </a:lnSpc>
              <a:buNone/>
            </a:pPr>
            <a:r>
              <a:rPr sz="7200" b="1" spc="-247">
                <a:solidFill>
                  <a:srgbClr val="F0B547"/>
                </a:solidFill>
                <a:latin typeface="Manrope"/>
                <a:ea typeface="Manrope"/>
                <a:cs typeface="Manrope"/>
              </a:rPr>
              <a:t>27%</a:t>
            </a:r>
            <a:endParaRPr sz="7200"/>
          </a:p>
        </p:txBody>
      </p:sp>
      <p:sp>
        <p:nvSpPr>
          <p:cNvPr id="14" name="Text 14">
            <a:extLst xmlns:a="http://schemas.openxmlformats.org/drawingml/2006/main">
              <a:ext uri="{FF2B5EF4-FFF2-40B4-BE49-F238E27FC236}">
                <a16:creationId xmlns:a16="http://schemas.microsoft.com/office/drawing/2014/main" id="{BFFF1951-E1A2-40FB-A157-8F0EB34C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10870"/>
            <a:ext cx="3540965" cy="1117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759"/>
              </a:lnSpc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dos atrasos começam com o seller postando após o limite</a:t>
            </a:r>
            <a:endParaRPr sz="2100"/>
          </a:p>
        </p:txBody>
      </p:sp>
      <p:sp>
        <p:nvSpPr>
          <p:cNvPr id="15" name="Text 15">
            <a:extLst xmlns:a="http://schemas.openxmlformats.org/drawingml/2006/main">
              <a:ext uri="{FF2B5EF4-FFF2-40B4-BE49-F238E27FC236}">
                <a16:creationId xmlns:a16="http://schemas.microsoft.com/office/drawing/2014/main" id="{51DD4128-9E1F-4570-9BDD-1F3DC02D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281267"/>
            <a:ext cx="3540965" cy="9980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2857"/>
              </a:lnSpc>
              <a:buNone/>
            </a:pPr>
            <a:r>
              <a:rPr sz="18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Nesses pedidos, o atraso sobe para 24,4%, contra 6,5% quando a postagem é feita no prazo</a:t>
            </a:r>
            <a:endParaRPr sz="1800"/>
          </a:p>
        </p:txBody>
      </p:sp>
      <p:sp>
        <p:nvSpPr>
          <p:cNvPr id="16" name="Shape 16">
            <a:extLst xmlns:a="http://schemas.openxmlformats.org/drawingml/2006/main">
              <a:ext uri="{FF2B5EF4-FFF2-40B4-BE49-F238E27FC236}">
                <a16:creationId xmlns:a16="http://schemas.microsoft.com/office/drawing/2014/main" id="{85B31789-5A78-479F-9A50-5C4BE3D2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0406" y="38576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7">
            <a:extLst xmlns:a="http://schemas.openxmlformats.org/drawingml/2006/main">
              <a:ext uri="{FF2B5EF4-FFF2-40B4-BE49-F238E27FC236}">
                <a16:creationId xmlns:a16="http://schemas.microsoft.com/office/drawing/2014/main" id="{660AC379-AFD1-4CCF-A151-BF51BB0C2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731" y="4283671"/>
            <a:ext cx="3025269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02 ENTREGA</a:t>
            </a:r>
            <a:endParaRPr sz="1800"/>
          </a:p>
        </p:txBody>
      </p:sp>
      <p:sp>
        <p:nvSpPr>
          <p:cNvPr id="18" name="Text 18">
            <a:extLst xmlns:a="http://schemas.openxmlformats.org/drawingml/2006/main">
              <a:ext uri="{FF2B5EF4-FFF2-40B4-BE49-F238E27FC236}">
                <a16:creationId xmlns:a16="http://schemas.microsoft.com/office/drawing/2014/main" id="{EE32B2DB-69C4-4567-990B-CEED238B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731" y="4829175"/>
            <a:ext cx="3025269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009"/>
              </a:lnSpc>
              <a:buNone/>
            </a:pPr>
            <a:r>
              <a:rPr sz="7200" b="1" spc="-247">
                <a:solidFill>
                  <a:srgbClr val="F0B547"/>
                </a:solidFill>
                <a:latin typeface="Manrope"/>
                <a:ea typeface="Manrope"/>
                <a:cs typeface="Manrope"/>
              </a:rPr>
              <a:t>8,11%</a:t>
            </a:r>
            <a:endParaRPr sz="7200"/>
          </a:p>
        </p:txBody>
      </p:sp>
      <p:sp>
        <p:nvSpPr>
          <p:cNvPr id="19" name="Text 19">
            <a:extLst xmlns:a="http://schemas.openxmlformats.org/drawingml/2006/main">
              <a:ext uri="{FF2B5EF4-FFF2-40B4-BE49-F238E27FC236}">
                <a16:creationId xmlns:a16="http://schemas.microsoft.com/office/drawing/2014/main" id="{78746E22-F7AA-47A7-B84E-904008BA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731" y="6010870"/>
            <a:ext cx="2832752" cy="7580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759"/>
              </a:lnSpc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dos pedidos entregues com atraso</a:t>
            </a:r>
            <a:endParaRPr sz="2100"/>
          </a:p>
        </p:txBody>
      </p:sp>
      <p:sp>
        <p:nvSpPr>
          <p:cNvPr id="20" name="Shape 20">
            <a:extLst xmlns:a="http://schemas.openxmlformats.org/drawingml/2006/main">
              <a:ext uri="{FF2B5EF4-FFF2-40B4-BE49-F238E27FC236}">
                <a16:creationId xmlns:a16="http://schemas.microsoft.com/office/drawing/2014/main" id="{9B44EF50-9448-4D26-8025-330E1DBB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050" y="38576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Text 21">
            <a:extLst xmlns:a="http://schemas.openxmlformats.org/drawingml/2006/main">
              <a:ext uri="{FF2B5EF4-FFF2-40B4-BE49-F238E27FC236}">
                <a16:creationId xmlns:a16="http://schemas.microsoft.com/office/drawing/2014/main" id="{BEC10578-26F8-43F8-BFFB-ACA5277E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375" y="4283671"/>
            <a:ext cx="5105271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03 EXPERIÊNCIA</a:t>
            </a:r>
            <a:endParaRPr sz="1800"/>
          </a:p>
        </p:txBody>
      </p:sp>
      <p:sp>
        <p:nvSpPr>
          <p:cNvPr id="22" name="Text 22">
            <a:extLst xmlns:a="http://schemas.openxmlformats.org/drawingml/2006/main">
              <a:ext uri="{FF2B5EF4-FFF2-40B4-BE49-F238E27FC236}">
                <a16:creationId xmlns:a16="http://schemas.microsoft.com/office/drawing/2014/main" id="{18926EB7-BCC5-4CCB-A75B-971AE7EC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375" y="5350471"/>
            <a:ext cx="2203768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Pedido atrasado</a:t>
            </a:r>
            <a:endParaRPr sz="2100"/>
          </a:p>
        </p:txBody>
      </p:sp>
      <p:sp>
        <p:nvSpPr>
          <p:cNvPr id="23" name="Text 23">
            <a:extLst xmlns:a="http://schemas.openxmlformats.org/drawingml/2006/main">
              <a:ext uri="{FF2B5EF4-FFF2-40B4-BE49-F238E27FC236}">
                <a16:creationId xmlns:a16="http://schemas.microsoft.com/office/drawing/2014/main" id="{3589B643-0795-40FE-9CB6-A93D5D46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6833" y="4829770"/>
            <a:ext cx="2025868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096"/>
              </a:lnSpc>
              <a:buNone/>
            </a:pPr>
            <a:r>
              <a:rPr sz="7200" b="1" spc="-216">
                <a:solidFill>
                  <a:srgbClr val="F0B547"/>
                </a:solidFill>
                <a:latin typeface="Manrope"/>
                <a:ea typeface="Manrope"/>
                <a:cs typeface="Manrope"/>
              </a:rPr>
              <a:t>54%</a:t>
            </a:r>
            <a:endParaRPr sz="7200"/>
          </a:p>
        </p:txBody>
      </p:sp>
      <p:sp>
        <p:nvSpPr>
          <p:cNvPr id="24" name="Shape 24">
            <a:extLst xmlns:a="http://schemas.openxmlformats.org/drawingml/2006/main">
              <a:ext uri="{FF2B5EF4-FFF2-40B4-BE49-F238E27FC236}">
                <a16:creationId xmlns:a16="http://schemas.microsoft.com/office/drawing/2014/main" id="{95866526-CA73-4623-A253-217D1521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375" y="5820370"/>
            <a:ext cx="4641156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F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5">
            <a:extLst xmlns:a="http://schemas.openxmlformats.org/drawingml/2006/main">
              <a:ext uri="{FF2B5EF4-FFF2-40B4-BE49-F238E27FC236}">
                <a16:creationId xmlns:a16="http://schemas.microsoft.com/office/drawing/2014/main" id="{E863FDE8-9130-430B-BC1C-662C41ED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375" y="5820370"/>
            <a:ext cx="2506167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6">
            <a:extLst xmlns:a="http://schemas.openxmlformats.org/drawingml/2006/main">
              <a:ext uri="{FF2B5EF4-FFF2-40B4-BE49-F238E27FC236}">
                <a16:creationId xmlns:a16="http://schemas.microsoft.com/office/drawing/2014/main" id="{DCD5C678-C81E-4FC0-BE60-8790D5A8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375" y="6487120"/>
            <a:ext cx="215520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Pedido no prazo</a:t>
            </a:r>
            <a:endParaRPr sz="2100"/>
          </a:p>
        </p:txBody>
      </p:sp>
      <p:sp>
        <p:nvSpPr>
          <p:cNvPr id="27" name="Text 27">
            <a:extLst xmlns:a="http://schemas.openxmlformats.org/drawingml/2006/main">
              <a:ext uri="{FF2B5EF4-FFF2-40B4-BE49-F238E27FC236}">
                <a16:creationId xmlns:a16="http://schemas.microsoft.com/office/drawing/2014/main" id="{5376A65A-BBEA-49EA-A980-BEF89CF3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7249" y="6239470"/>
            <a:ext cx="967482" cy="647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282"/>
              </a:lnSpc>
              <a:buNone/>
            </a:pPr>
            <a:r>
              <a:rPr sz="4800" b="1" spc="-144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9%</a:t>
            </a:r>
            <a:endParaRPr sz="4800"/>
          </a:p>
        </p:txBody>
      </p:sp>
      <p:sp>
        <p:nvSpPr>
          <p:cNvPr id="28" name="Shape 28">
            <a:extLst xmlns:a="http://schemas.openxmlformats.org/drawingml/2006/main">
              <a:ext uri="{FF2B5EF4-FFF2-40B4-BE49-F238E27FC236}">
                <a16:creationId xmlns:a16="http://schemas.microsoft.com/office/drawing/2014/main" id="{EFC7A845-B170-4961-B2BC-69649D27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375" y="6931621"/>
            <a:ext cx="4641156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F3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Shape 29">
            <a:extLst xmlns:a="http://schemas.openxmlformats.org/drawingml/2006/main">
              <a:ext uri="{FF2B5EF4-FFF2-40B4-BE49-F238E27FC236}">
                <a16:creationId xmlns:a16="http://schemas.microsoft.com/office/drawing/2014/main" id="{1943E00B-22C5-49E8-9794-A4653DF6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375" y="6931621"/>
            <a:ext cx="417612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A8B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30">
            <a:extLst xmlns:a="http://schemas.openxmlformats.org/drawingml/2006/main">
              <a:ext uri="{FF2B5EF4-FFF2-40B4-BE49-F238E27FC236}">
                <a16:creationId xmlns:a16="http://schemas.microsoft.com/office/drawing/2014/main" id="{D419EAEF-905F-4C1F-A31B-68835F70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375" y="7350721"/>
            <a:ext cx="5105271" cy="3980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759"/>
              </a:lnSpc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das avaliações são nota 1 ou 2</a:t>
            </a:r>
            <a:endParaRPr sz="2100"/>
          </a:p>
        </p:txBody>
      </p:sp>
      <p:sp>
        <p:nvSpPr>
          <p:cNvPr id="31" name="Shape 31">
            <a:extLst xmlns:a="http://schemas.openxmlformats.org/drawingml/2006/main">
              <a:ext uri="{FF2B5EF4-FFF2-40B4-BE49-F238E27FC236}">
                <a16:creationId xmlns:a16="http://schemas.microsoft.com/office/drawing/2014/main" id="{092D67AD-3472-4E88-AC87-8113BE21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8606" y="38576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32">
            <a:extLst xmlns:a="http://schemas.openxmlformats.org/drawingml/2006/main">
              <a:ext uri="{FF2B5EF4-FFF2-40B4-BE49-F238E27FC236}">
                <a16:creationId xmlns:a16="http://schemas.microsoft.com/office/drawing/2014/main" id="{AE5EF614-49E7-4969-B529-78AE72E1C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81931" y="4283671"/>
            <a:ext cx="4348817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04 RECOMPRA</a:t>
            </a:r>
            <a:endParaRPr sz="1800"/>
          </a:p>
        </p:txBody>
      </p:sp>
      <p:sp>
        <p:nvSpPr>
          <p:cNvPr id="33" name="Text 33">
            <a:extLst xmlns:a="http://schemas.openxmlformats.org/drawingml/2006/main">
              <a:ext uri="{FF2B5EF4-FFF2-40B4-BE49-F238E27FC236}">
                <a16:creationId xmlns:a16="http://schemas.microsoft.com/office/drawing/2014/main" id="{DB9538C7-A2B1-47B2-8B4E-9C07EA00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81931" y="4829175"/>
            <a:ext cx="266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171"/>
              </a:lnSpc>
              <a:buNone/>
            </a:pPr>
            <a:r>
              <a:rPr sz="7200" b="1" spc="-180">
                <a:solidFill>
                  <a:srgbClr val="F0B547"/>
                </a:solidFill>
                <a:latin typeface="Manrope"/>
                <a:ea typeface="Manrope"/>
                <a:cs typeface="Manrope"/>
              </a:rPr>
              <a:t>1,56%</a:t>
            </a:r>
            <a:endParaRPr sz="7200"/>
          </a:p>
        </p:txBody>
      </p:sp>
      <p:sp>
        <p:nvSpPr>
          <p:cNvPr id="34" name="Text 34">
            <a:extLst xmlns:a="http://schemas.openxmlformats.org/drawingml/2006/main">
              <a:ext uri="{FF2B5EF4-FFF2-40B4-BE49-F238E27FC236}">
                <a16:creationId xmlns:a16="http://schemas.microsoft.com/office/drawing/2014/main" id="{74A3DB54-697E-4F4F-8327-30493D18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5238750"/>
            <a:ext cx="1333500" cy="450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vs 2,13%</a:t>
            </a:r>
            <a:endParaRPr sz="2400"/>
          </a:p>
        </p:txBody>
      </p:sp>
      <p:sp>
        <p:nvSpPr>
          <p:cNvPr id="35" name="Text 35">
            <a:extLst xmlns:a="http://schemas.openxmlformats.org/drawingml/2006/main">
              <a:ext uri="{FF2B5EF4-FFF2-40B4-BE49-F238E27FC236}">
                <a16:creationId xmlns:a16="http://schemas.microsoft.com/office/drawing/2014/main" id="{67DF3F3E-6251-4C8A-82ED-ACB7C76D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81931" y="6010275"/>
            <a:ext cx="4072074" cy="1117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759"/>
              </a:lnSpc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de recompra quando a 1ª compra atrasou, contra a 1ª compra no prazo</a:t>
            </a:r>
            <a:endParaRPr sz="2100"/>
          </a:p>
        </p:txBody>
      </p:sp>
      <p:sp>
        <p:nvSpPr>
          <p:cNvPr id="36" name="Shape 36">
            <a:extLst xmlns:a="http://schemas.openxmlformats.org/drawingml/2006/main">
              <a:ext uri="{FF2B5EF4-FFF2-40B4-BE49-F238E27FC236}">
                <a16:creationId xmlns:a16="http://schemas.microsoft.com/office/drawing/2014/main" id="{AF9D258D-9312-4DB3-BAFC-F81DE02A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112250"/>
            <a:ext cx="1638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Text 37">
            <a:extLst xmlns:a="http://schemas.openxmlformats.org/drawingml/2006/main">
              <a:ext uri="{FF2B5EF4-FFF2-40B4-BE49-F238E27FC236}">
                <a16:creationId xmlns:a16="http://schemas.microsoft.com/office/drawing/2014/main" id="{0311B77C-24B7-497E-BD13-84C3ACBB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315450"/>
            <a:ext cx="162947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466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F0B547"/>
                </a:solidFill>
                <a:latin typeface="IBM Plex Mono"/>
                <a:ea typeface="IBM Plex Mono"/>
                <a:cs typeface="IBM Plex Mono"/>
              </a:rPr>
              <a:t>OBSERVADO</a:t>
            </a:r>
            <a:endParaRPr sz="1800"/>
          </a:p>
        </p:txBody>
      </p:sp>
      <p:sp>
        <p:nvSpPr>
          <p:cNvPr id="38" name="Text 38">
            <a:extLst xmlns:a="http://schemas.openxmlformats.org/drawingml/2006/main">
              <a:ext uri="{FF2B5EF4-FFF2-40B4-BE49-F238E27FC236}">
                <a16:creationId xmlns:a16="http://schemas.microsoft.com/office/drawing/2014/main" id="{7B99FA6B-14C4-459C-A7EC-0AEB46F8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2436" y="9309100"/>
            <a:ext cx="14501406" cy="349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Dataset público Olist, 2016–2018. Associações históricas: não demonstram, isoladamente, o efeito causal de uma intervenção.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16372490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815DA11B-1043-4DBE-BDB3-C924C44C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6263"/>
            <a:ext cx="5129828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OLIST · FROM INSIGHT TO IMPACT</a:t>
            </a:r>
            <a:endParaRPr sz="1800"/>
          </a:p>
        </p:txBody>
      </p:sp>
      <p:sp>
        <p:nvSpPr>
          <p:cNvPr id="3" name="Shape 3">
            <a:extLst xmlns:a="http://schemas.openxmlformats.org/drawingml/2006/main">
              <a:ext uri="{FF2B5EF4-FFF2-40B4-BE49-F238E27FC236}">
                <a16:creationId xmlns:a16="http://schemas.microsoft.com/office/drawing/2014/main" id="{747CBC50-3B24-448D-A834-B1D035B6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298" y="890587"/>
            <a:ext cx="1399084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 4">
            <a:extLst xmlns:a="http://schemas.openxmlformats.org/drawingml/2006/main">
              <a:ext uri="{FF2B5EF4-FFF2-40B4-BE49-F238E27FC236}">
                <a16:creationId xmlns:a16="http://schemas.microsoft.com/office/drawing/2014/main" id="{F224BCEE-9469-46DF-BBD7-02C8F521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318" y="535019"/>
            <a:ext cx="1703927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DESCOBRIR</a:t>
            </a:r>
            <a:endParaRPr sz="1800"/>
          </a:p>
        </p:txBody>
      </p:sp>
      <p:sp>
        <p:nvSpPr>
          <p:cNvPr id="5" name="Text 5">
            <a:extLst xmlns:a="http://schemas.openxmlformats.org/drawingml/2006/main">
              <a:ext uri="{FF2B5EF4-FFF2-40B4-BE49-F238E27FC236}">
                <a16:creationId xmlns:a16="http://schemas.microsoft.com/office/drawing/2014/main" id="{E3F5A000-F21A-4002-82D4-33D82FC1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50" y="533400"/>
            <a:ext cx="1548384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DESENHAR</a:t>
            </a:r>
            <a:endParaRPr sz="1800"/>
          </a:p>
        </p:txBody>
      </p:sp>
      <p:sp>
        <p:nvSpPr>
          <p:cNvPr id="6" name="Text 6">
            <a:extLst xmlns:a="http://schemas.openxmlformats.org/drawingml/2006/main">
              <a:ext uri="{FF2B5EF4-FFF2-40B4-BE49-F238E27FC236}">
                <a16:creationId xmlns:a16="http://schemas.microsoft.com/office/drawing/2014/main" id="{65B4A144-436C-4A38-A8B4-EFC77785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9029" y="533400"/>
            <a:ext cx="1393031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ESCALAR</a:t>
            </a:r>
            <a:endParaRPr sz="1800"/>
          </a:p>
        </p:txBody>
      </p:sp>
      <p:sp>
        <p:nvSpPr>
          <p:cNvPr id="7" name="Text 7">
            <a:extLst xmlns:a="http://schemas.openxmlformats.org/drawingml/2006/main">
              <a:ext uri="{FF2B5EF4-FFF2-40B4-BE49-F238E27FC236}">
                <a16:creationId xmlns:a16="http://schemas.microsoft.com/office/drawing/2014/main" id="{7EBC8488-48C4-4598-A0DA-B56CE9B4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8221" y="533400"/>
            <a:ext cx="85348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05/12</a:t>
            </a:r>
            <a:endParaRPr sz="1800"/>
          </a:p>
        </p:txBody>
      </p:sp>
      <p:sp>
        <p:nvSpPr>
          <p:cNvPr id="8" name="Text 8">
            <a:extLst xmlns:a="http://schemas.openxmlformats.org/drawingml/2006/main">
              <a:ext uri="{FF2B5EF4-FFF2-40B4-BE49-F238E27FC236}">
                <a16:creationId xmlns:a16="http://schemas.microsoft.com/office/drawing/2014/main" id="{EB3EA2FB-7E3C-4CF1-A9C3-23F43C7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28750"/>
            <a:ext cx="1638300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F0B547"/>
                </a:solidFill>
                <a:latin typeface="IBM Plex Mono"/>
                <a:ea typeface="IBM Plex Mono"/>
                <a:cs typeface="IBM Plex Mono"/>
              </a:rPr>
              <a:t>PRIORIZAÇÃO · 5 CRITÉRIOS PONDERADOS</a:t>
            </a:r>
            <a:endParaRPr sz="1800"/>
          </a:p>
        </p:txBody>
      </p:sp>
      <p:sp>
        <p:nvSpPr>
          <p:cNvPr id="9" name="Text 9">
            <a:extLst xmlns:a="http://schemas.openxmlformats.org/drawingml/2006/main">
              <a:ext uri="{FF2B5EF4-FFF2-40B4-BE49-F238E27FC236}">
                <a16:creationId xmlns:a16="http://schemas.microsoft.com/office/drawing/2014/main" id="{1FC97893-DDC1-4928-8E13-231AEFAD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98650"/>
            <a:ext cx="14716125" cy="1318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1951"/>
              </a:lnSpc>
              <a:buNone/>
            </a:pPr>
            <a:r>
              <a:rPr sz="4500" b="1" spc="-9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Priorizamos três agentes que atuam na mesma jornada.</a:t>
            </a:r>
            <a:endParaRPr sz="4500"/>
          </a:p>
        </p:txBody>
      </p:sp>
      <p:sp>
        <p:nvSpPr>
          <p:cNvPr id="10" name="Text 10">
            <a:extLst xmlns:a="http://schemas.openxmlformats.org/drawingml/2006/main">
              <a:ext uri="{FF2B5EF4-FFF2-40B4-BE49-F238E27FC236}">
                <a16:creationId xmlns:a16="http://schemas.microsoft.com/office/drawing/2014/main" id="{479A4B64-D815-499A-8F64-1FB584B4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69271"/>
            <a:ext cx="1638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Impacto 30% · Proximidade do core 25% · Evidência 20% · Viabilidade 15% · Risco 10%</a:t>
            </a:r>
            <a:endParaRPr sz="1950"/>
          </a:p>
        </p:txBody>
      </p:sp>
      <p:sp>
        <p:nvSpPr>
          <p:cNvPr id="11" name="Shape 11">
            <a:extLst xmlns:a="http://schemas.openxmlformats.org/drawingml/2006/main">
              <a:ext uri="{FF2B5EF4-FFF2-40B4-BE49-F238E27FC236}">
                <a16:creationId xmlns:a16="http://schemas.microsoft.com/office/drawing/2014/main" id="{DF1F3AFB-813F-4BD9-B945-9AC45B04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31371"/>
            <a:ext cx="1638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2">
            <a:extLst xmlns:a="http://schemas.openxmlformats.org/drawingml/2006/main">
              <a:ext uri="{FF2B5EF4-FFF2-40B4-BE49-F238E27FC236}">
                <a16:creationId xmlns:a16="http://schemas.microsoft.com/office/drawing/2014/main" id="{9AE4C379-85A5-4587-95EF-407133ABD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7971"/>
            <a:ext cx="550418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 spc="234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ANTES DA ENTREGA</a:t>
            </a:r>
            <a:endParaRPr sz="1950"/>
          </a:p>
        </p:txBody>
      </p:sp>
      <p:sp>
        <p:nvSpPr>
          <p:cNvPr id="13" name="Shape 13">
            <a:extLst xmlns:a="http://schemas.openxmlformats.org/drawingml/2006/main">
              <a:ext uri="{FF2B5EF4-FFF2-40B4-BE49-F238E27FC236}">
                <a16:creationId xmlns:a16="http://schemas.microsoft.com/office/drawing/2014/main" id="{10BE85B3-EC98-4389-9B39-EFC9F466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31371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4">
            <a:extLst xmlns:a="http://schemas.openxmlformats.org/drawingml/2006/main">
              <a:ext uri="{FF2B5EF4-FFF2-40B4-BE49-F238E27FC236}">
                <a16:creationId xmlns:a16="http://schemas.microsoft.com/office/drawing/2014/main" id="{BE9409A2-8A0A-4427-8321-11F9B634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69521"/>
            <a:ext cx="5504180" cy="647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282"/>
              </a:lnSpc>
              <a:buNone/>
            </a:pPr>
            <a:r>
              <a:rPr sz="4800" b="1" spc="-96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LogiPredict</a:t>
            </a:r>
            <a:endParaRPr sz="4800"/>
          </a:p>
        </p:txBody>
      </p:sp>
      <p:sp>
        <p:nvSpPr>
          <p:cNvPr id="15" name="Text 15">
            <a:extLst xmlns:a="http://schemas.openxmlformats.org/drawingml/2006/main">
              <a:ext uri="{FF2B5EF4-FFF2-40B4-BE49-F238E27FC236}">
                <a16:creationId xmlns:a16="http://schemas.microsoft.com/office/drawing/2014/main" id="{124B0F82-CE6A-423F-818E-DA94A4C7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88671"/>
            <a:ext cx="5153914" cy="7580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759"/>
              </a:lnSpc>
              <a:buNone/>
            </a:pPr>
            <a:r>
              <a:rPr sz="21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Atua do limite de postagem até a entrega</a:t>
            </a:r>
            <a:endParaRPr sz="2100"/>
          </a:p>
        </p:txBody>
      </p:sp>
      <p:sp>
        <p:nvSpPr>
          <p:cNvPr id="16" name="Text 16">
            <a:extLst xmlns:a="http://schemas.openxmlformats.org/drawingml/2006/main">
              <a:ext uri="{FF2B5EF4-FFF2-40B4-BE49-F238E27FC236}">
                <a16:creationId xmlns:a16="http://schemas.microsoft.com/office/drawing/2014/main" id="{6D446FE0-95E2-432A-A6F2-0F880C42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18152"/>
            <a:ext cx="550418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SCORE 4,75</a:t>
            </a:r>
            <a:endParaRPr sz="1800"/>
          </a:p>
        </p:txBody>
      </p:sp>
      <p:sp>
        <p:nvSpPr>
          <p:cNvPr id="17" name="Shape 17">
            <a:extLst xmlns:a="http://schemas.openxmlformats.org/drawingml/2006/main">
              <a:ext uri="{FF2B5EF4-FFF2-40B4-BE49-F238E27FC236}">
                <a16:creationId xmlns:a16="http://schemas.microsoft.com/office/drawing/2014/main" id="{832C48BD-77D1-49FA-8FB2-A318E66F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4397971"/>
            <a:ext cx="9525" cy="30186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8">
            <a:extLst xmlns:a="http://schemas.openxmlformats.org/drawingml/2006/main">
              <a:ext uri="{FF2B5EF4-FFF2-40B4-BE49-F238E27FC236}">
                <a16:creationId xmlns:a16="http://schemas.microsoft.com/office/drawing/2014/main" id="{FD6191CA-9A08-4A8D-9C1C-7046B2B3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97971"/>
            <a:ext cx="4994275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 spc="234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APÓS A ENTREGA</a:t>
            </a:r>
            <a:endParaRPr sz="1950"/>
          </a:p>
        </p:txBody>
      </p:sp>
      <p:sp>
        <p:nvSpPr>
          <p:cNvPr id="19" name="Shape 19">
            <a:extLst xmlns:a="http://schemas.openxmlformats.org/drawingml/2006/main">
              <a:ext uri="{FF2B5EF4-FFF2-40B4-BE49-F238E27FC236}">
                <a16:creationId xmlns:a16="http://schemas.microsoft.com/office/drawing/2014/main" id="{AF3743F3-5B2D-4644-BDF8-D49D61E4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931371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20">
            <a:extLst xmlns:a="http://schemas.openxmlformats.org/drawingml/2006/main">
              <a:ext uri="{FF2B5EF4-FFF2-40B4-BE49-F238E27FC236}">
                <a16:creationId xmlns:a16="http://schemas.microsoft.com/office/drawing/2014/main" id="{988D4B9E-073A-4019-8A1F-9E89A171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369521"/>
            <a:ext cx="4994275" cy="647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282"/>
              </a:lnSpc>
              <a:buNone/>
            </a:pPr>
            <a:r>
              <a:rPr sz="4800" b="1" spc="-96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SentimentDesk</a:t>
            </a:r>
            <a:endParaRPr sz="4800"/>
          </a:p>
        </p:txBody>
      </p:sp>
      <p:sp>
        <p:nvSpPr>
          <p:cNvPr id="21" name="Text 21">
            <a:extLst xmlns:a="http://schemas.openxmlformats.org/drawingml/2006/main">
              <a:ext uri="{FF2B5EF4-FFF2-40B4-BE49-F238E27FC236}">
                <a16:creationId xmlns:a16="http://schemas.microsoft.com/office/drawing/2014/main" id="{BD17F57E-811E-46C7-A478-59E19EEF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6188671"/>
            <a:ext cx="4676458" cy="7580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759"/>
              </a:lnSpc>
              <a:buNone/>
            </a:pPr>
            <a:r>
              <a:rPr sz="21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Atua quando chega uma avaliação de 1 a 3</a:t>
            </a:r>
            <a:endParaRPr sz="2100"/>
          </a:p>
        </p:txBody>
      </p:sp>
      <p:sp>
        <p:nvSpPr>
          <p:cNvPr id="22" name="Text 22">
            <a:extLst xmlns:a="http://schemas.openxmlformats.org/drawingml/2006/main">
              <a:ext uri="{FF2B5EF4-FFF2-40B4-BE49-F238E27FC236}">
                <a16:creationId xmlns:a16="http://schemas.microsoft.com/office/drawing/2014/main" id="{4E72F56A-7A76-4D5B-94FF-55729DDDF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7118152"/>
            <a:ext cx="4994275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SCORE 4,60</a:t>
            </a:r>
            <a:endParaRPr sz="1800"/>
          </a:p>
        </p:txBody>
      </p:sp>
      <p:sp>
        <p:nvSpPr>
          <p:cNvPr id="23" name="Shape 23">
            <a:extLst xmlns:a="http://schemas.openxmlformats.org/drawingml/2006/main">
              <a:ext uri="{FF2B5EF4-FFF2-40B4-BE49-F238E27FC236}">
                <a16:creationId xmlns:a16="http://schemas.microsoft.com/office/drawing/2014/main" id="{5C8C21EA-5D3A-4820-904B-9A116C20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4501" y="4397971"/>
            <a:ext cx="9525" cy="30186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4">
            <a:extLst xmlns:a="http://schemas.openxmlformats.org/drawingml/2006/main">
              <a:ext uri="{FF2B5EF4-FFF2-40B4-BE49-F238E27FC236}">
                <a16:creationId xmlns:a16="http://schemas.microsoft.com/office/drawing/2014/main" id="{BE9983C3-CF4A-4C50-AF9D-DDDE887F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8050" y="4397971"/>
            <a:ext cx="5497195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 spc="234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PRÓXIMA COMPRA</a:t>
            </a:r>
            <a:endParaRPr sz="1950"/>
          </a:p>
        </p:txBody>
      </p:sp>
      <p:sp>
        <p:nvSpPr>
          <p:cNvPr id="25" name="Shape 25">
            <a:extLst xmlns:a="http://schemas.openxmlformats.org/drawingml/2006/main">
              <a:ext uri="{FF2B5EF4-FFF2-40B4-BE49-F238E27FC236}">
                <a16:creationId xmlns:a16="http://schemas.microsoft.com/office/drawing/2014/main" id="{83053D7A-E87C-4797-AE30-0C713173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8050" y="4931371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6">
            <a:extLst xmlns:a="http://schemas.openxmlformats.org/drawingml/2006/main">
              <a:ext uri="{FF2B5EF4-FFF2-40B4-BE49-F238E27FC236}">
                <a16:creationId xmlns:a16="http://schemas.microsoft.com/office/drawing/2014/main" id="{F28137AA-2B08-45F7-9987-E9A5A09B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8050" y="5369521"/>
            <a:ext cx="5497195" cy="647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282"/>
              </a:lnSpc>
              <a:buNone/>
            </a:pPr>
            <a:r>
              <a:rPr sz="4800" b="1" spc="-96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WinBack</a:t>
            </a:r>
            <a:endParaRPr sz="4800"/>
          </a:p>
        </p:txBody>
      </p:sp>
      <p:sp>
        <p:nvSpPr>
          <p:cNvPr id="27" name="Text 27">
            <a:extLst xmlns:a="http://schemas.openxmlformats.org/drawingml/2006/main">
              <a:ext uri="{FF2B5EF4-FFF2-40B4-BE49-F238E27FC236}">
                <a16:creationId xmlns:a16="http://schemas.microsoft.com/office/drawing/2014/main" id="{81AC31AE-99AB-44C9-BDBC-E24C6A76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8050" y="6188671"/>
            <a:ext cx="5497195" cy="3980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759"/>
              </a:lnSpc>
              <a:buNone/>
            </a:pPr>
            <a:r>
              <a:rPr sz="21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Atua de D+7 a D+90 após a 1ª entrega</a:t>
            </a:r>
            <a:endParaRPr sz="2100"/>
          </a:p>
        </p:txBody>
      </p:sp>
      <p:sp>
        <p:nvSpPr>
          <p:cNvPr id="28" name="Text 28">
            <a:extLst xmlns:a="http://schemas.openxmlformats.org/drawingml/2006/main">
              <a:ext uri="{FF2B5EF4-FFF2-40B4-BE49-F238E27FC236}">
                <a16:creationId xmlns:a16="http://schemas.microsoft.com/office/drawing/2014/main" id="{7778C226-81E1-4AC8-B3B3-F9338970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8050" y="6758186"/>
            <a:ext cx="5497195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SCORE 4,20</a:t>
            </a:r>
            <a:endParaRPr sz="1800"/>
          </a:p>
        </p:txBody>
      </p:sp>
      <p:sp>
        <p:nvSpPr>
          <p:cNvPr id="29" name="Shape 29">
            <a:extLst xmlns:a="http://schemas.openxmlformats.org/drawingml/2006/main">
              <a:ext uri="{FF2B5EF4-FFF2-40B4-BE49-F238E27FC236}">
                <a16:creationId xmlns:a16="http://schemas.microsoft.com/office/drawing/2014/main" id="{6337C8FB-3010-4627-8ED2-F5029777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036050"/>
            <a:ext cx="1638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30">
            <a:extLst xmlns:a="http://schemas.openxmlformats.org/drawingml/2006/main">
              <a:ext uri="{FF2B5EF4-FFF2-40B4-BE49-F238E27FC236}">
                <a16:creationId xmlns:a16="http://schemas.microsoft.com/office/drawing/2014/main" id="{585230DE-9661-4F5B-97AD-07CC1B87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302750"/>
            <a:ext cx="289692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FORA DESTA ETAPA</a:t>
            </a:r>
            <a:endParaRPr sz="1800"/>
          </a:p>
        </p:txBody>
      </p:sp>
      <p:sp>
        <p:nvSpPr>
          <p:cNvPr id="31" name="Text 31">
            <a:extLst xmlns:a="http://schemas.openxmlformats.org/drawingml/2006/main">
              <a:ext uri="{FF2B5EF4-FFF2-40B4-BE49-F238E27FC236}">
                <a16:creationId xmlns:a16="http://schemas.microsoft.com/office/drawing/2014/main" id="{B0A19952-CC32-4FB9-9A26-23D358C2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463" y="9251950"/>
            <a:ext cx="1504176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SellerCare</a:t>
            </a:r>
            <a:endParaRPr sz="2100"/>
          </a:p>
        </p:txBody>
      </p:sp>
      <p:sp>
        <p:nvSpPr>
          <p:cNvPr id="32" name="Text 32">
            <a:extLst xmlns:a="http://schemas.openxmlformats.org/drawingml/2006/main">
              <a:ext uri="{FF2B5EF4-FFF2-40B4-BE49-F238E27FC236}">
                <a16:creationId xmlns:a16="http://schemas.microsoft.com/office/drawing/2014/main" id="{55732C71-0629-4DBD-8AC7-50DA201E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0246" y="9296400"/>
            <a:ext cx="2710071" cy="349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Manrope"/>
                <a:ea typeface="Manrope"/>
                <a:cs typeface="Manrope"/>
              </a:rPr>
              <a:t>parcialmente absorvido</a:t>
            </a:r>
            <a:endParaRPr sz="1800"/>
          </a:p>
        </p:txBody>
      </p:sp>
      <p:sp>
        <p:nvSpPr>
          <p:cNvPr id="33" name="Text 33">
            <a:extLst xmlns:a="http://schemas.openxmlformats.org/drawingml/2006/main">
              <a:ext uri="{FF2B5EF4-FFF2-40B4-BE49-F238E27FC236}">
                <a16:creationId xmlns:a16="http://schemas.microsoft.com/office/drawing/2014/main" id="{6168D410-80CA-475F-86C6-08CE27F8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7347" y="9251950"/>
            <a:ext cx="1887587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SmartFreight</a:t>
            </a:r>
            <a:endParaRPr sz="2100"/>
          </a:p>
        </p:txBody>
      </p:sp>
      <p:sp>
        <p:nvSpPr>
          <p:cNvPr id="34" name="Text 34">
            <a:extLst xmlns:a="http://schemas.openxmlformats.org/drawingml/2006/main">
              <a:ext uri="{FF2B5EF4-FFF2-40B4-BE49-F238E27FC236}">
                <a16:creationId xmlns:a16="http://schemas.microsoft.com/office/drawing/2014/main" id="{5B45F71A-7A21-4826-970D-C06F3DF5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6686" y="9296400"/>
            <a:ext cx="902395" cy="349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Manrope"/>
                <a:ea typeface="Manrope"/>
                <a:cs typeface="Manrope"/>
              </a:rPr>
              <a:t>backlog</a:t>
            </a:r>
            <a:endParaRPr sz="1800"/>
          </a:p>
        </p:txBody>
      </p:sp>
      <p:sp>
        <p:nvSpPr>
          <p:cNvPr id="35" name="Text 35">
            <a:extLst xmlns:a="http://schemas.openxmlformats.org/drawingml/2006/main">
              <a:ext uri="{FF2B5EF4-FFF2-40B4-BE49-F238E27FC236}">
                <a16:creationId xmlns:a16="http://schemas.microsoft.com/office/drawing/2014/main" id="{D110E65C-2F0C-40A9-A01A-A05E6F71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6280" y="9251950"/>
            <a:ext cx="114687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Maestro</a:t>
            </a:r>
            <a:endParaRPr sz="2100"/>
          </a:p>
        </p:txBody>
      </p:sp>
      <p:sp>
        <p:nvSpPr>
          <p:cNvPr id="36" name="Text 36">
            <a:extLst xmlns:a="http://schemas.openxmlformats.org/drawingml/2006/main">
              <a:ext uri="{FF2B5EF4-FFF2-40B4-BE49-F238E27FC236}">
                <a16:creationId xmlns:a16="http://schemas.microsoft.com/office/drawing/2014/main" id="{AACDD88C-AECA-459C-80BC-D632483C1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300" y="9296400"/>
            <a:ext cx="2333754" cy="349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Manrope"/>
                <a:ea typeface="Manrope"/>
                <a:cs typeface="Manrope"/>
              </a:rPr>
              <a:t>orquestração futura</a:t>
            </a:r>
            <a:endParaRPr sz="1800"/>
          </a:p>
        </p:txBody>
      </p:sp>
      <p:sp>
        <p:nvSpPr>
          <p:cNvPr id="37" name="Text 37">
            <a:extLst xmlns:a="http://schemas.openxmlformats.org/drawingml/2006/main">
              <a:ext uri="{FF2B5EF4-FFF2-40B4-BE49-F238E27FC236}">
                <a16:creationId xmlns:a16="http://schemas.microsoft.com/office/drawing/2014/main" id="{B304D4ED-23FA-42DB-8820-AD0A3B3E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696200"/>
            <a:ext cx="666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80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INTEGRAÇÕES PROPOSTAS ENTRE AGENTES</a:t>
            </a:r>
            <a:endParaRPr sz="1800"/>
          </a:p>
        </p:txBody>
      </p:sp>
      <p:sp>
        <p:nvSpPr>
          <p:cNvPr id="38" name="Text 38">
            <a:extLst xmlns:a="http://schemas.openxmlformats.org/drawingml/2006/main">
              <a:ext uri="{FF2B5EF4-FFF2-40B4-BE49-F238E27FC236}">
                <a16:creationId xmlns:a16="http://schemas.microsoft.com/office/drawing/2014/main" id="{A16EF4E6-5903-4AD5-807D-B501AC36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0962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LogiPredict → SentimentDesk</a:t>
            </a:r>
            <a:endParaRPr sz="2100"/>
          </a:p>
        </p:txBody>
      </p:sp>
      <p:sp>
        <p:nvSpPr>
          <p:cNvPr id="39" name="Text 39">
            <a:extLst xmlns:a="http://schemas.openxmlformats.org/drawingml/2006/main">
              <a:ext uri="{FF2B5EF4-FFF2-40B4-BE49-F238E27FC236}">
                <a16:creationId xmlns:a16="http://schemas.microsoft.com/office/drawing/2014/main" id="{C10231F2-6C84-4F13-9CC2-FC84E817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477250"/>
            <a:ext cx="53340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contexto de risco ou atraso para a triagem</a:t>
            </a:r>
            <a:endParaRPr sz="1950"/>
          </a:p>
        </p:txBody>
      </p:sp>
      <p:sp>
        <p:nvSpPr>
          <p:cNvPr id="40" name="Text 40">
            <a:extLst xmlns:a="http://schemas.openxmlformats.org/drawingml/2006/main">
              <a:ext uri="{FF2B5EF4-FFF2-40B4-BE49-F238E27FC236}">
                <a16:creationId xmlns:a16="http://schemas.microsoft.com/office/drawing/2014/main" id="{D0E19172-E3DC-49EC-8C35-0CD10313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80962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SentimentDesk → WinBack</a:t>
            </a:r>
            <a:endParaRPr sz="2100"/>
          </a:p>
        </p:txBody>
      </p:sp>
      <p:sp>
        <p:nvSpPr>
          <p:cNvPr id="41" name="Text 41">
            <a:extLst xmlns:a="http://schemas.openxmlformats.org/drawingml/2006/main">
              <a:ext uri="{FF2B5EF4-FFF2-40B4-BE49-F238E27FC236}">
                <a16:creationId xmlns:a16="http://schemas.microsoft.com/office/drawing/2014/main" id="{754B7B1A-9976-4684-B109-87EA82B1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8477250"/>
            <a:ext cx="53340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suspende ofertas com problema em aberto</a:t>
            </a:r>
            <a:endParaRPr sz="1950"/>
          </a:p>
        </p:txBody>
      </p:sp>
      <p:sp>
        <p:nvSpPr>
          <p:cNvPr id="42" name="Text 42">
            <a:extLst xmlns:a="http://schemas.openxmlformats.org/drawingml/2006/main">
              <a:ext uri="{FF2B5EF4-FFF2-40B4-BE49-F238E27FC236}">
                <a16:creationId xmlns:a16="http://schemas.microsoft.com/office/drawing/2014/main" id="{AC3398E0-8A9E-4680-83F8-F49B4350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80962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SentimentDesk → LogiPredict</a:t>
            </a:r>
            <a:endParaRPr sz="2100"/>
          </a:p>
        </p:txBody>
      </p:sp>
      <p:sp>
        <p:nvSpPr>
          <p:cNvPr id="43" name="Text 43">
            <a:extLst xmlns:a="http://schemas.openxmlformats.org/drawingml/2006/main">
              <a:ext uri="{FF2B5EF4-FFF2-40B4-BE49-F238E27FC236}">
                <a16:creationId xmlns:a16="http://schemas.microsoft.com/office/drawing/2014/main" id="{D9462DCA-DE8D-4380-940F-EC15498B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8477250"/>
            <a:ext cx="53340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histórico de falhas por rota, não intervenção</a:t>
            </a:r>
            <a:endParaRPr sz="1950"/>
          </a:p>
        </p:txBody>
      </p:sp>
    </p:spTree>
    <p:extLst>
      <p:ext uri="{BB962C8B-B14F-4D97-AF65-F5344CB8AC3E}">
        <p14:creationId xmlns:p14="http://schemas.microsoft.com/office/powerpoint/2010/main" val="18001575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632B6404-DB84-4ACE-B4A4-A54D5E09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6263"/>
            <a:ext cx="5129828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OLIST · FROM INSIGHT TO IMPACT</a:t>
            </a:r>
            <a:endParaRPr sz="1800"/>
          </a:p>
        </p:txBody>
      </p:sp>
      <p:sp>
        <p:nvSpPr>
          <p:cNvPr id="3" name="Text 3">
            <a:extLst xmlns:a="http://schemas.openxmlformats.org/drawingml/2006/main">
              <a:ext uri="{FF2B5EF4-FFF2-40B4-BE49-F238E27FC236}">
                <a16:creationId xmlns:a16="http://schemas.microsoft.com/office/drawing/2014/main" id="{C6FA5C9D-B33C-4BD6-94AE-5B1C500B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318" y="533400"/>
            <a:ext cx="1703927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DESCOBRIR</a:t>
            </a:r>
            <a:endParaRPr sz="1800"/>
          </a:p>
        </p:txBody>
      </p:sp>
      <p:sp>
        <p:nvSpPr>
          <p:cNvPr id="4" name="Shape 4">
            <a:extLst xmlns:a="http://schemas.openxmlformats.org/drawingml/2006/main">
              <a:ext uri="{FF2B5EF4-FFF2-40B4-BE49-F238E27FC236}">
                <a16:creationId xmlns:a16="http://schemas.microsoft.com/office/drawing/2014/main" id="{930DBB97-1CCE-4874-AB5D-6F584B54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82" y="890587"/>
            <a:ext cx="1243608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 5">
            <a:extLst xmlns:a="http://schemas.openxmlformats.org/drawingml/2006/main">
              <a:ext uri="{FF2B5EF4-FFF2-40B4-BE49-F238E27FC236}">
                <a16:creationId xmlns:a16="http://schemas.microsoft.com/office/drawing/2014/main" id="{4F6B562C-6403-4DE2-8D38-53F5400B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50" y="535019"/>
            <a:ext cx="1548384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DESENHAR</a:t>
            </a:r>
            <a:endParaRPr sz="1800"/>
          </a:p>
        </p:txBody>
      </p:sp>
      <p:sp>
        <p:nvSpPr>
          <p:cNvPr id="6" name="Text 6">
            <a:extLst xmlns:a="http://schemas.openxmlformats.org/drawingml/2006/main">
              <a:ext uri="{FF2B5EF4-FFF2-40B4-BE49-F238E27FC236}">
                <a16:creationId xmlns:a16="http://schemas.microsoft.com/office/drawing/2014/main" id="{EE88CA04-B077-4DDD-9F08-F6845EA0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9029" y="533400"/>
            <a:ext cx="1393031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ESCALAR</a:t>
            </a:r>
            <a:endParaRPr sz="1800"/>
          </a:p>
        </p:txBody>
      </p:sp>
      <p:sp>
        <p:nvSpPr>
          <p:cNvPr id="7" name="Text 7">
            <a:extLst xmlns:a="http://schemas.openxmlformats.org/drawingml/2006/main">
              <a:ext uri="{FF2B5EF4-FFF2-40B4-BE49-F238E27FC236}">
                <a16:creationId xmlns:a16="http://schemas.microsoft.com/office/drawing/2014/main" id="{918EB761-CD71-4615-9E57-1295E4A0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8221" y="533400"/>
            <a:ext cx="85348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06/12</a:t>
            </a:r>
            <a:endParaRPr sz="1800"/>
          </a:p>
        </p:txBody>
      </p:sp>
      <p:sp>
        <p:nvSpPr>
          <p:cNvPr id="8" name="Text 8">
            <a:extLst xmlns:a="http://schemas.openxmlformats.org/drawingml/2006/main">
              <a:ext uri="{FF2B5EF4-FFF2-40B4-BE49-F238E27FC236}">
                <a16:creationId xmlns:a16="http://schemas.microsoft.com/office/drawing/2014/main" id="{B7DD0528-15B4-4BF8-B4E8-04128C5F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28750"/>
            <a:ext cx="1638300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PAPEL DOS AGENTES · COMPORTAMENTO PROPOSTO</a:t>
            </a:r>
            <a:endParaRPr sz="1800"/>
          </a:p>
        </p:txBody>
      </p:sp>
      <p:sp>
        <p:nvSpPr>
          <p:cNvPr id="9" name="Text 9">
            <a:extLst xmlns:a="http://schemas.openxmlformats.org/drawingml/2006/main">
              <a:ext uri="{FF2B5EF4-FFF2-40B4-BE49-F238E27FC236}">
                <a16:creationId xmlns:a16="http://schemas.microsoft.com/office/drawing/2014/main" id="{02C4EC0D-0C18-4736-9EA3-602ECEF2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98650"/>
            <a:ext cx="14716125" cy="1318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1951"/>
              </a:lnSpc>
              <a:buNone/>
            </a:pPr>
            <a:r>
              <a:rPr sz="4500" b="1" spc="-9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Cada agente tem uma missão, uma decisão e um limite.</a:t>
            </a:r>
            <a:endParaRPr sz="4500"/>
          </a:p>
        </p:txBody>
      </p:sp>
      <p:sp>
        <p:nvSpPr>
          <p:cNvPr id="10" name="Shape 10">
            <a:extLst xmlns:a="http://schemas.openxmlformats.org/drawingml/2006/main">
              <a:ext uri="{FF2B5EF4-FFF2-40B4-BE49-F238E27FC236}">
                <a16:creationId xmlns:a16="http://schemas.microsoft.com/office/drawing/2014/main" id="{F98F014A-379D-469E-A6C3-5166E155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712171"/>
            <a:ext cx="9525" cy="164812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11">
            <a:extLst xmlns:a="http://schemas.openxmlformats.org/drawingml/2006/main">
              <a:ext uri="{FF2B5EF4-FFF2-40B4-BE49-F238E27FC236}">
                <a16:creationId xmlns:a16="http://schemas.microsoft.com/office/drawing/2014/main" id="{ECF63E7D-D734-4665-B35F-A1CB0D10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250" y="3712171"/>
            <a:ext cx="4477385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600" b="1" spc="-72">
                <a:solidFill>
                  <a:srgbClr val="8E7CFF"/>
                </a:solidFill>
                <a:latin typeface="Manrope"/>
                <a:ea typeface="Manrope"/>
                <a:cs typeface="Manrope"/>
              </a:rPr>
              <a:t>LogiPredict</a:t>
            </a:r>
            <a:endParaRPr sz="3600"/>
          </a:p>
        </p:txBody>
      </p:sp>
      <p:sp>
        <p:nvSpPr>
          <p:cNvPr id="12" name="Text 12">
            <a:extLst xmlns:a="http://schemas.openxmlformats.org/drawingml/2006/main">
              <a:ext uri="{FF2B5EF4-FFF2-40B4-BE49-F238E27FC236}">
                <a16:creationId xmlns:a16="http://schemas.microsoft.com/office/drawing/2014/main" id="{106BB3DD-BB48-4FE7-A5DC-9DFA6CE0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250" y="4397971"/>
            <a:ext cx="4477385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GUARDIÃO DO PRAZO · PILOTO</a:t>
            </a:r>
            <a:endParaRPr sz="1800"/>
          </a:p>
        </p:txBody>
      </p:sp>
      <p:sp>
        <p:nvSpPr>
          <p:cNvPr id="13" name="Shape 13">
            <a:extLst xmlns:a="http://schemas.openxmlformats.org/drawingml/2006/main">
              <a:ext uri="{FF2B5EF4-FFF2-40B4-BE49-F238E27FC236}">
                <a16:creationId xmlns:a16="http://schemas.microsoft.com/office/drawing/2014/main" id="{B036A1D8-0F5C-490A-BE6E-2D7A8BC4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12171"/>
            <a:ext cx="9525" cy="164812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4">
            <a:extLst xmlns:a="http://schemas.openxmlformats.org/drawingml/2006/main">
              <a:ext uri="{FF2B5EF4-FFF2-40B4-BE49-F238E27FC236}">
                <a16:creationId xmlns:a16="http://schemas.microsoft.com/office/drawing/2014/main" id="{68E40F05-5AA8-42D0-92F5-236A24E3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750" y="3712171"/>
            <a:ext cx="4477385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600" b="1" spc="-72">
                <a:solidFill>
                  <a:srgbClr val="8E7CFF"/>
                </a:solidFill>
                <a:latin typeface="Manrope"/>
                <a:ea typeface="Manrope"/>
                <a:cs typeface="Manrope"/>
              </a:rPr>
              <a:t>SentimentDesk</a:t>
            </a:r>
            <a:endParaRPr sz="3600"/>
          </a:p>
        </p:txBody>
      </p:sp>
      <p:sp>
        <p:nvSpPr>
          <p:cNvPr id="15" name="Text 15">
            <a:extLst xmlns:a="http://schemas.openxmlformats.org/drawingml/2006/main">
              <a:ext uri="{FF2B5EF4-FFF2-40B4-BE49-F238E27FC236}">
                <a16:creationId xmlns:a16="http://schemas.microsoft.com/office/drawing/2014/main" id="{BE15DBBE-3A53-4049-9E2A-311B85F3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750" y="4397971"/>
            <a:ext cx="4192461" cy="635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TRIAGEM DE AVALIAÇÕES · PILOTO</a:t>
            </a:r>
            <a:endParaRPr sz="1800"/>
          </a:p>
        </p:txBody>
      </p:sp>
      <p:sp>
        <p:nvSpPr>
          <p:cNvPr id="16" name="Shape 16">
            <a:extLst xmlns:a="http://schemas.openxmlformats.org/drawingml/2006/main">
              <a:ext uri="{FF2B5EF4-FFF2-40B4-BE49-F238E27FC236}">
                <a16:creationId xmlns:a16="http://schemas.microsoft.com/office/drawing/2014/main" id="{89BDDF32-A340-41B8-B484-6F554026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3712171"/>
            <a:ext cx="9525" cy="164812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7">
            <a:extLst xmlns:a="http://schemas.openxmlformats.org/drawingml/2006/main">
              <a:ext uri="{FF2B5EF4-FFF2-40B4-BE49-F238E27FC236}">
                <a16:creationId xmlns:a16="http://schemas.microsoft.com/office/drawing/2014/main" id="{533C4590-F6BE-46F9-A4A1-9546906B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2251" y="3712171"/>
            <a:ext cx="4477385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600" b="1" spc="-72">
                <a:solidFill>
                  <a:srgbClr val="8E7CFF"/>
                </a:solidFill>
                <a:latin typeface="Manrope"/>
                <a:ea typeface="Manrope"/>
                <a:cs typeface="Manrope"/>
              </a:rPr>
              <a:t>WinBack</a:t>
            </a:r>
            <a:endParaRPr sz="3600"/>
          </a:p>
        </p:txBody>
      </p:sp>
      <p:sp>
        <p:nvSpPr>
          <p:cNvPr id="18" name="Text 18">
            <a:extLst xmlns:a="http://schemas.openxmlformats.org/drawingml/2006/main">
              <a:ext uri="{FF2B5EF4-FFF2-40B4-BE49-F238E27FC236}">
                <a16:creationId xmlns:a16="http://schemas.microsoft.com/office/drawing/2014/main" id="{A789C058-D918-4CFD-A3CB-88A0A3E6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2251" y="4397971"/>
            <a:ext cx="4477385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SEGUNDA COMPRA · EXPANSÃO</a:t>
            </a:r>
            <a:endParaRPr sz="1800"/>
          </a:p>
        </p:txBody>
      </p:sp>
      <p:sp>
        <p:nvSpPr>
          <p:cNvPr id="19" name="Shape 19">
            <a:extLst xmlns:a="http://schemas.openxmlformats.org/drawingml/2006/main">
              <a:ext uri="{FF2B5EF4-FFF2-40B4-BE49-F238E27FC236}">
                <a16:creationId xmlns:a16="http://schemas.microsoft.com/office/drawing/2014/main" id="{43FE1B4C-3A2B-4D15-8844-F27BEFC2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60293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20">
            <a:extLst xmlns:a="http://schemas.openxmlformats.org/drawingml/2006/main">
              <a:ext uri="{FF2B5EF4-FFF2-40B4-BE49-F238E27FC236}">
                <a16:creationId xmlns:a16="http://schemas.microsoft.com/office/drawing/2014/main" id="{631AE798-3F03-4755-AC8B-ED2835DD4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8893"/>
            <a:ext cx="2171700" cy="11577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 spc="23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MISSÃO</a:t>
            </a:r>
            <a:endParaRPr sz="1950"/>
          </a:p>
        </p:txBody>
      </p:sp>
      <p:sp>
        <p:nvSpPr>
          <p:cNvPr id="21" name="Shape 21">
            <a:extLst xmlns:a="http://schemas.openxmlformats.org/drawingml/2006/main">
              <a:ext uri="{FF2B5EF4-FFF2-40B4-BE49-F238E27FC236}">
                <a16:creationId xmlns:a16="http://schemas.microsoft.com/office/drawing/2014/main" id="{11FA06EF-C23F-46DA-85C3-59A87B75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360293"/>
            <a:ext cx="476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Shape 22">
            <a:extLst xmlns:a="http://schemas.openxmlformats.org/drawingml/2006/main">
              <a:ext uri="{FF2B5EF4-FFF2-40B4-BE49-F238E27FC236}">
                <a16:creationId xmlns:a16="http://schemas.microsoft.com/office/drawing/2014/main" id="{89F49BEE-D2B6-4908-9998-13541CD8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360293"/>
            <a:ext cx="9525" cy="13482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Text 23">
            <a:extLst xmlns:a="http://schemas.openxmlformats.org/drawingml/2006/main">
              <a:ext uri="{FF2B5EF4-FFF2-40B4-BE49-F238E27FC236}">
                <a16:creationId xmlns:a16="http://schemas.microsoft.com/office/drawing/2014/main" id="{1617ED18-B06C-47E4-B8A6-BC6C5509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250" y="5588893"/>
            <a:ext cx="4213225" cy="94823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6000"/>
              </a:lnSpc>
              <a:buNone/>
            </a:pPr>
            <a:r>
              <a:rPr sz="255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Antecipar riscos de atraso</a:t>
            </a:r>
            <a:endParaRPr sz="2550"/>
          </a:p>
        </p:txBody>
      </p:sp>
      <p:sp>
        <p:nvSpPr>
          <p:cNvPr id="24" name="Shape 24">
            <a:extLst xmlns:a="http://schemas.openxmlformats.org/drawingml/2006/main">
              <a:ext uri="{FF2B5EF4-FFF2-40B4-BE49-F238E27FC236}">
                <a16:creationId xmlns:a16="http://schemas.microsoft.com/office/drawing/2014/main" id="{6020DDEA-772C-477E-9C4F-33EF1361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60293"/>
            <a:ext cx="476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5">
            <a:extLst xmlns:a="http://schemas.openxmlformats.org/drawingml/2006/main">
              <a:ext uri="{FF2B5EF4-FFF2-40B4-BE49-F238E27FC236}">
                <a16:creationId xmlns:a16="http://schemas.microsoft.com/office/drawing/2014/main" id="{72C08494-8564-49EC-A307-BDBC4BCF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60293"/>
            <a:ext cx="9525" cy="13482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6">
            <a:extLst xmlns:a="http://schemas.openxmlformats.org/drawingml/2006/main">
              <a:ext uri="{FF2B5EF4-FFF2-40B4-BE49-F238E27FC236}">
                <a16:creationId xmlns:a16="http://schemas.microsoft.com/office/drawing/2014/main" id="{E199118E-3034-4100-B294-C7B7829C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750" y="5588893"/>
            <a:ext cx="4213225" cy="94823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6000"/>
              </a:lnSpc>
              <a:buNone/>
            </a:pPr>
            <a:r>
              <a:rPr sz="255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Interpretar e encaminhar avaliações negativas</a:t>
            </a:r>
            <a:endParaRPr sz="2550"/>
          </a:p>
        </p:txBody>
      </p:sp>
      <p:sp>
        <p:nvSpPr>
          <p:cNvPr id="27" name="Shape 27">
            <a:extLst xmlns:a="http://schemas.openxmlformats.org/drawingml/2006/main">
              <a:ext uri="{FF2B5EF4-FFF2-40B4-BE49-F238E27FC236}">
                <a16:creationId xmlns:a16="http://schemas.microsoft.com/office/drawing/2014/main" id="{A2A6A759-2FFD-4690-B910-33244428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5360293"/>
            <a:ext cx="476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Shape 28">
            <a:extLst xmlns:a="http://schemas.openxmlformats.org/drawingml/2006/main">
              <a:ext uri="{FF2B5EF4-FFF2-40B4-BE49-F238E27FC236}">
                <a16:creationId xmlns:a16="http://schemas.microsoft.com/office/drawing/2014/main" id="{BA6C83E1-522A-4B56-9981-FF1C9709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5360293"/>
            <a:ext cx="9525" cy="13482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9">
            <a:extLst xmlns:a="http://schemas.openxmlformats.org/drawingml/2006/main">
              <a:ext uri="{FF2B5EF4-FFF2-40B4-BE49-F238E27FC236}">
                <a16:creationId xmlns:a16="http://schemas.microsoft.com/office/drawing/2014/main" id="{79BA9A5B-273E-4712-86B1-C8571B5D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2250" y="5588893"/>
            <a:ext cx="4213225" cy="94823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6000"/>
              </a:lnSpc>
              <a:buNone/>
            </a:pPr>
            <a:r>
              <a:rPr sz="255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Apoiar a conversão da 1ª para a 2ª compra</a:t>
            </a:r>
            <a:endParaRPr sz="2550"/>
          </a:p>
        </p:txBody>
      </p:sp>
      <p:sp>
        <p:nvSpPr>
          <p:cNvPr id="30" name="Shape 30">
            <a:extLst xmlns:a="http://schemas.openxmlformats.org/drawingml/2006/main">
              <a:ext uri="{FF2B5EF4-FFF2-40B4-BE49-F238E27FC236}">
                <a16:creationId xmlns:a16="http://schemas.microsoft.com/office/drawing/2014/main" id="{2D222C59-2DC9-49D7-86FF-10A175BC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708577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Text 31">
            <a:extLst xmlns:a="http://schemas.openxmlformats.org/drawingml/2006/main">
              <a:ext uri="{FF2B5EF4-FFF2-40B4-BE49-F238E27FC236}">
                <a16:creationId xmlns:a16="http://schemas.microsoft.com/office/drawing/2014/main" id="{8F0CE224-5482-4499-866A-EB3E93D8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937177"/>
            <a:ext cx="2171700" cy="10853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 spc="234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DECISÃO</a:t>
            </a:r>
            <a:endParaRPr sz="1950"/>
          </a:p>
        </p:txBody>
      </p:sp>
      <p:sp>
        <p:nvSpPr>
          <p:cNvPr id="32" name="Shape 32">
            <a:extLst xmlns:a="http://schemas.openxmlformats.org/drawingml/2006/main">
              <a:ext uri="{FF2B5EF4-FFF2-40B4-BE49-F238E27FC236}">
                <a16:creationId xmlns:a16="http://schemas.microsoft.com/office/drawing/2014/main" id="{94316C13-A278-49D7-A33A-4B65C1EF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6708577"/>
            <a:ext cx="476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Shape 33">
            <a:extLst xmlns:a="http://schemas.openxmlformats.org/drawingml/2006/main">
              <a:ext uri="{FF2B5EF4-FFF2-40B4-BE49-F238E27FC236}">
                <a16:creationId xmlns:a16="http://schemas.microsoft.com/office/drawing/2014/main" id="{91E34951-CBA1-4142-B6F2-6BA616B6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6708577"/>
            <a:ext cx="9525" cy="12758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Text 34">
            <a:extLst xmlns:a="http://schemas.openxmlformats.org/drawingml/2006/main">
              <a:ext uri="{FF2B5EF4-FFF2-40B4-BE49-F238E27FC236}">
                <a16:creationId xmlns:a16="http://schemas.microsoft.com/office/drawing/2014/main" id="{478A166F-794E-4C07-AAFA-27ED36E2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250" y="6937177"/>
            <a:ext cx="4213225" cy="875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759"/>
              </a:lnSpc>
              <a:buNone/>
            </a:pPr>
            <a:r>
              <a:rPr sz="225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Quando alertar e qual intervenção recomendar</a:t>
            </a:r>
            <a:endParaRPr sz="2250"/>
          </a:p>
        </p:txBody>
      </p:sp>
      <p:sp>
        <p:nvSpPr>
          <p:cNvPr id="35" name="Shape 35">
            <a:extLst xmlns:a="http://schemas.openxmlformats.org/drawingml/2006/main">
              <a:ext uri="{FF2B5EF4-FFF2-40B4-BE49-F238E27FC236}">
                <a16:creationId xmlns:a16="http://schemas.microsoft.com/office/drawing/2014/main" id="{72C29B75-C3DE-4EAB-9FD6-58FAB5B4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708577"/>
            <a:ext cx="476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" name="Shape 36">
            <a:extLst xmlns:a="http://schemas.openxmlformats.org/drawingml/2006/main">
              <a:ext uri="{FF2B5EF4-FFF2-40B4-BE49-F238E27FC236}">
                <a16:creationId xmlns:a16="http://schemas.microsoft.com/office/drawing/2014/main" id="{83EF1A5C-98D5-4BE2-ADD1-047362A3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6708577"/>
            <a:ext cx="9525" cy="12758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Text 37">
            <a:extLst xmlns:a="http://schemas.openxmlformats.org/drawingml/2006/main">
              <a:ext uri="{FF2B5EF4-FFF2-40B4-BE49-F238E27FC236}">
                <a16:creationId xmlns:a16="http://schemas.microsoft.com/office/drawing/2014/main" id="{5066282C-460C-4A7F-808A-19A178145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750" y="6937177"/>
            <a:ext cx="4213225" cy="875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759"/>
              </a:lnSpc>
              <a:buNone/>
            </a:pPr>
            <a:r>
              <a:rPr sz="225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Motivo, prioridade e tratamento adequado</a:t>
            </a:r>
            <a:endParaRPr sz="2250"/>
          </a:p>
        </p:txBody>
      </p:sp>
      <p:sp>
        <p:nvSpPr>
          <p:cNvPr id="38" name="Shape 38">
            <a:extLst xmlns:a="http://schemas.openxmlformats.org/drawingml/2006/main">
              <a:ext uri="{FF2B5EF4-FFF2-40B4-BE49-F238E27FC236}">
                <a16:creationId xmlns:a16="http://schemas.microsoft.com/office/drawing/2014/main" id="{E115F92A-482F-481C-8326-B27DD451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6708577"/>
            <a:ext cx="476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Shape 39">
            <a:extLst xmlns:a="http://schemas.openxmlformats.org/drawingml/2006/main">
              <a:ext uri="{FF2B5EF4-FFF2-40B4-BE49-F238E27FC236}">
                <a16:creationId xmlns:a16="http://schemas.microsoft.com/office/drawing/2014/main" id="{3C440C8E-A804-41F1-B801-796840C9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6708577"/>
            <a:ext cx="9525" cy="12758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Text 40">
            <a:extLst xmlns:a="http://schemas.openxmlformats.org/drawingml/2006/main">
              <a:ext uri="{FF2B5EF4-FFF2-40B4-BE49-F238E27FC236}">
                <a16:creationId xmlns:a16="http://schemas.microsoft.com/office/drawing/2014/main" id="{84D295B2-C3F9-4724-9A7A-D7B40307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2250" y="6937177"/>
            <a:ext cx="4213225" cy="875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759"/>
              </a:lnSpc>
              <a:buNone/>
            </a:pPr>
            <a:r>
              <a:rPr sz="225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Elegibilidade, momento e abordagem do contato</a:t>
            </a:r>
            <a:endParaRPr sz="2250"/>
          </a:p>
        </p:txBody>
      </p:sp>
      <p:sp>
        <p:nvSpPr>
          <p:cNvPr id="41" name="Shape 41">
            <a:extLst xmlns:a="http://schemas.openxmlformats.org/drawingml/2006/main">
              <a:ext uri="{FF2B5EF4-FFF2-40B4-BE49-F238E27FC236}">
                <a16:creationId xmlns:a16="http://schemas.microsoft.com/office/drawing/2014/main" id="{02EF8285-29A2-4D41-AA38-F5C28465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984431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Text 42">
            <a:extLst xmlns:a="http://schemas.openxmlformats.org/drawingml/2006/main">
              <a:ext uri="{FF2B5EF4-FFF2-40B4-BE49-F238E27FC236}">
                <a16:creationId xmlns:a16="http://schemas.microsoft.com/office/drawing/2014/main" id="{8E95EE72-D6DD-4448-9625-1D092D44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213031"/>
            <a:ext cx="2171700" cy="1445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 spc="234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LIMITE</a:t>
            </a:r>
            <a:endParaRPr sz="1950"/>
          </a:p>
        </p:txBody>
      </p:sp>
      <p:sp>
        <p:nvSpPr>
          <p:cNvPr id="43" name="Shape 43">
            <a:extLst xmlns:a="http://schemas.openxmlformats.org/drawingml/2006/main">
              <a:ext uri="{FF2B5EF4-FFF2-40B4-BE49-F238E27FC236}">
                <a16:creationId xmlns:a16="http://schemas.microsoft.com/office/drawing/2014/main" id="{A3BAC89F-92BC-47BE-8EEC-08947BD8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984431"/>
            <a:ext cx="476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" name="Shape 44">
            <a:extLst xmlns:a="http://schemas.openxmlformats.org/drawingml/2006/main">
              <a:ext uri="{FF2B5EF4-FFF2-40B4-BE49-F238E27FC236}">
                <a16:creationId xmlns:a16="http://schemas.microsoft.com/office/drawing/2014/main" id="{09C831AB-2FB9-46BB-8DFF-0F1B95B7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984431"/>
            <a:ext cx="9525" cy="163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Text 45">
            <a:extLst xmlns:a="http://schemas.openxmlformats.org/drawingml/2006/main">
              <a:ext uri="{FF2B5EF4-FFF2-40B4-BE49-F238E27FC236}">
                <a16:creationId xmlns:a16="http://schemas.microsoft.com/office/drawing/2014/main" id="{15D6AF85-C70F-474E-B7EF-FC6D513A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250" y="8213031"/>
            <a:ext cx="4213225" cy="12357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759"/>
              </a:lnSpc>
              <a:buNone/>
            </a:pPr>
            <a:r>
              <a:rPr sz="225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Não altera transportadora nem concede compensação sozinho</a:t>
            </a:r>
            <a:endParaRPr sz="2250"/>
          </a:p>
        </p:txBody>
      </p:sp>
      <p:sp>
        <p:nvSpPr>
          <p:cNvPr id="46" name="Shape 46">
            <a:extLst xmlns:a="http://schemas.openxmlformats.org/drawingml/2006/main">
              <a:ext uri="{FF2B5EF4-FFF2-40B4-BE49-F238E27FC236}">
                <a16:creationId xmlns:a16="http://schemas.microsoft.com/office/drawing/2014/main" id="{0AC48F14-8E6B-46CE-A669-BE1F1394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7984431"/>
            <a:ext cx="476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Shape 47">
            <a:extLst xmlns:a="http://schemas.openxmlformats.org/drawingml/2006/main">
              <a:ext uri="{FF2B5EF4-FFF2-40B4-BE49-F238E27FC236}">
                <a16:creationId xmlns:a16="http://schemas.microsoft.com/office/drawing/2014/main" id="{D0299C7B-22A1-4EE3-B519-F667AD31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7984431"/>
            <a:ext cx="9525" cy="163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" name="Text 48">
            <a:extLst xmlns:a="http://schemas.openxmlformats.org/drawingml/2006/main">
              <a:ext uri="{FF2B5EF4-FFF2-40B4-BE49-F238E27FC236}">
                <a16:creationId xmlns:a16="http://schemas.microsoft.com/office/drawing/2014/main" id="{C1C38A8D-B888-4F5E-8DB1-96C088C7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750" y="8213031"/>
            <a:ext cx="4213225" cy="12357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759"/>
              </a:lnSpc>
              <a:buNone/>
            </a:pPr>
            <a:r>
              <a:rPr sz="225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Casos críticos ou de baixa confiança vão para uma pessoa</a:t>
            </a:r>
            <a:endParaRPr sz="2250"/>
          </a:p>
        </p:txBody>
      </p:sp>
      <p:sp>
        <p:nvSpPr>
          <p:cNvPr id="49" name="Shape 49">
            <a:extLst xmlns:a="http://schemas.openxmlformats.org/drawingml/2006/main">
              <a:ext uri="{FF2B5EF4-FFF2-40B4-BE49-F238E27FC236}">
                <a16:creationId xmlns:a16="http://schemas.microsoft.com/office/drawing/2014/main" id="{C8F0EBAC-0DAC-4E60-AA96-CC13DE40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984431"/>
            <a:ext cx="476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Shape 50">
            <a:extLst xmlns:a="http://schemas.openxmlformats.org/drawingml/2006/main">
              <a:ext uri="{FF2B5EF4-FFF2-40B4-BE49-F238E27FC236}">
                <a16:creationId xmlns:a16="http://schemas.microsoft.com/office/drawing/2014/main" id="{5F8011E2-1C7E-415C-AA26-B318ECCD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7984431"/>
            <a:ext cx="9525" cy="163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Text 51">
            <a:extLst xmlns:a="http://schemas.openxmlformats.org/drawingml/2006/main">
              <a:ext uri="{FF2B5EF4-FFF2-40B4-BE49-F238E27FC236}">
                <a16:creationId xmlns:a16="http://schemas.microsoft.com/office/drawing/2014/main" id="{FA43832D-FC7A-41A5-BCD6-C2C2A0B1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2250" y="8213031"/>
            <a:ext cx="4213225" cy="12357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7759"/>
              </a:lnSpc>
              <a:buNone/>
            </a:pPr>
            <a:r>
              <a:rPr sz="225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Respeita consentimento, experiência anterior e política econômica</a:t>
            </a:r>
            <a:endParaRPr sz="2250"/>
          </a:p>
        </p:txBody>
      </p:sp>
    </p:spTree>
    <p:extLst>
      <p:ext uri="{BB962C8B-B14F-4D97-AF65-F5344CB8AC3E}">
        <p14:creationId xmlns:p14="http://schemas.microsoft.com/office/powerpoint/2010/main" val="10420004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3714F2FC-AD43-42E3-9809-654C4D88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6263"/>
            <a:ext cx="5129828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OLIST · FROM INSIGHT TO IMPACT</a:t>
            </a:r>
            <a:endParaRPr sz="1800"/>
          </a:p>
        </p:txBody>
      </p:sp>
      <p:sp>
        <p:nvSpPr>
          <p:cNvPr id="3" name="Text 3">
            <a:extLst xmlns:a="http://schemas.openxmlformats.org/drawingml/2006/main">
              <a:ext uri="{FF2B5EF4-FFF2-40B4-BE49-F238E27FC236}">
                <a16:creationId xmlns:a16="http://schemas.microsoft.com/office/drawing/2014/main" id="{0D3C31A8-1870-4B98-B589-FA509938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318" y="533400"/>
            <a:ext cx="1703927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DESCOBRIR</a:t>
            </a:r>
            <a:endParaRPr sz="1800"/>
          </a:p>
        </p:txBody>
      </p:sp>
      <p:sp>
        <p:nvSpPr>
          <p:cNvPr id="4" name="Shape 4">
            <a:extLst xmlns:a="http://schemas.openxmlformats.org/drawingml/2006/main">
              <a:ext uri="{FF2B5EF4-FFF2-40B4-BE49-F238E27FC236}">
                <a16:creationId xmlns:a16="http://schemas.microsoft.com/office/drawing/2014/main" id="{D606842F-4987-4680-850C-6EAE91D9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82" y="890587"/>
            <a:ext cx="1243608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 5">
            <a:extLst xmlns:a="http://schemas.openxmlformats.org/drawingml/2006/main">
              <a:ext uri="{FF2B5EF4-FFF2-40B4-BE49-F238E27FC236}">
                <a16:creationId xmlns:a16="http://schemas.microsoft.com/office/drawing/2014/main" id="{89BED25C-112B-4034-8005-C940585B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50" y="535019"/>
            <a:ext cx="1548384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DESENHAR</a:t>
            </a:r>
            <a:endParaRPr sz="1800"/>
          </a:p>
        </p:txBody>
      </p:sp>
      <p:sp>
        <p:nvSpPr>
          <p:cNvPr id="6" name="Text 6">
            <a:extLst xmlns:a="http://schemas.openxmlformats.org/drawingml/2006/main">
              <a:ext uri="{FF2B5EF4-FFF2-40B4-BE49-F238E27FC236}">
                <a16:creationId xmlns:a16="http://schemas.microsoft.com/office/drawing/2014/main" id="{1ACDEBEB-50DB-451B-92E3-250C898CF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9029" y="533400"/>
            <a:ext cx="1393031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ESCALAR</a:t>
            </a:r>
            <a:endParaRPr sz="1800"/>
          </a:p>
        </p:txBody>
      </p:sp>
      <p:sp>
        <p:nvSpPr>
          <p:cNvPr id="7" name="Text 7">
            <a:extLst xmlns:a="http://schemas.openxmlformats.org/drawingml/2006/main">
              <a:ext uri="{FF2B5EF4-FFF2-40B4-BE49-F238E27FC236}">
                <a16:creationId xmlns:a16="http://schemas.microsoft.com/office/drawing/2014/main" id="{8120BF3C-C040-4B22-8E08-C566BC7B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8221" y="533400"/>
            <a:ext cx="85348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07/12</a:t>
            </a:r>
            <a:endParaRPr sz="1800"/>
          </a:p>
        </p:txBody>
      </p:sp>
      <p:sp>
        <p:nvSpPr>
          <p:cNvPr id="8" name="Text 8">
            <a:extLst xmlns:a="http://schemas.openxmlformats.org/drawingml/2006/main">
              <a:ext uri="{FF2B5EF4-FFF2-40B4-BE49-F238E27FC236}">
                <a16:creationId xmlns:a16="http://schemas.microsoft.com/office/drawing/2014/main" id="{A8AB26F4-DE12-46CB-BE14-B51D0559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28750"/>
            <a:ext cx="1638300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FLUXOS DE DECISÃO · COMPORTAMENTO PROPOSTO</a:t>
            </a:r>
            <a:endParaRPr sz="1800"/>
          </a:p>
        </p:txBody>
      </p:sp>
      <p:sp>
        <p:nvSpPr>
          <p:cNvPr id="9" name="Text 9">
            <a:extLst xmlns:a="http://schemas.openxmlformats.org/drawingml/2006/main">
              <a:ext uri="{FF2B5EF4-FFF2-40B4-BE49-F238E27FC236}">
                <a16:creationId xmlns:a16="http://schemas.microsoft.com/office/drawing/2014/main" id="{901D33F3-A7C4-4E97-98FA-95AA0E53F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98650"/>
            <a:ext cx="14716125" cy="12328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1809"/>
              </a:lnSpc>
              <a:buNone/>
            </a:pPr>
            <a:r>
              <a:rPr sz="4200" b="1" spc="-84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A autonomia é definida pelo contexto, pelas regras e pelo risco.</a:t>
            </a:r>
            <a:endParaRPr sz="4200"/>
          </a:p>
        </p:txBody>
      </p:sp>
      <p:sp>
        <p:nvSpPr>
          <p:cNvPr id="10" name="Text 10">
            <a:extLst xmlns:a="http://schemas.openxmlformats.org/drawingml/2006/main">
              <a:ext uri="{FF2B5EF4-FFF2-40B4-BE49-F238E27FC236}">
                <a16:creationId xmlns:a16="http://schemas.microsoft.com/office/drawing/2014/main" id="{65510DC2-F768-4258-BFC0-6D6484B5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00450"/>
            <a:ext cx="304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GATILHO</a:t>
            </a:r>
            <a:endParaRPr sz="1800"/>
          </a:p>
        </p:txBody>
      </p:sp>
      <p:sp>
        <p:nvSpPr>
          <p:cNvPr id="11" name="Text 11">
            <a:extLst xmlns:a="http://schemas.openxmlformats.org/drawingml/2006/main">
              <a:ext uri="{FF2B5EF4-FFF2-40B4-BE49-F238E27FC236}">
                <a16:creationId xmlns:a16="http://schemas.microsoft.com/office/drawing/2014/main" id="{9E8A5DDC-BE43-4AD9-9541-F6F66729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600450"/>
            <a:ext cx="304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ANÁLISE</a:t>
            </a:r>
            <a:endParaRPr sz="1800"/>
          </a:p>
        </p:txBody>
      </p:sp>
      <p:sp>
        <p:nvSpPr>
          <p:cNvPr id="12" name="Text 12">
            <a:extLst xmlns:a="http://schemas.openxmlformats.org/drawingml/2006/main">
              <a:ext uri="{FF2B5EF4-FFF2-40B4-BE49-F238E27FC236}">
                <a16:creationId xmlns:a16="http://schemas.microsoft.com/office/drawing/2014/main" id="{88FD7536-10B1-4F03-9A0E-3EA11EEE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3600450"/>
            <a:ext cx="304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DECISÃO</a:t>
            </a:r>
            <a:endParaRPr sz="1800"/>
          </a:p>
        </p:txBody>
      </p:sp>
      <p:sp>
        <p:nvSpPr>
          <p:cNvPr id="13" name="Text 13">
            <a:extLst xmlns:a="http://schemas.openxmlformats.org/drawingml/2006/main">
              <a:ext uri="{FF2B5EF4-FFF2-40B4-BE49-F238E27FC236}">
                <a16:creationId xmlns:a16="http://schemas.microsoft.com/office/drawing/2014/main" id="{0281C21C-EB83-4FF3-93EA-31AD91DE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35125" y="3600450"/>
            <a:ext cx="304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AÇÃO</a:t>
            </a:r>
            <a:endParaRPr sz="1800"/>
          </a:p>
        </p:txBody>
      </p:sp>
      <p:sp>
        <p:nvSpPr>
          <p:cNvPr id="14" name="Shape 14">
            <a:extLst xmlns:a="http://schemas.openxmlformats.org/drawingml/2006/main">
              <a:ext uri="{FF2B5EF4-FFF2-40B4-BE49-F238E27FC236}">
                <a16:creationId xmlns:a16="http://schemas.microsoft.com/office/drawing/2014/main" id="{3C65F0B6-2492-4CFF-BC19-93B3E15C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1638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5">
            <a:extLst xmlns:a="http://schemas.openxmlformats.org/drawingml/2006/main">
              <a:ext uri="{FF2B5EF4-FFF2-40B4-BE49-F238E27FC236}">
                <a16:creationId xmlns:a16="http://schemas.microsoft.com/office/drawing/2014/main" id="{7AA701A6-5862-45C0-BC38-F4B5495D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529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5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LogiPredict</a:t>
            </a:r>
            <a:endParaRPr sz="2550"/>
          </a:p>
        </p:txBody>
      </p:sp>
      <p:sp>
        <p:nvSpPr>
          <p:cNvPr id="16" name="Text 16">
            <a:extLst xmlns:a="http://schemas.openxmlformats.org/drawingml/2006/main">
              <a:ext uri="{FF2B5EF4-FFF2-40B4-BE49-F238E27FC236}">
                <a16:creationId xmlns:a16="http://schemas.microsoft.com/office/drawing/2014/main" id="{6DB684F5-7AD7-43FE-B5D1-43A80D66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010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PILOTO</a:t>
            </a:r>
            <a:endParaRPr sz="1800"/>
          </a:p>
        </p:txBody>
      </p:sp>
      <p:sp>
        <p:nvSpPr>
          <p:cNvPr id="17" name="Shape 17">
            <a:extLst xmlns:a="http://schemas.openxmlformats.org/drawingml/2006/main">
              <a:ext uri="{FF2B5EF4-FFF2-40B4-BE49-F238E27FC236}">
                <a16:creationId xmlns:a16="http://schemas.microsoft.com/office/drawing/2014/main" id="{8480213B-0EC0-4C6E-912D-986991A6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352925"/>
            <a:ext cx="33051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829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8">
            <a:extLst xmlns:a="http://schemas.openxmlformats.org/drawingml/2006/main">
              <a:ext uri="{FF2B5EF4-FFF2-40B4-BE49-F238E27FC236}">
                <a16:creationId xmlns:a16="http://schemas.microsoft.com/office/drawing/2014/main" id="{C44E3F88-655D-44C2-9BC7-AE82363F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4348163"/>
            <a:ext cx="33242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9">
            <a:extLst xmlns:a="http://schemas.openxmlformats.org/drawingml/2006/main">
              <a:ext uri="{FF2B5EF4-FFF2-40B4-BE49-F238E27FC236}">
                <a16:creationId xmlns:a16="http://schemas.microsoft.com/office/drawing/2014/main" id="{3C374582-2575-4351-A48D-C67E6650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348163"/>
            <a:ext cx="33051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20">
            <a:extLst xmlns:a="http://schemas.openxmlformats.org/drawingml/2006/main">
              <a:ext uri="{FF2B5EF4-FFF2-40B4-BE49-F238E27FC236}">
                <a16:creationId xmlns:a16="http://schemas.microsoft.com/office/drawing/2014/main" id="{78CA4E68-024B-486A-9DFC-B89F2EE0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2767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D1A"/>
          </a:solidFill>
          <a:ln xmlns:a="http://schemas.openxmlformats.org/drawingml/2006/main" w="19050">
            <a:solidFill>
              <a:srgbClr val="A3A8B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21">
            <a:extLst xmlns:a="http://schemas.openxmlformats.org/drawingml/2006/main">
              <a:ext uri="{FF2B5EF4-FFF2-40B4-BE49-F238E27FC236}">
                <a16:creationId xmlns:a16="http://schemas.microsoft.com/office/drawing/2014/main" id="{55F8CA2E-FF54-43DF-A574-408B7DC4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2862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Shape 22">
            <a:extLst xmlns:a="http://schemas.openxmlformats.org/drawingml/2006/main">
              <a:ext uri="{FF2B5EF4-FFF2-40B4-BE49-F238E27FC236}">
                <a16:creationId xmlns:a16="http://schemas.microsoft.com/office/drawing/2014/main" id="{B7286CC1-C556-41FE-809F-CE6150DB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10553700" y="425767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Shape 23">
            <a:extLst xmlns:a="http://schemas.openxmlformats.org/drawingml/2006/main">
              <a:ext uri="{FF2B5EF4-FFF2-40B4-BE49-F238E27FC236}">
                <a16:creationId xmlns:a16="http://schemas.microsoft.com/office/drawing/2014/main" id="{1F98ECB6-1FD3-448F-8898-0D995330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42767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4">
            <a:extLst xmlns:a="http://schemas.openxmlformats.org/drawingml/2006/main">
              <a:ext uri="{FF2B5EF4-FFF2-40B4-BE49-F238E27FC236}">
                <a16:creationId xmlns:a16="http://schemas.microsoft.com/office/drawing/2014/main" id="{EF5EB6A7-54FE-46CF-A6BE-2D9EAB30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33900"/>
            <a:ext cx="309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Limite de postagem, postagem efetiva ou D-3</a:t>
            </a:r>
            <a:endParaRPr sz="2100"/>
          </a:p>
        </p:txBody>
      </p:sp>
      <p:sp>
        <p:nvSpPr>
          <p:cNvPr id="25" name="Text 25">
            <a:extLst xmlns:a="http://schemas.openxmlformats.org/drawingml/2006/main">
              <a:ext uri="{FF2B5EF4-FFF2-40B4-BE49-F238E27FC236}">
                <a16:creationId xmlns:a16="http://schemas.microsoft.com/office/drawing/2014/main" id="{CA273BE9-491D-4172-A4B6-DBCB15BB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533900"/>
            <a:ext cx="309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Histórico da rota, seller e rastreamento</a:t>
            </a:r>
            <a:endParaRPr sz="2100"/>
          </a:p>
        </p:txBody>
      </p:sp>
      <p:sp>
        <p:nvSpPr>
          <p:cNvPr id="26" name="Text 26">
            <a:extLst xmlns:a="http://schemas.openxmlformats.org/drawingml/2006/main">
              <a:ext uri="{FF2B5EF4-FFF2-40B4-BE49-F238E27FC236}">
                <a16:creationId xmlns:a16="http://schemas.microsoft.com/office/drawing/2014/main" id="{868A6418-E748-4B6F-8A88-7BB7DAEB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533900"/>
            <a:ext cx="309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Há risco de atraso que exija intervenção?</a:t>
            </a:r>
            <a:endParaRPr sz="2100"/>
          </a:p>
        </p:txBody>
      </p:sp>
      <p:sp>
        <p:nvSpPr>
          <p:cNvPr id="27" name="Text 27">
            <a:extLst xmlns:a="http://schemas.openxmlformats.org/drawingml/2006/main">
              <a:ext uri="{FF2B5EF4-FFF2-40B4-BE49-F238E27FC236}">
                <a16:creationId xmlns:a16="http://schemas.microsoft.com/office/drawing/2014/main" id="{7A8A05F9-1AAD-4B5F-BDAA-89710FC7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35125" y="4533900"/>
            <a:ext cx="309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Alerta operacional ou comunicação autorizada</a:t>
            </a:r>
            <a:endParaRPr sz="2100"/>
          </a:p>
        </p:txBody>
      </p:sp>
      <p:sp>
        <p:nvSpPr>
          <p:cNvPr id="28" name="Shape 28">
            <a:extLst xmlns:a="http://schemas.openxmlformats.org/drawingml/2006/main">
              <a:ext uri="{FF2B5EF4-FFF2-40B4-BE49-F238E27FC236}">
                <a16:creationId xmlns:a16="http://schemas.microsoft.com/office/drawing/2014/main" id="{F5F92AAD-B1F8-4CCF-8F5A-B0AEC7D5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476750"/>
            <a:ext cx="285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Shape 29">
            <a:extLst xmlns:a="http://schemas.openxmlformats.org/drawingml/2006/main">
              <a:ext uri="{FF2B5EF4-FFF2-40B4-BE49-F238E27FC236}">
                <a16:creationId xmlns:a16="http://schemas.microsoft.com/office/drawing/2014/main" id="{617BDCE6-0CF5-43C8-81FD-D8F0C728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50545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Shape 30">
            <a:extLst xmlns:a="http://schemas.openxmlformats.org/drawingml/2006/main">
              <a:ext uri="{FF2B5EF4-FFF2-40B4-BE49-F238E27FC236}">
                <a16:creationId xmlns:a16="http://schemas.microsoft.com/office/drawing/2014/main" id="{BDA25BA1-73D7-4D60-B52E-FF5FE94B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54387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D1A"/>
          </a:solidFill>
          <a:ln xmlns:a="http://schemas.openxmlformats.org/drawingml/2006/main" w="19050">
            <a:solidFill>
              <a:srgbClr val="F3F4F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Text 31">
            <a:extLst xmlns:a="http://schemas.openxmlformats.org/drawingml/2006/main">
              <a:ext uri="{FF2B5EF4-FFF2-40B4-BE49-F238E27FC236}">
                <a16:creationId xmlns:a16="http://schemas.microsoft.com/office/drawing/2014/main" id="{7FC303AB-14A1-4295-AC76-E958A7FE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5353050"/>
            <a:ext cx="104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004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HUMANO</a:t>
            </a:r>
            <a:endParaRPr sz="1800"/>
          </a:p>
        </p:txBody>
      </p:sp>
      <p:sp>
        <p:nvSpPr>
          <p:cNvPr id="32" name="Text 32">
            <a:extLst xmlns:a="http://schemas.openxmlformats.org/drawingml/2006/main">
              <a:ext uri="{FF2B5EF4-FFF2-40B4-BE49-F238E27FC236}">
                <a16:creationId xmlns:a16="http://schemas.microsoft.com/office/drawing/2014/main" id="{7F1DD7B1-835E-45B9-A991-CFEF475B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5324475"/>
            <a:ext cx="5219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Analista de operações decide a tratativa</a:t>
            </a:r>
            <a:endParaRPr sz="2100"/>
          </a:p>
        </p:txBody>
      </p:sp>
      <p:sp>
        <p:nvSpPr>
          <p:cNvPr id="33" name="Shape 33">
            <a:extLst xmlns:a="http://schemas.openxmlformats.org/drawingml/2006/main">
              <a:ext uri="{FF2B5EF4-FFF2-40B4-BE49-F238E27FC236}">
                <a16:creationId xmlns:a16="http://schemas.microsoft.com/office/drawing/2014/main" id="{412B6A46-5E6C-4228-A114-D97AA078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15000"/>
            <a:ext cx="1638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Text 34">
            <a:extLst xmlns:a="http://schemas.openxmlformats.org/drawingml/2006/main">
              <a:ext uri="{FF2B5EF4-FFF2-40B4-BE49-F238E27FC236}">
                <a16:creationId xmlns:a16="http://schemas.microsoft.com/office/drawing/2014/main" id="{EE508F01-DEFD-4DA3-956A-7425DEBB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4835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5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SentimentDesk</a:t>
            </a:r>
            <a:endParaRPr sz="2550"/>
          </a:p>
        </p:txBody>
      </p:sp>
      <p:sp>
        <p:nvSpPr>
          <p:cNvPr id="35" name="Text 35">
            <a:extLst xmlns:a="http://schemas.openxmlformats.org/drawingml/2006/main">
              <a:ext uri="{FF2B5EF4-FFF2-40B4-BE49-F238E27FC236}">
                <a16:creationId xmlns:a16="http://schemas.microsoft.com/office/drawing/2014/main" id="{0F7B7D64-38BA-4DC5-9DB0-4FEFA81E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30555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PILOTO</a:t>
            </a:r>
            <a:endParaRPr sz="1800"/>
          </a:p>
        </p:txBody>
      </p:sp>
      <p:sp>
        <p:nvSpPr>
          <p:cNvPr id="36" name="Shape 36">
            <a:extLst xmlns:a="http://schemas.openxmlformats.org/drawingml/2006/main">
              <a:ext uri="{FF2B5EF4-FFF2-40B4-BE49-F238E27FC236}">
                <a16:creationId xmlns:a16="http://schemas.microsoft.com/office/drawing/2014/main" id="{ACA60D3C-36B7-4D8A-A1AD-24942F86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6048375"/>
            <a:ext cx="33051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829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Shape 37">
            <a:extLst xmlns:a="http://schemas.openxmlformats.org/drawingml/2006/main">
              <a:ext uri="{FF2B5EF4-FFF2-40B4-BE49-F238E27FC236}">
                <a16:creationId xmlns:a16="http://schemas.microsoft.com/office/drawing/2014/main" id="{9040128B-09BE-4A8B-8308-D56E8701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6043613"/>
            <a:ext cx="33242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Shape 38">
            <a:extLst xmlns:a="http://schemas.openxmlformats.org/drawingml/2006/main">
              <a:ext uri="{FF2B5EF4-FFF2-40B4-BE49-F238E27FC236}">
                <a16:creationId xmlns:a16="http://schemas.microsoft.com/office/drawing/2014/main" id="{DE35A7C6-0A38-4CD5-BD5A-3AE9A96D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043613"/>
            <a:ext cx="33051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Shape 39">
            <a:extLst xmlns:a="http://schemas.openxmlformats.org/drawingml/2006/main">
              <a:ext uri="{FF2B5EF4-FFF2-40B4-BE49-F238E27FC236}">
                <a16:creationId xmlns:a16="http://schemas.microsoft.com/office/drawing/2014/main" id="{3945F372-B05D-442C-B26F-EB10CF88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972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D1A"/>
          </a:solidFill>
          <a:ln xmlns:a="http://schemas.openxmlformats.org/drawingml/2006/main" w="19050">
            <a:solidFill>
              <a:srgbClr val="A3A8B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Shape 40">
            <a:extLst xmlns:a="http://schemas.openxmlformats.org/drawingml/2006/main">
              <a:ext uri="{FF2B5EF4-FFF2-40B4-BE49-F238E27FC236}">
                <a16:creationId xmlns:a16="http://schemas.microsoft.com/office/drawing/2014/main" id="{A54EAD81-2704-4DEA-91DA-1218AC6F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59817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Shape 41">
            <a:extLst xmlns:a="http://schemas.openxmlformats.org/drawingml/2006/main">
              <a:ext uri="{FF2B5EF4-FFF2-40B4-BE49-F238E27FC236}">
                <a16:creationId xmlns:a16="http://schemas.microsoft.com/office/drawing/2014/main" id="{FF8D9CC4-23D1-4FA9-88AB-690469F4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10553700" y="595312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42">
            <a:extLst xmlns:a="http://schemas.openxmlformats.org/drawingml/2006/main">
              <a:ext uri="{FF2B5EF4-FFF2-40B4-BE49-F238E27FC236}">
                <a16:creationId xmlns:a16="http://schemas.microsoft.com/office/drawing/2014/main" id="{BB837D3F-906D-43E7-B7D9-4CB33F2A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5972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43">
            <a:extLst xmlns:a="http://schemas.openxmlformats.org/drawingml/2006/main">
              <a:ext uri="{FF2B5EF4-FFF2-40B4-BE49-F238E27FC236}">
                <a16:creationId xmlns:a16="http://schemas.microsoft.com/office/drawing/2014/main" id="{6464E77D-A877-4CA2-9FCD-AA23F6D2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6229350"/>
            <a:ext cx="309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Avaliação de 1 a 3 estrelas</a:t>
            </a:r>
            <a:endParaRPr sz="2100"/>
          </a:p>
        </p:txBody>
      </p:sp>
      <p:sp>
        <p:nvSpPr>
          <p:cNvPr id="44" name="Text 44">
            <a:extLst xmlns:a="http://schemas.openxmlformats.org/drawingml/2006/main">
              <a:ext uri="{FF2B5EF4-FFF2-40B4-BE49-F238E27FC236}">
                <a16:creationId xmlns:a16="http://schemas.microsoft.com/office/drawing/2014/main" id="{1405F3EB-FE98-4B96-AD6D-0553DCEE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229350"/>
            <a:ext cx="309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Texto + pedido; sem texto: OUTROS</a:t>
            </a:r>
            <a:endParaRPr sz="2100"/>
          </a:p>
        </p:txBody>
      </p:sp>
      <p:sp>
        <p:nvSpPr>
          <p:cNvPr id="45" name="Text 45">
            <a:extLst xmlns:a="http://schemas.openxmlformats.org/drawingml/2006/main">
              <a:ext uri="{FF2B5EF4-FFF2-40B4-BE49-F238E27FC236}">
                <a16:creationId xmlns:a16="http://schemas.microsoft.com/office/drawing/2014/main" id="{3B805DF9-1385-4933-8955-378A46DF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229350"/>
            <a:ext cx="309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Revisão necessária?</a:t>
            </a:r>
            <a:endParaRPr sz="2100"/>
          </a:p>
        </p:txBody>
      </p:sp>
      <p:sp>
        <p:nvSpPr>
          <p:cNvPr id="46" name="Text 46">
            <a:extLst xmlns:a="http://schemas.openxmlformats.org/drawingml/2006/main">
              <a:ext uri="{FF2B5EF4-FFF2-40B4-BE49-F238E27FC236}">
                <a16:creationId xmlns:a16="http://schemas.microsoft.com/office/drawing/2014/main" id="{259D94D6-D300-4AA7-BAF5-A858ECC2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35125" y="6229350"/>
            <a:ext cx="309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Rascunho; execução confirmada</a:t>
            </a:r>
            <a:endParaRPr sz="2100"/>
          </a:p>
        </p:txBody>
      </p:sp>
      <p:sp>
        <p:nvSpPr>
          <p:cNvPr id="47" name="Shape 47">
            <a:extLst xmlns:a="http://schemas.openxmlformats.org/drawingml/2006/main">
              <a:ext uri="{FF2B5EF4-FFF2-40B4-BE49-F238E27FC236}">
                <a16:creationId xmlns:a16="http://schemas.microsoft.com/office/drawing/2014/main" id="{F58D04BC-52EE-4327-85F2-FB2D56BF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6172200"/>
            <a:ext cx="285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" name="Shape 48">
            <a:extLst xmlns:a="http://schemas.openxmlformats.org/drawingml/2006/main">
              <a:ext uri="{FF2B5EF4-FFF2-40B4-BE49-F238E27FC236}">
                <a16:creationId xmlns:a16="http://schemas.microsoft.com/office/drawing/2014/main" id="{57FD0FF7-3F96-45FB-A3CE-1D38E94E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72009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Shape 49">
            <a:extLst xmlns:a="http://schemas.openxmlformats.org/drawingml/2006/main">
              <a:ext uri="{FF2B5EF4-FFF2-40B4-BE49-F238E27FC236}">
                <a16:creationId xmlns:a16="http://schemas.microsoft.com/office/drawing/2014/main" id="{8C75723C-1784-4D83-9F09-1F1726DA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71342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D1A"/>
          </a:solidFill>
          <a:ln xmlns:a="http://schemas.openxmlformats.org/drawingml/2006/main" w="19050">
            <a:solidFill>
              <a:srgbClr val="F3F4F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Text 50">
            <a:extLst xmlns:a="http://schemas.openxmlformats.org/drawingml/2006/main">
              <a:ext uri="{FF2B5EF4-FFF2-40B4-BE49-F238E27FC236}">
                <a16:creationId xmlns:a16="http://schemas.microsoft.com/office/drawing/2014/main" id="{7FF1ECB6-96EC-4FA2-8F1E-9F8F6666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7048500"/>
            <a:ext cx="104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004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HUMANO</a:t>
            </a:r>
            <a:endParaRPr sz="1800"/>
          </a:p>
        </p:txBody>
      </p:sp>
      <p:sp>
        <p:nvSpPr>
          <p:cNvPr id="51" name="Text 51">
            <a:extLst xmlns:a="http://schemas.openxmlformats.org/drawingml/2006/main">
              <a:ext uri="{FF2B5EF4-FFF2-40B4-BE49-F238E27FC236}">
                <a16:creationId xmlns:a16="http://schemas.microsoft.com/office/drawing/2014/main" id="{C0D5BEF4-992B-4987-9B7A-1103A034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7019925"/>
            <a:ext cx="5219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Crítica / incerta / &gt; R$500: revisão</a:t>
            </a:r>
            <a:endParaRPr sz="2100"/>
          </a:p>
        </p:txBody>
      </p:sp>
      <p:sp>
        <p:nvSpPr>
          <p:cNvPr id="52" name="Shape 52">
            <a:extLst xmlns:a="http://schemas.openxmlformats.org/drawingml/2006/main">
              <a:ext uri="{FF2B5EF4-FFF2-40B4-BE49-F238E27FC236}">
                <a16:creationId xmlns:a16="http://schemas.microsoft.com/office/drawing/2014/main" id="{574770B5-64D2-46DF-83EC-7340D555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10450"/>
            <a:ext cx="1638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" name="Text 53">
            <a:extLst xmlns:a="http://schemas.openxmlformats.org/drawingml/2006/main">
              <a:ext uri="{FF2B5EF4-FFF2-40B4-BE49-F238E27FC236}">
                <a16:creationId xmlns:a16="http://schemas.microsoft.com/office/drawing/2014/main" id="{50404F36-18D2-44A0-96A5-C4187363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5438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5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WinBack</a:t>
            </a:r>
            <a:endParaRPr sz="2550"/>
          </a:p>
        </p:txBody>
      </p:sp>
      <p:sp>
        <p:nvSpPr>
          <p:cNvPr id="54" name="Text 54">
            <a:extLst xmlns:a="http://schemas.openxmlformats.org/drawingml/2006/main">
              <a:ext uri="{FF2B5EF4-FFF2-40B4-BE49-F238E27FC236}">
                <a16:creationId xmlns:a16="http://schemas.microsoft.com/office/drawing/2014/main" id="{1F230B6F-3755-4107-9F02-B05CDDD86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00100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EXPANSÃO FUTURA</a:t>
            </a:r>
            <a:endParaRPr sz="1800"/>
          </a:p>
        </p:txBody>
      </p:sp>
      <p:sp>
        <p:nvSpPr>
          <p:cNvPr id="55" name="Shape 55">
            <a:extLst xmlns:a="http://schemas.openxmlformats.org/drawingml/2006/main">
              <a:ext uri="{FF2B5EF4-FFF2-40B4-BE49-F238E27FC236}">
                <a16:creationId xmlns:a16="http://schemas.microsoft.com/office/drawing/2014/main" id="{2288E91B-0B33-4DA7-BB29-493DF7A9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7743825"/>
            <a:ext cx="33051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829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6" name="Shape 56">
            <a:extLst xmlns:a="http://schemas.openxmlformats.org/drawingml/2006/main">
              <a:ext uri="{FF2B5EF4-FFF2-40B4-BE49-F238E27FC236}">
                <a16:creationId xmlns:a16="http://schemas.microsoft.com/office/drawing/2014/main" id="{56718D81-DAD7-4EC6-B870-96CF27A4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7739063"/>
            <a:ext cx="33242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7" name="Shape 57">
            <a:extLst xmlns:a="http://schemas.openxmlformats.org/drawingml/2006/main">
              <a:ext uri="{FF2B5EF4-FFF2-40B4-BE49-F238E27FC236}">
                <a16:creationId xmlns:a16="http://schemas.microsoft.com/office/drawing/2014/main" id="{8E2FFE9B-E484-4525-AB3D-9D32C5A9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7739063"/>
            <a:ext cx="33051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Shape 58">
            <a:extLst xmlns:a="http://schemas.openxmlformats.org/drawingml/2006/main">
              <a:ext uri="{FF2B5EF4-FFF2-40B4-BE49-F238E27FC236}">
                <a16:creationId xmlns:a16="http://schemas.microsoft.com/office/drawing/2014/main" id="{79D5E2B7-5B1D-4FC1-8B31-485DAF58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76676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D1A"/>
          </a:solidFill>
          <a:ln xmlns:a="http://schemas.openxmlformats.org/drawingml/2006/main" w="19050">
            <a:solidFill>
              <a:srgbClr val="A3A8B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9">
            <a:extLst xmlns:a="http://schemas.openxmlformats.org/drawingml/2006/main">
              <a:ext uri="{FF2B5EF4-FFF2-40B4-BE49-F238E27FC236}">
                <a16:creationId xmlns:a16="http://schemas.microsoft.com/office/drawing/2014/main" id="{701E58F6-AE07-4D9B-988E-A61EE44F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76771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Shape 60">
            <a:extLst xmlns:a="http://schemas.openxmlformats.org/drawingml/2006/main">
              <a:ext uri="{FF2B5EF4-FFF2-40B4-BE49-F238E27FC236}">
                <a16:creationId xmlns:a16="http://schemas.microsoft.com/office/drawing/2014/main" id="{CA877414-ACD7-4C0B-B3F0-38BD3C22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10553700" y="7648575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1" name="Shape 61">
            <a:extLst xmlns:a="http://schemas.openxmlformats.org/drawingml/2006/main">
              <a:ext uri="{FF2B5EF4-FFF2-40B4-BE49-F238E27FC236}">
                <a16:creationId xmlns:a16="http://schemas.microsoft.com/office/drawing/2014/main" id="{A8AB7350-E4A8-47FE-B2AB-DE01694C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76676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2" name="Text 62">
            <a:extLst xmlns:a="http://schemas.openxmlformats.org/drawingml/2006/main">
              <a:ext uri="{FF2B5EF4-FFF2-40B4-BE49-F238E27FC236}">
                <a16:creationId xmlns:a16="http://schemas.microsoft.com/office/drawing/2014/main" id="{43FAF764-0051-429F-8C88-5D61F6EF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7924800"/>
            <a:ext cx="309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Cliente elegível entre D+7 e D+90</a:t>
            </a:r>
            <a:endParaRPr sz="2100"/>
          </a:p>
        </p:txBody>
      </p:sp>
      <p:sp>
        <p:nvSpPr>
          <p:cNvPr id="63" name="Text 63">
            <a:extLst xmlns:a="http://schemas.openxmlformats.org/drawingml/2006/main">
              <a:ext uri="{FF2B5EF4-FFF2-40B4-BE49-F238E27FC236}">
                <a16:creationId xmlns:a16="http://schemas.microsoft.com/office/drawing/2014/main" id="{F2BCDC09-C73E-435C-825B-3F8A5FE2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7924800"/>
            <a:ext cx="309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Consentimento, 2ª compra e pendências</a:t>
            </a:r>
            <a:endParaRPr sz="2100"/>
          </a:p>
        </p:txBody>
      </p:sp>
      <p:sp>
        <p:nvSpPr>
          <p:cNvPr id="64" name="Text 64">
            <a:extLst xmlns:a="http://schemas.openxmlformats.org/drawingml/2006/main">
              <a:ext uri="{FF2B5EF4-FFF2-40B4-BE49-F238E27FC236}">
                <a16:creationId xmlns:a16="http://schemas.microsoft.com/office/drawing/2014/main" id="{B93208E9-9C15-4162-A753-BA46596B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7924800"/>
            <a:ext cx="309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Controle ou bloqueio? Pausar?</a:t>
            </a:r>
            <a:endParaRPr sz="2100"/>
          </a:p>
        </p:txBody>
      </p:sp>
      <p:sp>
        <p:nvSpPr>
          <p:cNvPr id="65" name="Text 65">
            <a:extLst xmlns:a="http://schemas.openxmlformats.org/drawingml/2006/main">
              <a:ext uri="{FF2B5EF4-FFF2-40B4-BE49-F238E27FC236}">
                <a16:creationId xmlns:a16="http://schemas.microsoft.com/office/drawing/2014/main" id="{F2E5C377-098E-447A-AEFF-D0E751C2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35125" y="7924800"/>
            <a:ext cx="3095625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Resolução permite reavaliar</a:t>
            </a:r>
            <a:endParaRPr sz="2100"/>
          </a:p>
        </p:txBody>
      </p:sp>
      <p:sp>
        <p:nvSpPr>
          <p:cNvPr id="66" name="Shape 66">
            <a:extLst xmlns:a="http://schemas.openxmlformats.org/drawingml/2006/main">
              <a:ext uri="{FF2B5EF4-FFF2-40B4-BE49-F238E27FC236}">
                <a16:creationId xmlns:a16="http://schemas.microsoft.com/office/drawing/2014/main" id="{77D81975-C425-46B1-8C1F-73D4D7E8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7867650"/>
            <a:ext cx="28575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7" name="Shape 67">
            <a:extLst xmlns:a="http://schemas.openxmlformats.org/drawingml/2006/main">
              <a:ext uri="{FF2B5EF4-FFF2-40B4-BE49-F238E27FC236}">
                <a16:creationId xmlns:a16="http://schemas.microsoft.com/office/drawing/2014/main" id="{401EF628-B5C7-474A-8607-DE50BE41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889635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8" name="Shape 68">
            <a:extLst xmlns:a="http://schemas.openxmlformats.org/drawingml/2006/main">
              <a:ext uri="{FF2B5EF4-FFF2-40B4-BE49-F238E27FC236}">
                <a16:creationId xmlns:a16="http://schemas.microsoft.com/office/drawing/2014/main" id="{6E3FFAED-1DA1-4BA7-B8EF-26D98A0E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88296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D1A"/>
          </a:solidFill>
          <a:ln xmlns:a="http://schemas.openxmlformats.org/drawingml/2006/main" w="19050">
            <a:solidFill>
              <a:srgbClr val="F3F4F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9" name="Text 69">
            <a:extLst xmlns:a="http://schemas.openxmlformats.org/drawingml/2006/main">
              <a:ext uri="{FF2B5EF4-FFF2-40B4-BE49-F238E27FC236}">
                <a16:creationId xmlns:a16="http://schemas.microsoft.com/office/drawing/2014/main" id="{A2B98E75-8664-4E10-A19E-C5E603E4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8743950"/>
            <a:ext cx="104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004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HUMANO</a:t>
            </a:r>
            <a:endParaRPr sz="1800"/>
          </a:p>
        </p:txBody>
      </p:sp>
      <p:sp>
        <p:nvSpPr>
          <p:cNvPr id="70" name="Text 70">
            <a:extLst xmlns:a="http://schemas.openxmlformats.org/drawingml/2006/main">
              <a:ext uri="{FF2B5EF4-FFF2-40B4-BE49-F238E27FC236}">
                <a16:creationId xmlns:a16="http://schemas.microsoft.com/office/drawing/2014/main" id="{252FBF45-1476-4728-A54D-2E935B35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8715375"/>
            <a:ext cx="5219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Incentivo &gt; 10%: aprovação do gestor</a:t>
            </a:r>
            <a:endParaRPr sz="2100"/>
          </a:p>
        </p:txBody>
      </p:sp>
      <p:sp>
        <p:nvSpPr>
          <p:cNvPr id="71" name="Shape 71">
            <a:extLst xmlns:a="http://schemas.openxmlformats.org/drawingml/2006/main">
              <a:ext uri="{FF2B5EF4-FFF2-40B4-BE49-F238E27FC236}">
                <a16:creationId xmlns:a16="http://schemas.microsoft.com/office/drawing/2014/main" id="{90F03E1B-8BE6-4050-A1E1-B29F46BE2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286875"/>
            <a:ext cx="1638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2" name="Text 72">
            <a:extLst xmlns:a="http://schemas.openxmlformats.org/drawingml/2006/main">
              <a:ext uri="{FF2B5EF4-FFF2-40B4-BE49-F238E27FC236}">
                <a16:creationId xmlns:a16="http://schemas.microsoft.com/office/drawing/2014/main" id="{F00BD288-ABE3-47E8-BCC7-12B12188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477375"/>
            <a:ext cx="86677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F0B547"/>
                </a:solidFill>
                <a:latin typeface="IBM Plex Mono"/>
                <a:ea typeface="IBM Plex Mono"/>
                <a:cs typeface="IBM Plex Mono"/>
              </a:rPr>
              <a:t>DADOS</a:t>
            </a:r>
            <a:endParaRPr sz="1800"/>
          </a:p>
        </p:txBody>
      </p:sp>
      <p:sp>
        <p:nvSpPr>
          <p:cNvPr id="73" name="Text 73">
            <a:extLst xmlns:a="http://schemas.openxmlformats.org/drawingml/2006/main">
              <a:ext uri="{FF2B5EF4-FFF2-40B4-BE49-F238E27FC236}">
                <a16:creationId xmlns:a16="http://schemas.microsoft.com/office/drawing/2014/main" id="{56D771A1-CD27-4291-94B6-3BA682B7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9477375"/>
            <a:ext cx="3238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→</a:t>
            </a:r>
            <a:endParaRPr sz="1800"/>
          </a:p>
        </p:txBody>
      </p:sp>
      <p:sp>
        <p:nvSpPr>
          <p:cNvPr id="74" name="Text 74">
            <a:extLst xmlns:a="http://schemas.openxmlformats.org/drawingml/2006/main">
              <a:ext uri="{FF2B5EF4-FFF2-40B4-BE49-F238E27FC236}">
                <a16:creationId xmlns:a16="http://schemas.microsoft.com/office/drawing/2014/main" id="{7EC49621-98E4-41DA-AD4C-81A23706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9477375"/>
            <a:ext cx="309181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REGRAS E INTELIGÊNCIA</a:t>
            </a:r>
            <a:endParaRPr sz="1800"/>
          </a:p>
        </p:txBody>
      </p:sp>
      <p:sp>
        <p:nvSpPr>
          <p:cNvPr id="75" name="Text 75">
            <a:extLst xmlns:a="http://schemas.openxmlformats.org/drawingml/2006/main">
              <a:ext uri="{FF2B5EF4-FFF2-40B4-BE49-F238E27FC236}">
                <a16:creationId xmlns:a16="http://schemas.microsoft.com/office/drawing/2014/main" id="{429C8201-C148-4E22-869B-4EB23003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9477375"/>
            <a:ext cx="3238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→</a:t>
            </a:r>
            <a:endParaRPr sz="1800"/>
          </a:p>
        </p:txBody>
      </p:sp>
      <p:sp>
        <p:nvSpPr>
          <p:cNvPr id="76" name="Text 76">
            <a:extLst xmlns:a="http://schemas.openxmlformats.org/drawingml/2006/main">
              <a:ext uri="{FF2B5EF4-FFF2-40B4-BE49-F238E27FC236}">
                <a16:creationId xmlns:a16="http://schemas.microsoft.com/office/drawing/2014/main" id="{556E0B1D-BC03-4CFB-86A6-C371BCF5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3090" y="9477375"/>
            <a:ext cx="114490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AGENTES</a:t>
            </a:r>
            <a:endParaRPr sz="1800"/>
          </a:p>
        </p:txBody>
      </p:sp>
      <p:sp>
        <p:nvSpPr>
          <p:cNvPr id="77" name="Text 77">
            <a:extLst xmlns:a="http://schemas.openxmlformats.org/drawingml/2006/main">
              <a:ext uri="{FF2B5EF4-FFF2-40B4-BE49-F238E27FC236}">
                <a16:creationId xmlns:a16="http://schemas.microsoft.com/office/drawing/2014/main" id="{8EDFAF72-9817-43C3-AB52-DD4C8439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145" y="9477375"/>
            <a:ext cx="3238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→</a:t>
            </a:r>
            <a:endParaRPr sz="1800"/>
          </a:p>
        </p:txBody>
      </p:sp>
      <p:sp>
        <p:nvSpPr>
          <p:cNvPr id="78" name="Text 78">
            <a:extLst xmlns:a="http://schemas.openxmlformats.org/drawingml/2006/main">
              <a:ext uri="{FF2B5EF4-FFF2-40B4-BE49-F238E27FC236}">
                <a16:creationId xmlns:a16="http://schemas.microsoft.com/office/drawing/2014/main" id="{BC191CAF-AE65-4204-837D-62D70374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995" y="9477375"/>
            <a:ext cx="86677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AÇÕES</a:t>
            </a:r>
            <a:endParaRPr sz="1800"/>
          </a:p>
        </p:txBody>
      </p:sp>
      <p:sp>
        <p:nvSpPr>
          <p:cNvPr id="79" name="Text 79">
            <a:extLst xmlns:a="http://schemas.openxmlformats.org/drawingml/2006/main">
              <a:ext uri="{FF2B5EF4-FFF2-40B4-BE49-F238E27FC236}">
                <a16:creationId xmlns:a16="http://schemas.microsoft.com/office/drawing/2014/main" id="{6489DCF0-9765-4D3E-B1F5-8ADA0F50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920" y="9477375"/>
            <a:ext cx="3238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→</a:t>
            </a:r>
            <a:endParaRPr sz="1800"/>
          </a:p>
        </p:txBody>
      </p:sp>
      <p:sp>
        <p:nvSpPr>
          <p:cNvPr id="80" name="Text 80">
            <a:extLst xmlns:a="http://schemas.openxmlformats.org/drawingml/2006/main">
              <a:ext uri="{FF2B5EF4-FFF2-40B4-BE49-F238E27FC236}">
                <a16:creationId xmlns:a16="http://schemas.microsoft.com/office/drawing/2014/main" id="{3365196D-18D0-4989-B4E7-CB96838E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6770" y="9477375"/>
            <a:ext cx="1144905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PESSOAS</a:t>
            </a:r>
            <a:endParaRPr sz="1800"/>
          </a:p>
        </p:txBody>
      </p:sp>
      <p:sp>
        <p:nvSpPr>
          <p:cNvPr id="81" name="Text 81">
            <a:extLst xmlns:a="http://schemas.openxmlformats.org/drawingml/2006/main">
              <a:ext uri="{FF2B5EF4-FFF2-40B4-BE49-F238E27FC236}">
                <a16:creationId xmlns:a16="http://schemas.microsoft.com/office/drawing/2014/main" id="{0D1E8172-8797-41F4-AAB1-8346E1B2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9467850"/>
            <a:ext cx="7534275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8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Arquitetura conceitual. Não representa implementação concluída.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3659272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9AAC94F5-6FC7-4CC5-B859-00FB1200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6263"/>
            <a:ext cx="5129828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OLIST · FROM INSIGHT TO IMPACT</a:t>
            </a:r>
            <a:endParaRPr sz="1800"/>
          </a:p>
        </p:txBody>
      </p:sp>
      <p:sp>
        <p:nvSpPr>
          <p:cNvPr id="3" name="Text 3">
            <a:extLst xmlns:a="http://schemas.openxmlformats.org/drawingml/2006/main">
              <a:ext uri="{FF2B5EF4-FFF2-40B4-BE49-F238E27FC236}">
                <a16:creationId xmlns:a16="http://schemas.microsoft.com/office/drawing/2014/main" id="{6AF13BED-DCE7-45B9-BE73-B84A5C30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318" y="533400"/>
            <a:ext cx="1703927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DESCOBRIR</a:t>
            </a:r>
            <a:endParaRPr sz="1800"/>
          </a:p>
        </p:txBody>
      </p:sp>
      <p:sp>
        <p:nvSpPr>
          <p:cNvPr id="4" name="Shape 4">
            <a:extLst xmlns:a="http://schemas.openxmlformats.org/drawingml/2006/main">
              <a:ext uri="{FF2B5EF4-FFF2-40B4-BE49-F238E27FC236}">
                <a16:creationId xmlns:a16="http://schemas.microsoft.com/office/drawing/2014/main" id="{8F51E24F-B717-4E1E-9787-247E6DEA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82" y="890587"/>
            <a:ext cx="1243608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 5">
            <a:extLst xmlns:a="http://schemas.openxmlformats.org/drawingml/2006/main">
              <a:ext uri="{FF2B5EF4-FFF2-40B4-BE49-F238E27FC236}">
                <a16:creationId xmlns:a16="http://schemas.microsoft.com/office/drawing/2014/main" id="{B68CB2AF-8398-4143-B03E-6C04CA88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50" y="535019"/>
            <a:ext cx="1548384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DESENHAR</a:t>
            </a:r>
            <a:endParaRPr sz="1800"/>
          </a:p>
        </p:txBody>
      </p:sp>
      <p:sp>
        <p:nvSpPr>
          <p:cNvPr id="6" name="Text 6">
            <a:extLst xmlns:a="http://schemas.openxmlformats.org/drawingml/2006/main">
              <a:ext uri="{FF2B5EF4-FFF2-40B4-BE49-F238E27FC236}">
                <a16:creationId xmlns:a16="http://schemas.microsoft.com/office/drawing/2014/main" id="{80DF62E4-0331-48C7-98D4-DD223840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9029" y="533400"/>
            <a:ext cx="1393031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ESCALAR</a:t>
            </a:r>
            <a:endParaRPr sz="1800"/>
          </a:p>
        </p:txBody>
      </p:sp>
      <p:sp>
        <p:nvSpPr>
          <p:cNvPr id="7" name="Text 7">
            <a:extLst xmlns:a="http://schemas.openxmlformats.org/drawingml/2006/main">
              <a:ext uri="{FF2B5EF4-FFF2-40B4-BE49-F238E27FC236}">
                <a16:creationId xmlns:a16="http://schemas.microsoft.com/office/drawing/2014/main" id="{1B55C46D-C8CF-4EBA-A483-441680F2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8221" y="533400"/>
            <a:ext cx="85348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08/12</a:t>
            </a:r>
            <a:endParaRPr sz="1800"/>
          </a:p>
        </p:txBody>
      </p:sp>
      <p:sp>
        <p:nvSpPr>
          <p:cNvPr id="8" name="Text 8">
            <a:extLst xmlns:a="http://schemas.openxmlformats.org/drawingml/2006/main">
              <a:ext uri="{FF2B5EF4-FFF2-40B4-BE49-F238E27FC236}">
                <a16:creationId xmlns:a16="http://schemas.microsoft.com/office/drawing/2014/main" id="{EA8C1CAF-61AF-4EA1-A13D-A4240486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28750"/>
            <a:ext cx="1638300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JORNADA MULTIAGENTE · CASO HISTÓRICO + SIMULAÇÃO</a:t>
            </a:r>
            <a:endParaRPr sz="1800"/>
          </a:p>
        </p:txBody>
      </p:sp>
      <p:sp>
        <p:nvSpPr>
          <p:cNvPr id="9" name="Text 9">
            <a:extLst xmlns:a="http://schemas.openxmlformats.org/drawingml/2006/main">
              <a:ext uri="{FF2B5EF4-FFF2-40B4-BE49-F238E27FC236}">
                <a16:creationId xmlns:a16="http://schemas.microsoft.com/office/drawing/2014/main" id="{63AFAEB3-322C-4692-AE78-618E6A1F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98650"/>
            <a:ext cx="14716125" cy="1318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1951"/>
              </a:lnSpc>
              <a:buNone/>
            </a:pPr>
            <a:r>
              <a:rPr sz="4500" b="1" spc="-9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Um pedido real mostra onde os agentes poderiam intervir.</a:t>
            </a:r>
            <a:endParaRPr sz="4500"/>
          </a:p>
        </p:txBody>
      </p:sp>
      <p:sp>
        <p:nvSpPr>
          <p:cNvPr id="10" name="Text 10">
            <a:extLst xmlns:a="http://schemas.openxmlformats.org/drawingml/2006/main">
              <a:ext uri="{FF2B5EF4-FFF2-40B4-BE49-F238E27FC236}">
                <a16:creationId xmlns:a16="http://schemas.microsoft.com/office/drawing/2014/main" id="{04A1B870-A77B-45AC-9A46-A14270AD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97871"/>
            <a:ext cx="6880007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F0B547"/>
                </a:solidFill>
                <a:latin typeface="IBM Plex Mono"/>
                <a:ea typeface="IBM Plex Mono"/>
                <a:cs typeface="IBM Plex Mono"/>
              </a:rPr>
              <a:t>O QUE ACONTECEU · OBSERVADO NO DATASET</a:t>
            </a:r>
            <a:endParaRPr sz="1800"/>
          </a:p>
        </p:txBody>
      </p:sp>
      <p:sp>
        <p:nvSpPr>
          <p:cNvPr id="11" name="Shape 11">
            <a:extLst xmlns:a="http://schemas.openxmlformats.org/drawingml/2006/main">
              <a:ext uri="{FF2B5EF4-FFF2-40B4-BE49-F238E27FC236}">
                <a16:creationId xmlns:a16="http://schemas.microsoft.com/office/drawing/2014/main" id="{3462FD74-BABF-42A9-8B0E-69035B661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38625"/>
            <a:ext cx="1638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12">
            <a:extLst xmlns:a="http://schemas.openxmlformats.org/drawingml/2006/main">
              <a:ext uri="{FF2B5EF4-FFF2-40B4-BE49-F238E27FC236}">
                <a16:creationId xmlns:a16="http://schemas.microsoft.com/office/drawing/2014/main" id="{7BB86BF2-313B-43F7-A74C-F6CDBBC0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925" y="4226521"/>
            <a:ext cx="19050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13">
            <a:extLst xmlns:a="http://schemas.openxmlformats.org/drawingml/2006/main">
              <a:ext uri="{FF2B5EF4-FFF2-40B4-BE49-F238E27FC236}">
                <a16:creationId xmlns:a16="http://schemas.microsoft.com/office/drawing/2014/main" id="{BBCAE068-024A-48C9-A3C9-94D40867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50321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4">
            <a:extLst xmlns:a="http://schemas.openxmlformats.org/drawingml/2006/main">
              <a:ext uri="{FF2B5EF4-FFF2-40B4-BE49-F238E27FC236}">
                <a16:creationId xmlns:a16="http://schemas.microsoft.com/office/drawing/2014/main" id="{CE572C6D-993A-47D6-AC22-4F654A7E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24" y="4150321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Shape 15">
            <a:extLst xmlns:a="http://schemas.openxmlformats.org/drawingml/2006/main">
              <a:ext uri="{FF2B5EF4-FFF2-40B4-BE49-F238E27FC236}">
                <a16:creationId xmlns:a16="http://schemas.microsoft.com/office/drawing/2014/main" id="{88E0EA8F-056B-4463-ABFE-8EB2D014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60907" y="4016971"/>
            <a:ext cx="3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Shape 16">
            <a:extLst xmlns:a="http://schemas.openxmlformats.org/drawingml/2006/main">
              <a:ext uri="{FF2B5EF4-FFF2-40B4-BE49-F238E27FC236}">
                <a16:creationId xmlns:a16="http://schemas.microsoft.com/office/drawing/2014/main" id="{15DBFD73-1302-4929-9B18-72191ED6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01525" y="4150321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Shape 17">
            <a:extLst xmlns:a="http://schemas.openxmlformats.org/drawingml/2006/main">
              <a:ext uri="{FF2B5EF4-FFF2-40B4-BE49-F238E27FC236}">
                <a16:creationId xmlns:a16="http://schemas.microsoft.com/office/drawing/2014/main" id="{880AB075-C2F3-4C59-89BB-7F9CB155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73275" y="41529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8">
            <a:extLst xmlns:a="http://schemas.openxmlformats.org/drawingml/2006/main">
              <a:ext uri="{FF2B5EF4-FFF2-40B4-BE49-F238E27FC236}">
                <a16:creationId xmlns:a16="http://schemas.microsoft.com/office/drawing/2014/main" id="{F250A2F2-584A-455B-A6F0-0C1BD9F9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12271"/>
            <a:ext cx="398145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25/02 · D0</a:t>
            </a:r>
            <a:endParaRPr sz="1800"/>
          </a:p>
        </p:txBody>
      </p:sp>
      <p:sp>
        <p:nvSpPr>
          <p:cNvPr id="19" name="Text 19">
            <a:extLst xmlns:a="http://schemas.openxmlformats.org/drawingml/2006/main">
              <a:ext uri="{FF2B5EF4-FFF2-40B4-BE49-F238E27FC236}">
                <a16:creationId xmlns:a16="http://schemas.microsoft.com/office/drawing/2014/main" id="{DAAF3A33-D1D0-4431-8E32-B380A4236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67870"/>
            <a:ext cx="3728085" cy="7314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138"/>
              </a:lnSpc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Compra, Minas Gerais → Maranhão</a:t>
            </a:r>
            <a:endParaRPr sz="2100"/>
          </a:p>
        </p:txBody>
      </p:sp>
      <p:sp>
        <p:nvSpPr>
          <p:cNvPr id="20" name="Text 20">
            <a:extLst xmlns:a="http://schemas.openxmlformats.org/drawingml/2006/main">
              <a:ext uri="{FF2B5EF4-FFF2-40B4-BE49-F238E27FC236}">
                <a16:creationId xmlns:a16="http://schemas.microsoft.com/office/drawing/2014/main" id="{94933534-D408-4E5C-A0EF-35855BC6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25" y="4512271"/>
            <a:ext cx="398145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D+11</a:t>
            </a:r>
            <a:endParaRPr sz="1800"/>
          </a:p>
        </p:txBody>
      </p:sp>
      <p:sp>
        <p:nvSpPr>
          <p:cNvPr id="21" name="Text 21">
            <a:extLst xmlns:a="http://schemas.openxmlformats.org/drawingml/2006/main">
              <a:ext uri="{FF2B5EF4-FFF2-40B4-BE49-F238E27FC236}">
                <a16:creationId xmlns:a16="http://schemas.microsoft.com/office/drawing/2014/main" id="{08FEE506-7526-46D8-B8AF-17743AF3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25" y="4867870"/>
            <a:ext cx="3728085" cy="7314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138"/>
              </a:lnSpc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Postagem quatro dias após o limite</a:t>
            </a:r>
            <a:endParaRPr sz="2100"/>
          </a:p>
        </p:txBody>
      </p:sp>
      <p:sp>
        <p:nvSpPr>
          <p:cNvPr id="22" name="Text 22">
            <a:extLst xmlns:a="http://schemas.openxmlformats.org/drawingml/2006/main">
              <a:ext uri="{FF2B5EF4-FFF2-40B4-BE49-F238E27FC236}">
                <a16:creationId xmlns:a16="http://schemas.microsoft.com/office/drawing/2014/main" id="{9726AFBA-0326-4995-8DA3-3C29ABBD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12271"/>
            <a:ext cx="1857375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800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27/03 · D+30</a:t>
            </a:r>
            <a:endParaRPr sz="1800"/>
          </a:p>
        </p:txBody>
      </p:sp>
      <p:sp>
        <p:nvSpPr>
          <p:cNvPr id="23" name="Text 23">
            <a:extLst xmlns:a="http://schemas.openxmlformats.org/drawingml/2006/main">
              <a:ext uri="{FF2B5EF4-FFF2-40B4-BE49-F238E27FC236}">
                <a16:creationId xmlns:a16="http://schemas.microsoft.com/office/drawing/2014/main" id="{DCFF51FD-94EF-4ED7-81B9-7E0E5EF5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867870"/>
            <a:ext cx="2238375" cy="3847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94138"/>
              </a:lnSpc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Prazo prometido</a:t>
            </a:r>
            <a:endParaRPr sz="2100"/>
          </a:p>
        </p:txBody>
      </p:sp>
      <p:sp>
        <p:nvSpPr>
          <p:cNvPr id="24" name="Text 24">
            <a:extLst xmlns:a="http://schemas.openxmlformats.org/drawingml/2006/main">
              <a:ext uri="{FF2B5EF4-FFF2-40B4-BE49-F238E27FC236}">
                <a16:creationId xmlns:a16="http://schemas.microsoft.com/office/drawing/2014/main" id="{8E32AEFC-9716-42FC-B98E-43EF4CFE7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4512271"/>
            <a:ext cx="228600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06/04 · D+40</a:t>
            </a:r>
            <a:endParaRPr sz="1800"/>
          </a:p>
        </p:txBody>
      </p:sp>
      <p:sp>
        <p:nvSpPr>
          <p:cNvPr id="25" name="Text 25">
            <a:extLst xmlns:a="http://schemas.openxmlformats.org/drawingml/2006/main">
              <a:ext uri="{FF2B5EF4-FFF2-40B4-BE49-F238E27FC236}">
                <a16:creationId xmlns:a16="http://schemas.microsoft.com/office/drawing/2014/main" id="{CE5C0BF2-91DA-48AF-A5DE-2E584F6D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4867870"/>
            <a:ext cx="2381250" cy="7314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138"/>
              </a:lnSpc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Entrega 10 dias após o prazo</a:t>
            </a:r>
            <a:endParaRPr sz="2100"/>
          </a:p>
        </p:txBody>
      </p:sp>
      <p:sp>
        <p:nvSpPr>
          <p:cNvPr id="26" name="Shape 26">
            <a:extLst xmlns:a="http://schemas.openxmlformats.org/drawingml/2006/main">
              <a:ext uri="{FF2B5EF4-FFF2-40B4-BE49-F238E27FC236}">
                <a16:creationId xmlns:a16="http://schemas.microsoft.com/office/drawing/2014/main" id="{E312D561-933D-48B3-A965-A495C832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00750"/>
            <a:ext cx="167640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62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7">
            <a:extLst xmlns:a="http://schemas.openxmlformats.org/drawingml/2006/main">
              <a:ext uri="{FF2B5EF4-FFF2-40B4-BE49-F238E27FC236}">
                <a16:creationId xmlns:a16="http://schemas.microsoft.com/office/drawing/2014/main" id="{BDABB800-A586-488B-A6B3-D841A217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210300"/>
            <a:ext cx="7604155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COMO OS AGENTES PODERIAM ATUAR · SIMULAÇÃO</a:t>
            </a:r>
            <a:endParaRPr sz="1800"/>
          </a:p>
        </p:txBody>
      </p:sp>
      <p:sp>
        <p:nvSpPr>
          <p:cNvPr id="28" name="Shape 28">
            <a:extLst xmlns:a="http://schemas.openxmlformats.org/drawingml/2006/main">
              <a:ext uri="{FF2B5EF4-FFF2-40B4-BE49-F238E27FC236}">
                <a16:creationId xmlns:a16="http://schemas.microsoft.com/office/drawing/2014/main" id="{C0955532-1700-4B0C-9B39-8ED57285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772275"/>
            <a:ext cx="1638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Shape 29">
            <a:extLst xmlns:a="http://schemas.openxmlformats.org/drawingml/2006/main">
              <a:ext uri="{FF2B5EF4-FFF2-40B4-BE49-F238E27FC236}">
                <a16:creationId xmlns:a16="http://schemas.microsoft.com/office/drawing/2014/main" id="{87EA927B-5C02-46D5-B2B2-3916E55C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619" y="66960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D1A"/>
          </a:solidFill>
          <a:ln xmlns:a="http://schemas.openxmlformats.org/drawingml/2006/main" w="25400">
            <a:solidFill>
              <a:srgbClr val="8E7C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Shape 30">
            <a:extLst xmlns:a="http://schemas.openxmlformats.org/drawingml/2006/main">
              <a:ext uri="{FF2B5EF4-FFF2-40B4-BE49-F238E27FC236}">
                <a16:creationId xmlns:a16="http://schemas.microsoft.com/office/drawing/2014/main" id="{95C639FE-D18A-4F09-8B34-930F854F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99" y="66960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Shape 31">
            <a:extLst xmlns:a="http://schemas.openxmlformats.org/drawingml/2006/main">
              <a:ext uri="{FF2B5EF4-FFF2-40B4-BE49-F238E27FC236}">
                <a16:creationId xmlns:a16="http://schemas.microsoft.com/office/drawing/2014/main" id="{7B2E4967-522A-482C-8FA3-01122088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66960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Shape 32">
            <a:extLst xmlns:a="http://schemas.openxmlformats.org/drawingml/2006/main">
              <a:ext uri="{FF2B5EF4-FFF2-40B4-BE49-F238E27FC236}">
                <a16:creationId xmlns:a16="http://schemas.microsoft.com/office/drawing/2014/main" id="{7AC99F53-EC3E-478A-9D40-AA3CE50D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0" y="66960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Text 33">
            <a:extLst xmlns:a="http://schemas.openxmlformats.org/drawingml/2006/main">
              <a:ext uri="{FF2B5EF4-FFF2-40B4-BE49-F238E27FC236}">
                <a16:creationId xmlns:a16="http://schemas.microsoft.com/office/drawing/2014/main" id="{2A14B430-685D-415E-A447-F66BC646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1344" y="7067550"/>
            <a:ext cx="586740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D+6 → D+11 · LOGIPREDICT</a:t>
            </a:r>
            <a:endParaRPr sz="1800"/>
          </a:p>
        </p:txBody>
      </p:sp>
      <p:sp>
        <p:nvSpPr>
          <p:cNvPr id="34" name="Text 34">
            <a:extLst xmlns:a="http://schemas.openxmlformats.org/drawingml/2006/main">
              <a:ext uri="{FF2B5EF4-FFF2-40B4-BE49-F238E27FC236}">
                <a16:creationId xmlns:a16="http://schemas.microsoft.com/office/drawing/2014/main" id="{D8B54B71-7951-4A5D-BB7A-4D88C0DD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1344" y="7419975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138"/>
              </a:lnSpc>
              <a:buNone/>
            </a:pPr>
            <a:r>
              <a:rPr sz="195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Lembrete ao seller. Na postagem atrasada: risco alto e alerta a operações, 19 dias antes do prazo</a:t>
            </a:r>
            <a:endParaRPr sz="1950"/>
          </a:p>
        </p:txBody>
      </p:sp>
      <p:sp>
        <p:nvSpPr>
          <p:cNvPr id="35" name="Text 35">
            <a:extLst xmlns:a="http://schemas.openxmlformats.org/drawingml/2006/main">
              <a:ext uri="{FF2B5EF4-FFF2-40B4-BE49-F238E27FC236}">
                <a16:creationId xmlns:a16="http://schemas.microsoft.com/office/drawing/2014/main" id="{ED0094B9-9DD8-48B4-8A6A-42416A01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7067550"/>
            <a:ext cx="314325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24/03 · D-3</a:t>
            </a:r>
            <a:endParaRPr sz="1800"/>
          </a:p>
        </p:txBody>
      </p:sp>
      <p:sp>
        <p:nvSpPr>
          <p:cNvPr id="36" name="Text 36">
            <a:extLst xmlns:a="http://schemas.openxmlformats.org/drawingml/2006/main">
              <a:ext uri="{FF2B5EF4-FFF2-40B4-BE49-F238E27FC236}">
                <a16:creationId xmlns:a16="http://schemas.microsoft.com/office/drawing/2014/main" id="{6400951F-2C02-4DCB-9B53-46457526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7419975"/>
            <a:ext cx="304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138"/>
              </a:lnSpc>
              <a:buNone/>
            </a:pPr>
            <a:r>
              <a:rPr sz="195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Se a projeção indicar atraso, recomendar comunicação ao cliente com estimativa validada.</a:t>
            </a:r>
            <a:endParaRPr sz="1950"/>
          </a:p>
        </p:txBody>
      </p:sp>
      <p:sp>
        <p:nvSpPr>
          <p:cNvPr id="37" name="Text 37">
            <a:extLst xmlns:a="http://schemas.openxmlformats.org/drawingml/2006/main">
              <a:ext uri="{FF2B5EF4-FFF2-40B4-BE49-F238E27FC236}">
                <a16:creationId xmlns:a16="http://schemas.microsoft.com/office/drawing/2014/main" id="{F5C1C59E-2487-44DF-8776-A5CD5A8C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067550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800" spc="108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APÓS A AVALIAÇÃO</a:t>
            </a:r>
            <a:endParaRPr sz="1800"/>
          </a:p>
          <a:p xmlns:a="http://schemas.openxmlformats.org/drawingml/2006/main">
            <a:pPr marL="0" indent="0" algn="r">
              <a:buNone/>
            </a:pPr>
            <a:r>
              <a:rPr sz="1800" spc="108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SENTIMENTDESK</a:t>
            </a:r>
            <a:endParaRPr sz="1800"/>
          </a:p>
        </p:txBody>
      </p:sp>
      <p:sp>
        <p:nvSpPr>
          <p:cNvPr id="38" name="Text 38">
            <a:extLst xmlns:a="http://schemas.openxmlformats.org/drawingml/2006/main">
              <a:ext uri="{FF2B5EF4-FFF2-40B4-BE49-F238E27FC236}">
                <a16:creationId xmlns:a16="http://schemas.microsoft.com/office/drawing/2014/main" id="{6ADD1B15-3F19-4C00-8A6B-E4D06CBA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762875"/>
            <a:ext cx="3238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94138"/>
              </a:lnSpc>
              <a:buNone/>
            </a:pPr>
            <a:r>
              <a:rPr sz="195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Sem texto: revisão humana e ticket proposto. WinBack pausa ofertas</a:t>
            </a:r>
            <a:endParaRPr sz="1950"/>
          </a:p>
        </p:txBody>
      </p:sp>
      <p:sp>
        <p:nvSpPr>
          <p:cNvPr id="39" name="Shape 39">
            <a:extLst xmlns:a="http://schemas.openxmlformats.org/drawingml/2006/main">
              <a:ext uri="{FF2B5EF4-FFF2-40B4-BE49-F238E27FC236}">
                <a16:creationId xmlns:a16="http://schemas.microsoft.com/office/drawing/2014/main" id="{9B2D9985-F628-4E8C-B08A-365580A3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226550"/>
            <a:ext cx="1638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Text 40">
            <a:extLst xmlns:a="http://schemas.openxmlformats.org/drawingml/2006/main">
              <a:ext uri="{FF2B5EF4-FFF2-40B4-BE49-F238E27FC236}">
                <a16:creationId xmlns:a16="http://schemas.microsoft.com/office/drawing/2014/main" id="{33C1388E-8DA9-4A87-83BF-6645D35B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410700"/>
            <a:ext cx="162947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SIMULAÇÃO</a:t>
            </a:r>
            <a:endParaRPr sz="1800"/>
          </a:p>
        </p:txBody>
      </p:sp>
      <p:sp>
        <p:nvSpPr>
          <p:cNvPr id="41" name="Text 41">
            <a:extLst xmlns:a="http://schemas.openxmlformats.org/drawingml/2006/main">
              <a:ext uri="{FF2B5EF4-FFF2-40B4-BE49-F238E27FC236}">
                <a16:creationId xmlns:a16="http://schemas.microsoft.com/office/drawing/2014/main" id="{DE5F0A1D-460A-4179-9BC5-2C909ACC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2436" y="9404350"/>
            <a:ext cx="11131799" cy="349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Intervenções hipotéticas sobre um caso histórico. Não afirmamos que o atraso teria sido evitado.</a:t>
            </a:r>
            <a:endParaRPr sz="1800"/>
          </a:p>
        </p:txBody>
      </p:sp>
      <p:sp>
        <p:nvSpPr>
          <p:cNvPr id="42" name="Text 42">
            <a:extLst xmlns:a="http://schemas.openxmlformats.org/drawingml/2006/main">
              <a:ext uri="{FF2B5EF4-FFF2-40B4-BE49-F238E27FC236}">
                <a16:creationId xmlns:a16="http://schemas.microsoft.com/office/drawing/2014/main" id="{16106389-2D06-48CF-9D80-22DE1E00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0" y="4514850"/>
            <a:ext cx="228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7200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AVALIAÇÃO REGISTRADA</a:t>
            </a:r>
            <a:endParaRPr sz="1800"/>
          </a:p>
        </p:txBody>
      </p:sp>
      <p:sp>
        <p:nvSpPr>
          <p:cNvPr id="43" name="Text 43">
            <a:extLst xmlns:a="http://schemas.openxmlformats.org/drawingml/2006/main">
              <a:ext uri="{FF2B5EF4-FFF2-40B4-BE49-F238E27FC236}">
                <a16:creationId xmlns:a16="http://schemas.microsoft.com/office/drawing/2014/main" id="{77C2505A-0B3F-462C-8032-150836AA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0" y="4867275"/>
            <a:ext cx="22860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Avaliação nota 1</a:t>
            </a:r>
            <a:endParaRPr sz="2100"/>
          </a:p>
        </p:txBody>
      </p:sp>
    </p:spTree>
    <p:extLst>
      <p:ext uri="{BB962C8B-B14F-4D97-AF65-F5344CB8AC3E}">
        <p14:creationId xmlns:p14="http://schemas.microsoft.com/office/powerpoint/2010/main" val="12817742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F233C0B3-56DD-4764-859C-AF2A962F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6263"/>
            <a:ext cx="5129828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OLIST · FROM INSIGHT TO IMPACT</a:t>
            </a:r>
            <a:endParaRPr sz="1800"/>
          </a:p>
        </p:txBody>
      </p:sp>
      <p:sp>
        <p:nvSpPr>
          <p:cNvPr id="3" name="Text 3">
            <a:extLst xmlns:a="http://schemas.openxmlformats.org/drawingml/2006/main">
              <a:ext uri="{FF2B5EF4-FFF2-40B4-BE49-F238E27FC236}">
                <a16:creationId xmlns:a16="http://schemas.microsoft.com/office/drawing/2014/main" id="{9F8C1138-20D3-4D62-A5A7-2AE39F8A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318" y="533400"/>
            <a:ext cx="1703927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DESCOBRIR</a:t>
            </a:r>
            <a:endParaRPr sz="1800"/>
          </a:p>
        </p:txBody>
      </p:sp>
      <p:sp>
        <p:nvSpPr>
          <p:cNvPr id="4" name="Shape 4">
            <a:extLst xmlns:a="http://schemas.openxmlformats.org/drawingml/2006/main">
              <a:ext uri="{FF2B5EF4-FFF2-40B4-BE49-F238E27FC236}">
                <a16:creationId xmlns:a16="http://schemas.microsoft.com/office/drawing/2014/main" id="{441F3301-A3F8-4216-ABA6-77FFBF1B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82" y="890587"/>
            <a:ext cx="1243608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 5">
            <a:extLst xmlns:a="http://schemas.openxmlformats.org/drawingml/2006/main">
              <a:ext uri="{FF2B5EF4-FFF2-40B4-BE49-F238E27FC236}">
                <a16:creationId xmlns:a16="http://schemas.microsoft.com/office/drawing/2014/main" id="{8F2019D3-556D-419E-9796-9EF2393A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50" y="535019"/>
            <a:ext cx="1548384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DESENHAR</a:t>
            </a:r>
            <a:endParaRPr sz="1800"/>
          </a:p>
        </p:txBody>
      </p:sp>
      <p:sp>
        <p:nvSpPr>
          <p:cNvPr id="6" name="Text 6">
            <a:extLst xmlns:a="http://schemas.openxmlformats.org/drawingml/2006/main">
              <a:ext uri="{FF2B5EF4-FFF2-40B4-BE49-F238E27FC236}">
                <a16:creationId xmlns:a16="http://schemas.microsoft.com/office/drawing/2014/main" id="{F141CFFB-D903-4634-84E9-FBA341A6E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9029" y="533400"/>
            <a:ext cx="1393031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ESCALAR</a:t>
            </a:r>
            <a:endParaRPr sz="1800"/>
          </a:p>
        </p:txBody>
      </p:sp>
      <p:sp>
        <p:nvSpPr>
          <p:cNvPr id="7" name="Text 7">
            <a:extLst xmlns:a="http://schemas.openxmlformats.org/drawingml/2006/main">
              <a:ext uri="{FF2B5EF4-FFF2-40B4-BE49-F238E27FC236}">
                <a16:creationId xmlns:a16="http://schemas.microsoft.com/office/drawing/2014/main" id="{CBEDC0A7-A83C-4100-A452-0B54F50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8221" y="533400"/>
            <a:ext cx="85348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09/12</a:t>
            </a:r>
            <a:endParaRPr sz="1800"/>
          </a:p>
        </p:txBody>
      </p:sp>
      <p:sp>
        <p:nvSpPr>
          <p:cNvPr id="8" name="Text 8">
            <a:extLst xmlns:a="http://schemas.openxmlformats.org/drawingml/2006/main">
              <a:ext uri="{FF2B5EF4-FFF2-40B4-BE49-F238E27FC236}">
                <a16:creationId xmlns:a16="http://schemas.microsoft.com/office/drawing/2014/main" id="{C3EF1393-6EC8-47B9-8139-16A77D3E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28750"/>
            <a:ext cx="1638300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INTELIGÊNCIA CONTEXTUAL · SENTIMENTDESK</a:t>
            </a:r>
            <a:endParaRPr sz="1800"/>
          </a:p>
        </p:txBody>
      </p:sp>
      <p:sp>
        <p:nvSpPr>
          <p:cNvPr id="9" name="Text 9">
            <a:extLst xmlns:a="http://schemas.openxmlformats.org/drawingml/2006/main">
              <a:ext uri="{FF2B5EF4-FFF2-40B4-BE49-F238E27FC236}">
                <a16:creationId xmlns:a16="http://schemas.microsoft.com/office/drawing/2014/main" id="{AAB13AD7-83A1-48CC-8049-C2870798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98650"/>
            <a:ext cx="15716250" cy="67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1951"/>
              </a:lnSpc>
              <a:buNone/>
            </a:pPr>
            <a:r>
              <a:rPr sz="4500" b="1" spc="-9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Entender o contexto muda a decisão.</a:t>
            </a:r>
            <a:endParaRPr sz="4500"/>
          </a:p>
        </p:txBody>
      </p:sp>
      <p:sp>
        <p:nvSpPr>
          <p:cNvPr id="10" name="Text 10">
            <a:extLst xmlns:a="http://schemas.openxmlformats.org/drawingml/2006/main">
              <a:ext uri="{FF2B5EF4-FFF2-40B4-BE49-F238E27FC236}">
                <a16:creationId xmlns:a16="http://schemas.microsoft.com/office/drawing/2014/main" id="{E4DD0BD2-53C1-4F18-9C0B-C90DC37B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7810"/>
            <a:ext cx="1638300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AVALIAÇÃO NOTA 1 · CASO REAL DO DATASET</a:t>
            </a:r>
            <a:endParaRPr sz="1800"/>
          </a:p>
        </p:txBody>
      </p:sp>
      <p:sp>
        <p:nvSpPr>
          <p:cNvPr id="11" name="Text 11">
            <a:extLst xmlns:a="http://schemas.openxmlformats.org/drawingml/2006/main">
              <a:ext uri="{FF2B5EF4-FFF2-40B4-BE49-F238E27FC236}">
                <a16:creationId xmlns:a16="http://schemas.microsoft.com/office/drawing/2014/main" id="{07063AEA-C5D6-42F2-B893-158DBB88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1510"/>
            <a:ext cx="15697200" cy="152777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3786"/>
              </a:lnSpc>
              <a:buNone/>
            </a:pPr>
            <a:r>
              <a:rPr sz="5100" b="1" spc="-102">
                <a:solidFill>
                  <a:srgbClr val="F0B547"/>
                </a:solidFill>
                <a:latin typeface="Manrope"/>
                <a:ea typeface="Manrope"/>
                <a:cs typeface="Manrope"/>
              </a:rPr>
              <a:t>“Só chegou a mochila, estou aguardando a lancheira.”</a:t>
            </a:r>
            <a:endParaRPr sz="5100"/>
          </a:p>
        </p:txBody>
      </p:sp>
      <p:sp>
        <p:nvSpPr>
          <p:cNvPr id="12" name="Shape 12">
            <a:extLst xmlns:a="http://schemas.openxmlformats.org/drawingml/2006/main">
              <a:ext uri="{FF2B5EF4-FFF2-40B4-BE49-F238E27FC236}">
                <a16:creationId xmlns:a16="http://schemas.microsoft.com/office/drawing/2014/main" id="{AB3D69F1-5493-427E-8A61-B59306A7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95900"/>
            <a:ext cx="590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3">
            <a:extLst xmlns:a="http://schemas.openxmlformats.org/drawingml/2006/main">
              <a:ext uri="{FF2B5EF4-FFF2-40B4-BE49-F238E27FC236}">
                <a16:creationId xmlns:a16="http://schemas.microsoft.com/office/drawing/2014/main" id="{6BEEA6E4-8F68-4DED-A851-6D9D1F23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2450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8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EXEMPLO ILUSTRATIVO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 spc="18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CLASSIFICAÇÃO SUPERFICIAL</a:t>
            </a:r>
            <a:endParaRPr sz="1800"/>
          </a:p>
        </p:txBody>
      </p:sp>
      <p:sp>
        <p:nvSpPr>
          <p:cNvPr id="14" name="Text 14">
            <a:extLst xmlns:a="http://schemas.openxmlformats.org/drawingml/2006/main">
              <a:ext uri="{FF2B5EF4-FFF2-40B4-BE49-F238E27FC236}">
                <a16:creationId xmlns:a16="http://schemas.microsoft.com/office/drawing/2014/main" id="{56213EC9-2869-4413-A491-E587ABA9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400800"/>
            <a:ext cx="590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900" b="1" strike="sngStrike">
                <a:solidFill>
                  <a:srgbClr val="7C8299"/>
                </a:solidFill>
                <a:latin typeface="Manrope"/>
                <a:ea typeface="Manrope"/>
                <a:cs typeface="Manrope"/>
              </a:rPr>
              <a:t>Pedido não recebido</a:t>
            </a:r>
            <a:endParaRPr sz="3900"/>
          </a:p>
        </p:txBody>
      </p:sp>
      <p:sp>
        <p:nvSpPr>
          <p:cNvPr id="15" name="Text 15">
            <a:extLst xmlns:a="http://schemas.openxmlformats.org/drawingml/2006/main">
              <a:ext uri="{FF2B5EF4-FFF2-40B4-BE49-F238E27FC236}">
                <a16:creationId xmlns:a16="http://schemas.microsoft.com/office/drawing/2014/main" id="{8E5FBAAE-C5CA-4114-A6DB-A11A6A72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2390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Lê apenas as palavras do texto e trataria o pedido inteiro como não recebido.</a:t>
            </a:r>
            <a:endParaRPr sz="2100"/>
          </a:p>
        </p:txBody>
      </p:sp>
      <p:sp>
        <p:nvSpPr>
          <p:cNvPr id="16" name="Shape 16">
            <a:extLst xmlns:a="http://schemas.openxmlformats.org/drawingml/2006/main">
              <a:ext uri="{FF2B5EF4-FFF2-40B4-BE49-F238E27FC236}">
                <a16:creationId xmlns:a16="http://schemas.microsoft.com/office/drawing/2014/main" id="{939015B5-0C3B-4927-9A9C-3E99DB7F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95900"/>
            <a:ext cx="952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7">
            <a:extLst xmlns:a="http://schemas.openxmlformats.org/drawingml/2006/main">
              <a:ext uri="{FF2B5EF4-FFF2-40B4-BE49-F238E27FC236}">
                <a16:creationId xmlns:a16="http://schemas.microsoft.com/office/drawing/2014/main" id="{1291A06C-0885-4DF8-BDAF-A3514E36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2450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80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SAÍDA CONTEXTUAL ESPERADA</a:t>
            </a:r>
            <a:endParaRPr sz="1800"/>
          </a:p>
          <a:p xmlns:a="http://schemas.openxmlformats.org/drawingml/2006/main">
            <a:pPr marL="0" indent="0" algn="l">
              <a:buNone/>
            </a:pPr>
            <a:r>
              <a:rPr sz="1800" spc="180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SENTIMENTDESK</a:t>
            </a:r>
            <a:endParaRPr sz="1800"/>
          </a:p>
        </p:txBody>
      </p:sp>
      <p:sp>
        <p:nvSpPr>
          <p:cNvPr id="18" name="Shape 18">
            <a:extLst xmlns:a="http://schemas.openxmlformats.org/drawingml/2006/main">
              <a:ext uri="{FF2B5EF4-FFF2-40B4-BE49-F238E27FC236}">
                <a16:creationId xmlns:a16="http://schemas.microsoft.com/office/drawing/2014/main" id="{DDA1331C-2678-4757-9B13-F1073200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572250"/>
            <a:ext cx="1905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9">
            <a:extLst xmlns:a="http://schemas.openxmlformats.org/drawingml/2006/main">
              <a:ext uri="{FF2B5EF4-FFF2-40B4-BE49-F238E27FC236}">
                <a16:creationId xmlns:a16="http://schemas.microsoft.com/office/drawing/2014/main" id="{4C962A01-B555-4FCE-ABD8-916D1162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64960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20">
            <a:extLst xmlns:a="http://schemas.openxmlformats.org/drawingml/2006/main">
              <a:ext uri="{FF2B5EF4-FFF2-40B4-BE49-F238E27FC236}">
                <a16:creationId xmlns:a16="http://schemas.microsoft.com/office/drawing/2014/main" id="{5E1991CB-BAA4-4864-8EC8-BE7E403A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10325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F0B547"/>
                </a:solidFill>
                <a:latin typeface="IBM Plex Mono"/>
                <a:ea typeface="IBM Plex Mono"/>
                <a:cs typeface="IBM Plex Mono"/>
              </a:rPr>
              <a:t>01 CONTEXTO</a:t>
            </a:r>
            <a:endParaRPr sz="1800"/>
          </a:p>
        </p:txBody>
      </p:sp>
      <p:sp>
        <p:nvSpPr>
          <p:cNvPr id="21" name="Text 21">
            <a:extLst xmlns:a="http://schemas.openxmlformats.org/drawingml/2006/main">
              <a:ext uri="{FF2B5EF4-FFF2-40B4-BE49-F238E27FC236}">
                <a16:creationId xmlns:a16="http://schemas.microsoft.com/office/drawing/2014/main" id="{A2B4ABB1-2D3D-4C3D-973A-887740D2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91275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Pedido com dois itens</a:t>
            </a:r>
            <a:endParaRPr sz="2100"/>
          </a:p>
        </p:txBody>
      </p:sp>
      <p:sp>
        <p:nvSpPr>
          <p:cNvPr id="22" name="Text 22">
            <a:extLst xmlns:a="http://schemas.openxmlformats.org/drawingml/2006/main">
              <a:ext uri="{FF2B5EF4-FFF2-40B4-BE49-F238E27FC236}">
                <a16:creationId xmlns:a16="http://schemas.microsoft.com/office/drawing/2014/main" id="{8D0169D6-2645-4BAC-A18E-0FA4A55D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6410325"/>
            <a:ext cx="214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mochila + lancheira</a:t>
            </a:r>
            <a:endParaRPr sz="1800"/>
          </a:p>
        </p:txBody>
      </p:sp>
      <p:sp>
        <p:nvSpPr>
          <p:cNvPr id="23" name="Shape 23">
            <a:extLst xmlns:a="http://schemas.openxmlformats.org/drawingml/2006/main">
              <a:ext uri="{FF2B5EF4-FFF2-40B4-BE49-F238E27FC236}">
                <a16:creationId xmlns:a16="http://schemas.microsoft.com/office/drawing/2014/main" id="{0B9B916F-0A37-49B7-835C-4C4FB6CB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71056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54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4">
            <a:extLst xmlns:a="http://schemas.openxmlformats.org/drawingml/2006/main">
              <a:ext uri="{FF2B5EF4-FFF2-40B4-BE49-F238E27FC236}">
                <a16:creationId xmlns:a16="http://schemas.microsoft.com/office/drawing/2014/main" id="{F0BAC85D-772B-405B-90AF-93CE9737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7019925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F0B547"/>
                </a:solidFill>
                <a:latin typeface="IBM Plex Mono"/>
                <a:ea typeface="IBM Plex Mono"/>
                <a:cs typeface="IBM Plex Mono"/>
              </a:rPr>
              <a:t>02 CONTEXTO</a:t>
            </a:r>
            <a:endParaRPr sz="1800"/>
          </a:p>
        </p:txBody>
      </p:sp>
      <p:sp>
        <p:nvSpPr>
          <p:cNvPr id="25" name="Text 25">
            <a:extLst xmlns:a="http://schemas.openxmlformats.org/drawingml/2006/main">
              <a:ext uri="{FF2B5EF4-FFF2-40B4-BE49-F238E27FC236}">
                <a16:creationId xmlns:a16="http://schemas.microsoft.com/office/drawing/2014/main" id="{8027F28B-AE7B-48EC-9FEB-BA4C3748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7000875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Status de entrega registrado</a:t>
            </a:r>
            <a:endParaRPr sz="2100"/>
          </a:p>
        </p:txBody>
      </p:sp>
      <p:sp>
        <p:nvSpPr>
          <p:cNvPr id="26" name="Text 26">
            <a:extLst xmlns:a="http://schemas.openxmlformats.org/drawingml/2006/main">
              <a:ext uri="{FF2B5EF4-FFF2-40B4-BE49-F238E27FC236}">
                <a16:creationId xmlns:a16="http://schemas.microsoft.com/office/drawing/2014/main" id="{6F0BCF65-CB7D-46B6-AFCA-36AA70D4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7019925"/>
            <a:ext cx="214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entregue no prazo</a:t>
            </a:r>
            <a:endParaRPr sz="1800"/>
          </a:p>
        </p:txBody>
      </p:sp>
      <p:sp>
        <p:nvSpPr>
          <p:cNvPr id="27" name="Shape 27">
            <a:extLst xmlns:a="http://schemas.openxmlformats.org/drawingml/2006/main">
              <a:ext uri="{FF2B5EF4-FFF2-40B4-BE49-F238E27FC236}">
                <a16:creationId xmlns:a16="http://schemas.microsoft.com/office/drawing/2014/main" id="{D63DF2BC-D001-4905-A050-90EAFB72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7820025" y="77152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8">
            <a:extLst xmlns:a="http://schemas.openxmlformats.org/drawingml/2006/main">
              <a:ext uri="{FF2B5EF4-FFF2-40B4-BE49-F238E27FC236}">
                <a16:creationId xmlns:a16="http://schemas.microsoft.com/office/drawing/2014/main" id="{BD98AF5E-726A-4272-B6E1-9B64A78D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7629525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03 INTERPRETAÇÃO</a:t>
            </a:r>
            <a:endParaRPr sz="1800"/>
          </a:p>
        </p:txBody>
      </p:sp>
      <p:sp>
        <p:nvSpPr>
          <p:cNvPr id="29" name="Text 29">
            <a:extLst xmlns:a="http://schemas.openxmlformats.org/drawingml/2006/main">
              <a:ext uri="{FF2B5EF4-FFF2-40B4-BE49-F238E27FC236}">
                <a16:creationId xmlns:a16="http://schemas.microsoft.com/office/drawing/2014/main" id="{B556FE62-EA74-46FE-98A7-90CB149E5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7610475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Item faltante identificado</a:t>
            </a:r>
            <a:endParaRPr sz="2100"/>
          </a:p>
        </p:txBody>
      </p:sp>
      <p:sp>
        <p:nvSpPr>
          <p:cNvPr id="30" name="Text 30">
            <a:extLst xmlns:a="http://schemas.openxmlformats.org/drawingml/2006/main">
              <a:ext uri="{FF2B5EF4-FFF2-40B4-BE49-F238E27FC236}">
                <a16:creationId xmlns:a16="http://schemas.microsoft.com/office/drawing/2014/main" id="{6AB99C07-60C7-4DED-BE65-4157371B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7629525"/>
            <a:ext cx="214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severidade alta</a:t>
            </a:r>
            <a:endParaRPr sz="1800"/>
          </a:p>
        </p:txBody>
      </p:sp>
      <p:sp>
        <p:nvSpPr>
          <p:cNvPr id="31" name="Shape 31">
            <a:extLst xmlns:a="http://schemas.openxmlformats.org/drawingml/2006/main">
              <a:ext uri="{FF2B5EF4-FFF2-40B4-BE49-F238E27FC236}">
                <a16:creationId xmlns:a16="http://schemas.microsoft.com/office/drawing/2014/main" id="{1CD7915E-F931-4B16-970F-D5799B7B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3153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32">
            <a:extLst xmlns:a="http://schemas.openxmlformats.org/drawingml/2006/main">
              <a:ext uri="{FF2B5EF4-FFF2-40B4-BE49-F238E27FC236}">
                <a16:creationId xmlns:a16="http://schemas.microsoft.com/office/drawing/2014/main" id="{EE262544-85A5-4242-A94D-D795303B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8239125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04 PROPOSTA</a:t>
            </a:r>
            <a:endParaRPr sz="1800"/>
          </a:p>
        </p:txBody>
      </p:sp>
      <p:sp>
        <p:nvSpPr>
          <p:cNvPr id="33" name="Text 33">
            <a:extLst xmlns:a="http://schemas.openxmlformats.org/drawingml/2006/main">
              <a:ext uri="{FF2B5EF4-FFF2-40B4-BE49-F238E27FC236}">
                <a16:creationId xmlns:a16="http://schemas.microsoft.com/office/drawing/2014/main" id="{F5F806C9-5307-4E98-9F2F-BB710953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8220075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Encaminhamento proposto</a:t>
            </a:r>
            <a:endParaRPr sz="2100"/>
          </a:p>
        </p:txBody>
      </p:sp>
      <p:sp>
        <p:nvSpPr>
          <p:cNvPr id="34" name="Text 34">
            <a:extLst xmlns:a="http://schemas.openxmlformats.org/drawingml/2006/main">
              <a:ext uri="{FF2B5EF4-FFF2-40B4-BE49-F238E27FC236}">
                <a16:creationId xmlns:a16="http://schemas.microsoft.com/office/drawing/2014/main" id="{F485E27B-E4A2-4ECC-A8A1-CAF1E846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8239125"/>
            <a:ext cx="214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ticket a confirmar</a:t>
            </a:r>
            <a:endParaRPr sz="1800"/>
          </a:p>
        </p:txBody>
      </p:sp>
      <p:sp>
        <p:nvSpPr>
          <p:cNvPr id="35" name="Shape 35">
            <a:extLst xmlns:a="http://schemas.openxmlformats.org/drawingml/2006/main">
              <a:ext uri="{FF2B5EF4-FFF2-40B4-BE49-F238E27FC236}">
                <a16:creationId xmlns:a16="http://schemas.microsoft.com/office/drawing/2014/main" id="{92F87BFA-C279-4F68-8CC6-AE6AD20E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115425"/>
            <a:ext cx="1638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" name="Text 36">
            <a:extLst xmlns:a="http://schemas.openxmlformats.org/drawingml/2006/main">
              <a:ext uri="{FF2B5EF4-FFF2-40B4-BE49-F238E27FC236}">
                <a16:creationId xmlns:a16="http://schemas.microsoft.com/office/drawing/2014/main" id="{BB67EF13-8E51-411E-884E-724A6779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3154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ILUSTRATIVO</a:t>
            </a:r>
            <a:endParaRPr sz="1800"/>
          </a:p>
        </p:txBody>
      </p:sp>
      <p:sp>
        <p:nvSpPr>
          <p:cNvPr id="37" name="Text 37">
            <a:extLst xmlns:a="http://schemas.openxmlformats.org/drawingml/2006/main">
              <a:ext uri="{FF2B5EF4-FFF2-40B4-BE49-F238E27FC236}">
                <a16:creationId xmlns:a16="http://schemas.microsoft.com/office/drawing/2014/main" id="{67C057B4-3184-47D8-87AF-0FDEBAD8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9305925"/>
            <a:ext cx="1447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Texto real do dataset. As duas leituras são ilustrativas: a saída contextual é o comportamento esperado do prompt, não resultado de experimento.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20017462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7B9ACCE7-4590-43A3-BA1C-4C682AE97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6263"/>
            <a:ext cx="5129828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OLIST · FROM INSIGHT TO IMPACT</a:t>
            </a:r>
            <a:endParaRPr sz="1800"/>
          </a:p>
        </p:txBody>
      </p:sp>
      <p:sp>
        <p:nvSpPr>
          <p:cNvPr id="3" name="Text 3">
            <a:extLst xmlns:a="http://schemas.openxmlformats.org/drawingml/2006/main">
              <a:ext uri="{FF2B5EF4-FFF2-40B4-BE49-F238E27FC236}">
                <a16:creationId xmlns:a16="http://schemas.microsoft.com/office/drawing/2014/main" id="{E37540A6-2291-41D8-BC42-BDE2E24D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318" y="533400"/>
            <a:ext cx="1703927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DESCOBRIR</a:t>
            </a:r>
            <a:endParaRPr sz="1800"/>
          </a:p>
        </p:txBody>
      </p:sp>
      <p:sp>
        <p:nvSpPr>
          <p:cNvPr id="4" name="Text 4">
            <a:extLst xmlns:a="http://schemas.openxmlformats.org/drawingml/2006/main">
              <a:ext uri="{FF2B5EF4-FFF2-40B4-BE49-F238E27FC236}">
                <a16:creationId xmlns:a16="http://schemas.microsoft.com/office/drawing/2014/main" id="{B3C19368-34B9-4451-B579-87DEA162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50" y="533400"/>
            <a:ext cx="1548384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DESENHAR</a:t>
            </a:r>
            <a:endParaRPr sz="1800"/>
          </a:p>
        </p:txBody>
      </p:sp>
      <p:sp>
        <p:nvSpPr>
          <p:cNvPr id="5" name="Shape 5">
            <a:extLst xmlns:a="http://schemas.openxmlformats.org/drawingml/2006/main">
              <a:ext uri="{FF2B5EF4-FFF2-40B4-BE49-F238E27FC236}">
                <a16:creationId xmlns:a16="http://schemas.microsoft.com/office/drawing/2014/main" id="{B771E4A8-EBF8-4A70-81A2-EC02A594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8989" y="890587"/>
            <a:ext cx="1088231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6">
            <a:extLst xmlns:a="http://schemas.openxmlformats.org/drawingml/2006/main">
              <a:ext uri="{FF2B5EF4-FFF2-40B4-BE49-F238E27FC236}">
                <a16:creationId xmlns:a16="http://schemas.microsoft.com/office/drawing/2014/main" id="{A93534A1-0CE6-40BE-9A4F-E26EAF39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9029" y="535019"/>
            <a:ext cx="1393031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ESCALAR</a:t>
            </a:r>
            <a:endParaRPr sz="1800"/>
          </a:p>
        </p:txBody>
      </p:sp>
      <p:sp>
        <p:nvSpPr>
          <p:cNvPr id="7" name="Text 7">
            <a:extLst xmlns:a="http://schemas.openxmlformats.org/drawingml/2006/main">
              <a:ext uri="{FF2B5EF4-FFF2-40B4-BE49-F238E27FC236}">
                <a16:creationId xmlns:a16="http://schemas.microsoft.com/office/drawing/2014/main" id="{F1EA8EAC-98CF-43F9-BAC8-EF41F623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8221" y="533400"/>
            <a:ext cx="85348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10/12</a:t>
            </a:r>
            <a:endParaRPr sz="1800"/>
          </a:p>
        </p:txBody>
      </p:sp>
      <p:sp>
        <p:nvSpPr>
          <p:cNvPr id="8" name="Text 8">
            <a:extLst xmlns:a="http://schemas.openxmlformats.org/drawingml/2006/main">
              <a:ext uri="{FF2B5EF4-FFF2-40B4-BE49-F238E27FC236}">
                <a16:creationId xmlns:a16="http://schemas.microsoft.com/office/drawing/2014/main" id="{6E4B79D8-45B8-47C0-884D-9784BEA0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28750"/>
            <a:ext cx="1638300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BUSINESS CASE · PROJEÇÃO, CENÁRIO BASE, ANUAL</a:t>
            </a:r>
            <a:endParaRPr sz="1800"/>
          </a:p>
        </p:txBody>
      </p:sp>
      <p:sp>
        <p:nvSpPr>
          <p:cNvPr id="9" name="Text 9">
            <a:extLst xmlns:a="http://schemas.openxmlformats.org/drawingml/2006/main">
              <a:ext uri="{FF2B5EF4-FFF2-40B4-BE49-F238E27FC236}">
                <a16:creationId xmlns:a16="http://schemas.microsoft.com/office/drawing/2014/main" id="{7513C701-D5BA-4C47-B792-41EE02AB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98650"/>
            <a:ext cx="14716125" cy="1318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1951"/>
              </a:lnSpc>
              <a:buNone/>
            </a:pPr>
            <a:r>
              <a:rPr sz="4500" b="1" spc="-9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O potencial é relevante. O impacto precisa ser comprovado.</a:t>
            </a:r>
            <a:endParaRPr sz="4500"/>
          </a:p>
        </p:txBody>
      </p:sp>
      <p:sp>
        <p:nvSpPr>
          <p:cNvPr id="10" name="Shape 10">
            <a:extLst xmlns:a="http://schemas.openxmlformats.org/drawingml/2006/main">
              <a:ext uri="{FF2B5EF4-FFF2-40B4-BE49-F238E27FC236}">
                <a16:creationId xmlns:a16="http://schemas.microsoft.com/office/drawing/2014/main" id="{EA9E36B0-8F1D-4760-8065-E49BB7AD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74071"/>
            <a:ext cx="1056640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11">
            <a:extLst xmlns:a="http://schemas.openxmlformats.org/drawingml/2006/main">
              <a:ext uri="{FF2B5EF4-FFF2-40B4-BE49-F238E27FC236}">
                <a16:creationId xmlns:a16="http://schemas.microsoft.com/office/drawing/2014/main" id="{9D3633C9-FE38-4D93-A5FF-2A4B7FA3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9020"/>
            <a:ext cx="1162304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PILOTO · VALOR OPERACIONAL</a:t>
            </a:r>
            <a:endParaRPr sz="1800"/>
          </a:p>
        </p:txBody>
      </p:sp>
      <p:sp>
        <p:nvSpPr>
          <p:cNvPr id="12" name="Text 12">
            <a:extLst xmlns:a="http://schemas.openxmlformats.org/drawingml/2006/main">
              <a:ext uri="{FF2B5EF4-FFF2-40B4-BE49-F238E27FC236}">
                <a16:creationId xmlns:a16="http://schemas.microsoft.com/office/drawing/2014/main" id="{2A8BE02B-25AF-4068-96C9-2B6E2144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3221"/>
            <a:ext cx="5560060" cy="450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8E7CFF"/>
                </a:solidFill>
                <a:latin typeface="Manrope"/>
                <a:ea typeface="Manrope"/>
                <a:cs typeface="Manrope"/>
              </a:rPr>
              <a:t>LogiPredict</a:t>
            </a:r>
            <a:endParaRPr sz="2400"/>
          </a:p>
        </p:txBody>
      </p:sp>
      <p:sp>
        <p:nvSpPr>
          <p:cNvPr id="13" name="Text 13">
            <a:extLst xmlns:a="http://schemas.openxmlformats.org/drawingml/2006/main">
              <a:ext uri="{FF2B5EF4-FFF2-40B4-BE49-F238E27FC236}">
                <a16:creationId xmlns:a16="http://schemas.microsoft.com/office/drawing/2014/main" id="{52F63CE9-862A-4331-BA2F-711B3041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15520"/>
            <a:ext cx="5560060" cy="1181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171"/>
              </a:lnSpc>
              <a:buNone/>
            </a:pPr>
            <a:r>
              <a:rPr sz="9000" b="1" spc="-36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672</a:t>
            </a:r>
            <a:endParaRPr sz="9000"/>
          </a:p>
        </p:txBody>
      </p:sp>
      <p:sp>
        <p:nvSpPr>
          <p:cNvPr id="14" name="Text 14">
            <a:extLst xmlns:a="http://schemas.openxmlformats.org/drawingml/2006/main">
              <a:ext uri="{FF2B5EF4-FFF2-40B4-BE49-F238E27FC236}">
                <a16:creationId xmlns:a16="http://schemas.microsoft.com/office/drawing/2014/main" id="{D1CACECB-A857-4BC4-8D96-53178676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296620"/>
            <a:ext cx="556006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atrasos potencialmente evitados</a:t>
            </a:r>
            <a:endParaRPr sz="2100"/>
          </a:p>
        </p:txBody>
      </p:sp>
      <p:sp>
        <p:nvSpPr>
          <p:cNvPr id="15" name="Text 15">
            <a:extLst xmlns:a="http://schemas.openxmlformats.org/drawingml/2006/main">
              <a:ext uri="{FF2B5EF4-FFF2-40B4-BE49-F238E27FC236}">
                <a16:creationId xmlns:a16="http://schemas.microsoft.com/office/drawing/2014/main" id="{5D6CA251-2DB1-49F1-82A4-ADA14940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703021"/>
            <a:ext cx="556006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faixa: 336 a 1.008</a:t>
            </a:r>
            <a:endParaRPr sz="1800"/>
          </a:p>
        </p:txBody>
      </p:sp>
      <p:sp>
        <p:nvSpPr>
          <p:cNvPr id="16" name="Text 16">
            <a:extLst xmlns:a="http://schemas.openxmlformats.org/drawingml/2006/main">
              <a:ext uri="{FF2B5EF4-FFF2-40B4-BE49-F238E27FC236}">
                <a16:creationId xmlns:a16="http://schemas.microsoft.com/office/drawing/2014/main" id="{9C7D615A-26AA-4CC1-B24F-2656A583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211020"/>
            <a:ext cx="5560060" cy="723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469"/>
              </a:lnSpc>
              <a:buNone/>
            </a:pPr>
            <a:r>
              <a:rPr sz="5400" b="1" spc="-162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302</a:t>
            </a:r>
            <a:endParaRPr sz="5400"/>
          </a:p>
        </p:txBody>
      </p:sp>
      <p:sp>
        <p:nvSpPr>
          <p:cNvPr id="17" name="Text 17">
            <a:extLst xmlns:a="http://schemas.openxmlformats.org/drawingml/2006/main">
              <a:ext uri="{FF2B5EF4-FFF2-40B4-BE49-F238E27FC236}">
                <a16:creationId xmlns:a16="http://schemas.microsoft.com/office/drawing/2014/main" id="{A388FCD0-D97B-4C09-B6B6-340D0C6E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934920"/>
            <a:ext cx="5206238" cy="774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avaliações negativas potencialmente evitadas</a:t>
            </a:r>
            <a:endParaRPr sz="2100"/>
          </a:p>
        </p:txBody>
      </p:sp>
      <p:sp>
        <p:nvSpPr>
          <p:cNvPr id="18" name="Shape 18">
            <a:extLst xmlns:a="http://schemas.openxmlformats.org/drawingml/2006/main">
              <a:ext uri="{FF2B5EF4-FFF2-40B4-BE49-F238E27FC236}">
                <a16:creationId xmlns:a16="http://schemas.microsoft.com/office/drawing/2014/main" id="{525853B4-DD29-4E77-BBFD-C5FC11A8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00" y="4493221"/>
            <a:ext cx="9525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Text 19">
            <a:extLst xmlns:a="http://schemas.openxmlformats.org/drawingml/2006/main">
              <a:ext uri="{FF2B5EF4-FFF2-40B4-BE49-F238E27FC236}">
                <a16:creationId xmlns:a16="http://schemas.microsoft.com/office/drawing/2014/main" id="{814F2E79-BDC6-40C4-8E06-1CDD457B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850" y="4493221"/>
            <a:ext cx="5050155" cy="450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8E7CFF"/>
                </a:solidFill>
                <a:latin typeface="Manrope"/>
                <a:ea typeface="Manrope"/>
                <a:cs typeface="Manrope"/>
              </a:rPr>
              <a:t>SentimentDesk</a:t>
            </a:r>
            <a:endParaRPr sz="2400"/>
          </a:p>
        </p:txBody>
      </p:sp>
      <p:sp>
        <p:nvSpPr>
          <p:cNvPr id="20" name="Text 20">
            <a:extLst xmlns:a="http://schemas.openxmlformats.org/drawingml/2006/main">
              <a:ext uri="{FF2B5EF4-FFF2-40B4-BE49-F238E27FC236}">
                <a16:creationId xmlns:a16="http://schemas.microsoft.com/office/drawing/2014/main" id="{B68D1E0D-89EA-4B03-A35C-665AA260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850" y="5115520"/>
            <a:ext cx="3021340" cy="1181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171"/>
              </a:lnSpc>
              <a:buNone/>
            </a:pPr>
            <a:r>
              <a:rPr sz="9000" b="1" spc="-36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1.230</a:t>
            </a:r>
            <a:endParaRPr sz="9000"/>
          </a:p>
        </p:txBody>
      </p:sp>
      <p:sp>
        <p:nvSpPr>
          <p:cNvPr id="21" name="Text 21">
            <a:extLst xmlns:a="http://schemas.openxmlformats.org/drawingml/2006/main">
              <a:ext uri="{FF2B5EF4-FFF2-40B4-BE49-F238E27FC236}">
                <a16:creationId xmlns:a16="http://schemas.microsoft.com/office/drawing/2014/main" id="{8C43C7D7-8574-4BF3-9E57-ECC5683D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823" y="5598121"/>
            <a:ext cx="386060" cy="711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9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h</a:t>
            </a:r>
            <a:endParaRPr sz="3900"/>
          </a:p>
        </p:txBody>
      </p:sp>
      <p:sp>
        <p:nvSpPr>
          <p:cNvPr id="22" name="Text 22">
            <a:extLst xmlns:a="http://schemas.openxmlformats.org/drawingml/2006/main">
              <a:ext uri="{FF2B5EF4-FFF2-40B4-BE49-F238E27FC236}">
                <a16:creationId xmlns:a16="http://schemas.microsoft.com/office/drawing/2014/main" id="{A0919833-2A9B-4853-8D1F-C25F9CAA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850" y="6309321"/>
            <a:ext cx="5050155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de triagem potencialmente poupadas</a:t>
            </a:r>
            <a:endParaRPr sz="2100"/>
          </a:p>
        </p:txBody>
      </p:sp>
      <p:sp>
        <p:nvSpPr>
          <p:cNvPr id="23" name="Text 23">
            <a:extLst xmlns:a="http://schemas.openxmlformats.org/drawingml/2006/main">
              <a:ext uri="{FF2B5EF4-FFF2-40B4-BE49-F238E27FC236}">
                <a16:creationId xmlns:a16="http://schemas.microsoft.com/office/drawing/2014/main" id="{20851703-BD5D-4747-A240-FEB91453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850" y="6715720"/>
            <a:ext cx="5050155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faixa: 878 a 1.581 h</a:t>
            </a:r>
            <a:endParaRPr sz="1800"/>
          </a:p>
        </p:txBody>
      </p:sp>
      <p:sp>
        <p:nvSpPr>
          <p:cNvPr id="24" name="Text 24">
            <a:extLst xmlns:a="http://schemas.openxmlformats.org/drawingml/2006/main">
              <a:ext uri="{FF2B5EF4-FFF2-40B4-BE49-F238E27FC236}">
                <a16:creationId xmlns:a16="http://schemas.microsoft.com/office/drawing/2014/main" id="{E5386725-2303-444B-8BCC-9A82F42B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850" y="7223721"/>
            <a:ext cx="5050155" cy="723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469"/>
              </a:lnSpc>
              <a:buNone/>
            </a:pPr>
            <a:r>
              <a:rPr sz="5400" b="1" spc="-162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≈ R$ 55 mil</a:t>
            </a:r>
            <a:endParaRPr sz="5400"/>
          </a:p>
        </p:txBody>
      </p:sp>
      <p:sp>
        <p:nvSpPr>
          <p:cNvPr id="25" name="Text 25">
            <a:extLst xmlns:a="http://schemas.openxmlformats.org/drawingml/2006/main">
              <a:ext uri="{FF2B5EF4-FFF2-40B4-BE49-F238E27FC236}">
                <a16:creationId xmlns:a16="http://schemas.microsoft.com/office/drawing/2014/main" id="{E4C95118-8A7C-4934-B501-ACA83EB9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850" y="7947621"/>
            <a:ext cx="4728782" cy="774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em capacidade operacional, não em caixa</a:t>
            </a:r>
            <a:endParaRPr sz="2100"/>
          </a:p>
        </p:txBody>
      </p:sp>
      <p:sp>
        <p:nvSpPr>
          <p:cNvPr id="26" name="Shape 26">
            <a:extLst xmlns:a="http://schemas.openxmlformats.org/drawingml/2006/main">
              <a:ext uri="{FF2B5EF4-FFF2-40B4-BE49-F238E27FC236}">
                <a16:creationId xmlns:a16="http://schemas.microsoft.com/office/drawing/2014/main" id="{32365297-5408-44A2-B973-05B43549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2300" y="3674071"/>
            <a:ext cx="5283200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829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7">
            <a:extLst xmlns:a="http://schemas.openxmlformats.org/drawingml/2006/main">
              <a:ext uri="{FF2B5EF4-FFF2-40B4-BE49-F238E27FC236}">
                <a16:creationId xmlns:a16="http://schemas.microsoft.com/office/drawing/2014/main" id="{7C0F0C5D-5BEB-4E00-868D-522B0D1E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2300" y="3909020"/>
            <a:ext cx="581152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EXPANSÃO FUTURA · COMERCIAL</a:t>
            </a:r>
            <a:endParaRPr sz="1800"/>
          </a:p>
        </p:txBody>
      </p:sp>
      <p:sp>
        <p:nvSpPr>
          <p:cNvPr id="28" name="Text 28">
            <a:extLst xmlns:a="http://schemas.openxmlformats.org/drawingml/2006/main">
              <a:ext uri="{FF2B5EF4-FFF2-40B4-BE49-F238E27FC236}">
                <a16:creationId xmlns:a16="http://schemas.microsoft.com/office/drawing/2014/main" id="{0C56F411-2DEB-45F0-B772-1F06C270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2300" y="4493221"/>
            <a:ext cx="5811520" cy="450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WinBack</a:t>
            </a:r>
            <a:endParaRPr sz="2400"/>
          </a:p>
        </p:txBody>
      </p:sp>
      <p:sp>
        <p:nvSpPr>
          <p:cNvPr id="29" name="Text 29">
            <a:extLst xmlns:a="http://schemas.openxmlformats.org/drawingml/2006/main">
              <a:ext uri="{FF2B5EF4-FFF2-40B4-BE49-F238E27FC236}">
                <a16:creationId xmlns:a16="http://schemas.microsoft.com/office/drawing/2014/main" id="{3E69B9EF-353B-420D-BD0F-BDE30A29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2300" y="5115520"/>
            <a:ext cx="5811520" cy="1181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171"/>
              </a:lnSpc>
              <a:buNone/>
            </a:pPr>
            <a:r>
              <a:rPr sz="9000" b="1" spc="-36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358</a:t>
            </a:r>
            <a:endParaRPr sz="9000"/>
          </a:p>
        </p:txBody>
      </p:sp>
      <p:sp>
        <p:nvSpPr>
          <p:cNvPr id="30" name="Text 30">
            <a:extLst xmlns:a="http://schemas.openxmlformats.org/drawingml/2006/main">
              <a:ext uri="{FF2B5EF4-FFF2-40B4-BE49-F238E27FC236}">
                <a16:creationId xmlns:a16="http://schemas.microsoft.com/office/drawing/2014/main" id="{E679D4ED-B07A-4D6A-AC1E-3587945A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2300" y="6296620"/>
            <a:ext cx="581152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segundas compras adicionais</a:t>
            </a:r>
            <a:endParaRPr sz="2100"/>
          </a:p>
        </p:txBody>
      </p:sp>
      <p:sp>
        <p:nvSpPr>
          <p:cNvPr id="31" name="Text 31">
            <a:extLst xmlns:a="http://schemas.openxmlformats.org/drawingml/2006/main">
              <a:ext uri="{FF2B5EF4-FFF2-40B4-BE49-F238E27FC236}">
                <a16:creationId xmlns:a16="http://schemas.microsoft.com/office/drawing/2014/main" id="{A8A86BA3-2E2E-4AD0-AB0C-EA08F25E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2300" y="6703021"/>
            <a:ext cx="581152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faixa: 179 a 717</a:t>
            </a:r>
            <a:endParaRPr sz="1800"/>
          </a:p>
        </p:txBody>
      </p:sp>
      <p:sp>
        <p:nvSpPr>
          <p:cNvPr id="32" name="Text 32">
            <a:extLst xmlns:a="http://schemas.openxmlformats.org/drawingml/2006/main">
              <a:ext uri="{FF2B5EF4-FFF2-40B4-BE49-F238E27FC236}">
                <a16:creationId xmlns:a16="http://schemas.microsoft.com/office/drawing/2014/main" id="{1BC4A31F-D536-436B-A529-052F8B2A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2300" y="7211020"/>
            <a:ext cx="5811520" cy="723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469"/>
              </a:lnSpc>
              <a:buNone/>
            </a:pPr>
            <a:r>
              <a:rPr sz="5400" b="1" spc="-162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≈ R$ 53 mil</a:t>
            </a:r>
            <a:endParaRPr sz="5400"/>
          </a:p>
        </p:txBody>
      </p:sp>
      <p:sp>
        <p:nvSpPr>
          <p:cNvPr id="33" name="Text 33">
            <a:extLst xmlns:a="http://schemas.openxmlformats.org/drawingml/2006/main">
              <a:ext uri="{FF2B5EF4-FFF2-40B4-BE49-F238E27FC236}">
                <a16:creationId xmlns:a16="http://schemas.microsoft.com/office/drawing/2014/main" id="{69D0D393-C721-45AF-ACB7-B294CF04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2300" y="7934920"/>
            <a:ext cx="581152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receita bruta incremental, não margem</a:t>
            </a:r>
            <a:endParaRPr sz="2100"/>
          </a:p>
        </p:txBody>
      </p:sp>
      <p:sp>
        <p:nvSpPr>
          <p:cNvPr id="34" name="Shape 34">
            <a:extLst xmlns:a="http://schemas.openxmlformats.org/drawingml/2006/main">
              <a:ext uri="{FF2B5EF4-FFF2-40B4-BE49-F238E27FC236}">
                <a16:creationId xmlns:a16="http://schemas.microsoft.com/office/drawing/2014/main" id="{F4E26CC5-237C-47E7-9C10-C593246F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915400"/>
            <a:ext cx="1638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Text 35">
            <a:extLst xmlns:a="http://schemas.openxmlformats.org/drawingml/2006/main">
              <a:ext uri="{FF2B5EF4-FFF2-40B4-BE49-F238E27FC236}">
                <a16:creationId xmlns:a16="http://schemas.microsoft.com/office/drawing/2014/main" id="{9840F713-F7A3-4A05-BC3F-8CA419DF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099550"/>
            <a:ext cx="1448514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648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PROJEÇÃO</a:t>
            </a:r>
            <a:endParaRPr sz="1800"/>
          </a:p>
        </p:txBody>
      </p:sp>
      <p:sp>
        <p:nvSpPr>
          <p:cNvPr id="36" name="Text 36">
            <a:extLst xmlns:a="http://schemas.openxmlformats.org/drawingml/2006/main">
              <a:ext uri="{FF2B5EF4-FFF2-40B4-BE49-F238E27FC236}">
                <a16:creationId xmlns:a16="http://schemas.microsoft.com/office/drawing/2014/main" id="{8868B8D3-8662-4191-AEB9-61A3C557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7931" y="9093200"/>
            <a:ext cx="14839950" cy="660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Cenário base anualizado sobre a amostra histórica (set/2017–ago/2018). Não são resultados observados, metas dos 90 dias nem ROI. Valores não somáveis. Premissas e memória de cálculo: Relatório Executivo, Seção 13.4.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6313815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F616A157-16D2-4CE6-9832-51E257D0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6263"/>
            <a:ext cx="5129828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OLIST · FROM INSIGHT TO IMPACT</a:t>
            </a:r>
            <a:endParaRPr sz="1800"/>
          </a:p>
        </p:txBody>
      </p:sp>
      <p:sp>
        <p:nvSpPr>
          <p:cNvPr id="3" name="Text 3">
            <a:extLst xmlns:a="http://schemas.openxmlformats.org/drawingml/2006/main">
              <a:ext uri="{FF2B5EF4-FFF2-40B4-BE49-F238E27FC236}">
                <a16:creationId xmlns:a16="http://schemas.microsoft.com/office/drawing/2014/main" id="{FC9842E0-4745-421C-8F9D-7C466A9C5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318" y="533400"/>
            <a:ext cx="1703927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DESCOBRIR</a:t>
            </a:r>
            <a:endParaRPr sz="1800"/>
          </a:p>
        </p:txBody>
      </p:sp>
      <p:sp>
        <p:nvSpPr>
          <p:cNvPr id="4" name="Text 4">
            <a:extLst xmlns:a="http://schemas.openxmlformats.org/drawingml/2006/main">
              <a:ext uri="{FF2B5EF4-FFF2-40B4-BE49-F238E27FC236}">
                <a16:creationId xmlns:a16="http://schemas.microsoft.com/office/drawing/2014/main" id="{B270633D-16C8-4005-A84E-E8C5BCE2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50" y="533400"/>
            <a:ext cx="1548384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DESENHAR</a:t>
            </a:r>
            <a:endParaRPr sz="1800"/>
          </a:p>
        </p:txBody>
      </p:sp>
      <p:sp>
        <p:nvSpPr>
          <p:cNvPr id="5" name="Shape 5">
            <a:extLst xmlns:a="http://schemas.openxmlformats.org/drawingml/2006/main">
              <a:ext uri="{FF2B5EF4-FFF2-40B4-BE49-F238E27FC236}">
                <a16:creationId xmlns:a16="http://schemas.microsoft.com/office/drawing/2014/main" id="{A99453BB-A3E6-45EA-8466-B3865F3B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8989" y="890587"/>
            <a:ext cx="1088231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6">
            <a:extLst xmlns:a="http://schemas.openxmlformats.org/drawingml/2006/main">
              <a:ext uri="{FF2B5EF4-FFF2-40B4-BE49-F238E27FC236}">
                <a16:creationId xmlns:a16="http://schemas.microsoft.com/office/drawing/2014/main" id="{1AF033F9-73D2-47DD-821E-3CB73515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9029" y="535019"/>
            <a:ext cx="1393031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ESCALAR</a:t>
            </a:r>
            <a:endParaRPr sz="1800"/>
          </a:p>
        </p:txBody>
      </p:sp>
      <p:sp>
        <p:nvSpPr>
          <p:cNvPr id="7" name="Text 7">
            <a:extLst xmlns:a="http://schemas.openxmlformats.org/drawingml/2006/main">
              <a:ext uri="{FF2B5EF4-FFF2-40B4-BE49-F238E27FC236}">
                <a16:creationId xmlns:a16="http://schemas.microsoft.com/office/drawing/2014/main" id="{2BAAF0D7-A9A0-4C39-A1A3-86A8BDF1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8221" y="533400"/>
            <a:ext cx="85348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11/12</a:t>
            </a:r>
            <a:endParaRPr sz="1800"/>
          </a:p>
        </p:txBody>
      </p:sp>
      <p:sp>
        <p:nvSpPr>
          <p:cNvPr id="8" name="Text 8">
            <a:extLst xmlns:a="http://schemas.openxmlformats.org/drawingml/2006/main">
              <a:ext uri="{FF2B5EF4-FFF2-40B4-BE49-F238E27FC236}">
                <a16:creationId xmlns:a16="http://schemas.microsoft.com/office/drawing/2014/main" id="{7C0D4B7F-FBAA-481B-ABD1-36650014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28750"/>
            <a:ext cx="1638300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ROADMAP E CRITÉRIOS DE DECISÃO</a:t>
            </a:r>
            <a:endParaRPr sz="1800"/>
          </a:p>
        </p:txBody>
      </p:sp>
      <p:sp>
        <p:nvSpPr>
          <p:cNvPr id="9" name="Text 9">
            <a:extLst xmlns:a="http://schemas.openxmlformats.org/drawingml/2006/main">
              <a:ext uri="{FF2B5EF4-FFF2-40B4-BE49-F238E27FC236}">
                <a16:creationId xmlns:a16="http://schemas.microsoft.com/office/drawing/2014/main" id="{7473BE80-FD2D-4373-80DA-EE7ECAF1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98650"/>
            <a:ext cx="15716250" cy="678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1951"/>
              </a:lnSpc>
              <a:buNone/>
            </a:pPr>
            <a:r>
              <a:rPr sz="4500" b="1" spc="-9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Escalar somente depois de validar.</a:t>
            </a:r>
            <a:endParaRPr sz="4500"/>
          </a:p>
        </p:txBody>
      </p:sp>
      <p:sp>
        <p:nvSpPr>
          <p:cNvPr id="10" name="Shape 10">
            <a:extLst xmlns:a="http://schemas.openxmlformats.org/drawingml/2006/main">
              <a:ext uri="{FF2B5EF4-FFF2-40B4-BE49-F238E27FC236}">
                <a16:creationId xmlns:a16="http://schemas.microsoft.com/office/drawing/2014/main" id="{5D0C36E5-D3C5-4A9C-A4C6-F69AC5E2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0210"/>
            <a:ext cx="579507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13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11">
            <a:extLst xmlns:a="http://schemas.openxmlformats.org/drawingml/2006/main">
              <a:ext uri="{FF2B5EF4-FFF2-40B4-BE49-F238E27FC236}">
                <a16:creationId xmlns:a16="http://schemas.microsoft.com/office/drawing/2014/main" id="{4185180F-A377-4387-9259-C6FE2A4A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0210"/>
            <a:ext cx="579507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2">
            <a:extLst xmlns:a="http://schemas.openxmlformats.org/drawingml/2006/main">
              <a:ext uri="{FF2B5EF4-FFF2-40B4-BE49-F238E27FC236}">
                <a16:creationId xmlns:a16="http://schemas.microsoft.com/office/drawing/2014/main" id="{3CA402C0-0EBB-4F41-8904-098B37C3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34060"/>
            <a:ext cx="2715855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WAVE 1 · PILOTO</a:t>
            </a:r>
            <a:endParaRPr sz="1800"/>
          </a:p>
        </p:txBody>
      </p:sp>
      <p:sp>
        <p:nvSpPr>
          <p:cNvPr id="13" name="Text 13">
            <a:extLst xmlns:a="http://schemas.openxmlformats.org/drawingml/2006/main">
              <a:ext uri="{FF2B5EF4-FFF2-40B4-BE49-F238E27FC236}">
                <a16:creationId xmlns:a16="http://schemas.microsoft.com/office/drawing/2014/main" id="{24D00A11-B99F-4087-A4FD-6A5FCCAB2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290" y="3434060"/>
            <a:ext cx="1357928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MESES 1–3</a:t>
            </a:r>
            <a:endParaRPr sz="1800"/>
          </a:p>
        </p:txBody>
      </p:sp>
      <p:sp>
        <p:nvSpPr>
          <p:cNvPr id="14" name="Text 14">
            <a:extLst xmlns:a="http://schemas.openxmlformats.org/drawingml/2006/main">
              <a:ext uri="{FF2B5EF4-FFF2-40B4-BE49-F238E27FC236}">
                <a16:creationId xmlns:a16="http://schemas.microsoft.com/office/drawing/2014/main" id="{8EBE9551-024F-4495-AA0C-4760BCE7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865860"/>
            <a:ext cx="5704016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3096"/>
              </a:lnSpc>
              <a:buNone/>
            </a:pPr>
            <a:r>
              <a:rPr sz="7200" b="1" spc="-288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90 dias</a:t>
            </a:r>
            <a:endParaRPr sz="7200"/>
          </a:p>
        </p:txBody>
      </p:sp>
      <p:sp>
        <p:nvSpPr>
          <p:cNvPr id="15" name="Text 15">
            <a:extLst xmlns:a="http://schemas.openxmlformats.org/drawingml/2006/main">
              <a:ext uri="{FF2B5EF4-FFF2-40B4-BE49-F238E27FC236}">
                <a16:creationId xmlns:a16="http://schemas.microsoft.com/office/drawing/2014/main" id="{49068C81-56B7-4926-8A1B-FFED8D43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13611"/>
            <a:ext cx="5704016" cy="450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LogiPredict + SentimentDesk</a:t>
            </a:r>
            <a:endParaRPr sz="2400"/>
          </a:p>
        </p:txBody>
      </p:sp>
      <p:sp>
        <p:nvSpPr>
          <p:cNvPr id="16" name="Text 16">
            <a:extLst xmlns:a="http://schemas.openxmlformats.org/drawingml/2006/main">
              <a:ext uri="{FF2B5EF4-FFF2-40B4-BE49-F238E27FC236}">
                <a16:creationId xmlns:a16="http://schemas.microsoft.com/office/drawing/2014/main" id="{8A32A227-900A-40CB-A2B7-62C5FED8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62600"/>
            <a:ext cx="534103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2857"/>
              </a:lnSpc>
              <a:buNone/>
            </a:pPr>
            <a:r>
              <a:rPr sz="1800" spc="144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METAS TÉCNICAS</a:t>
            </a:r>
            <a:endParaRPr sz="1800"/>
          </a:p>
        </p:txBody>
      </p:sp>
      <p:sp>
        <p:nvSpPr>
          <p:cNvPr id="17" name="Shape 17">
            <a:extLst xmlns:a="http://schemas.openxmlformats.org/drawingml/2006/main">
              <a:ext uri="{FF2B5EF4-FFF2-40B4-BE49-F238E27FC236}">
                <a16:creationId xmlns:a16="http://schemas.microsoft.com/office/drawing/2014/main" id="{A56E6170-E6F4-4E26-B773-884C819F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700000">
            <a:off x="7696200" y="3352800"/>
            <a:ext cx="8001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13A"/>
          </a:solidFill>
          <a:ln xmlns:a="http://schemas.openxmlformats.org/drawingml/2006/main" w="28575">
            <a:solidFill>
              <a:srgbClr val="3CCFB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8">
            <a:extLst xmlns:a="http://schemas.openxmlformats.org/drawingml/2006/main">
              <a:ext uri="{FF2B5EF4-FFF2-40B4-BE49-F238E27FC236}">
                <a16:creationId xmlns:a16="http://schemas.microsoft.com/office/drawing/2014/main" id="{42438FC8-C908-4C0B-8A68-9D10E7B8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00550"/>
            <a:ext cx="253365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spc="72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DECISÃO · DIA 90</a:t>
            </a:r>
            <a:endParaRPr sz="1800"/>
          </a:p>
        </p:txBody>
      </p:sp>
      <p:sp>
        <p:nvSpPr>
          <p:cNvPr id="19" name="Text 19">
            <a:extLst xmlns:a="http://schemas.openxmlformats.org/drawingml/2006/main">
              <a:ext uri="{FF2B5EF4-FFF2-40B4-BE49-F238E27FC236}">
                <a16:creationId xmlns:a16="http://schemas.microsoft.com/office/drawing/2014/main" id="{0FCECB23-8DD8-404B-A92F-2D4559D22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38700"/>
            <a:ext cx="2324100" cy="406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723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3CCFB4"/>
                </a:solidFill>
                <a:latin typeface="Manrope"/>
                <a:ea typeface="Manrope"/>
                <a:cs typeface="Manrope"/>
              </a:rPr>
              <a:t>ESCALAR</a:t>
            </a:r>
            <a:endParaRPr sz="2400"/>
          </a:p>
        </p:txBody>
      </p:sp>
      <p:sp>
        <p:nvSpPr>
          <p:cNvPr id="20" name="Text 20">
            <a:extLst xmlns:a="http://schemas.openxmlformats.org/drawingml/2006/main">
              <a:ext uri="{FF2B5EF4-FFF2-40B4-BE49-F238E27FC236}">
                <a16:creationId xmlns:a16="http://schemas.microsoft.com/office/drawing/2014/main" id="{856CA63D-C299-4596-BE5A-68DDAD27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295900"/>
            <a:ext cx="209550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722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AJUSTAR</a:t>
            </a:r>
            <a:endParaRPr sz="2400"/>
          </a:p>
        </p:txBody>
      </p:sp>
      <p:sp>
        <p:nvSpPr>
          <p:cNvPr id="21" name="Text 21">
            <a:extLst xmlns:a="http://schemas.openxmlformats.org/drawingml/2006/main">
              <a:ext uri="{FF2B5EF4-FFF2-40B4-BE49-F238E27FC236}">
                <a16:creationId xmlns:a16="http://schemas.microsoft.com/office/drawing/2014/main" id="{E3871A27-8A61-4273-9065-4736C9DF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753100"/>
            <a:ext cx="209550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722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ENCERRAR</a:t>
            </a:r>
            <a:endParaRPr sz="2400"/>
          </a:p>
        </p:txBody>
      </p:sp>
      <p:sp>
        <p:nvSpPr>
          <p:cNvPr id="22" name="Shape 22">
            <a:extLst xmlns:a="http://schemas.openxmlformats.org/drawingml/2006/main">
              <a:ext uri="{FF2B5EF4-FFF2-40B4-BE49-F238E27FC236}">
                <a16:creationId xmlns:a16="http://schemas.microsoft.com/office/drawing/2014/main" id="{B83126C3-B557-4C0D-978E-478C4237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7420" y="3110210"/>
            <a:ext cx="251966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30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Text 23">
            <a:extLst xmlns:a="http://schemas.openxmlformats.org/drawingml/2006/main">
              <a:ext uri="{FF2B5EF4-FFF2-40B4-BE49-F238E27FC236}">
                <a16:creationId xmlns:a16="http://schemas.microsoft.com/office/drawing/2014/main" id="{3E3BB065-015B-4CCD-A8D7-302166E6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5070" y="3357860"/>
            <a:ext cx="2226796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80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WAVE 2</a:t>
            </a:r>
            <a:endParaRPr sz="1800"/>
          </a:p>
        </p:txBody>
      </p:sp>
      <p:sp>
        <p:nvSpPr>
          <p:cNvPr id="24" name="Text 24">
            <a:extLst xmlns:a="http://schemas.openxmlformats.org/drawingml/2006/main">
              <a:ext uri="{FF2B5EF4-FFF2-40B4-BE49-F238E27FC236}">
                <a16:creationId xmlns:a16="http://schemas.microsoft.com/office/drawing/2014/main" id="{C53FCD52-05B0-4FBD-A003-1590883E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5070" y="3770610"/>
            <a:ext cx="2226796" cy="450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WinBack</a:t>
            </a:r>
            <a:endParaRPr sz="2400"/>
          </a:p>
        </p:txBody>
      </p:sp>
      <p:sp>
        <p:nvSpPr>
          <p:cNvPr id="25" name="Text 25">
            <a:extLst xmlns:a="http://schemas.openxmlformats.org/drawingml/2006/main">
              <a:ext uri="{FF2B5EF4-FFF2-40B4-BE49-F238E27FC236}">
                <a16:creationId xmlns:a16="http://schemas.microsoft.com/office/drawing/2014/main" id="{7480D641-D1BF-461D-8641-D86C1D2E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5070" y="4297660"/>
            <a:ext cx="219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9184"/>
              </a:lnSpc>
              <a:buNone/>
            </a:pPr>
            <a:r>
              <a:rPr sz="195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Condicionada aos resultados da Wave 1</a:t>
            </a:r>
            <a:endParaRPr sz="1950"/>
          </a:p>
        </p:txBody>
      </p:sp>
      <p:sp>
        <p:nvSpPr>
          <p:cNvPr id="26" name="Shape 26">
            <a:extLst xmlns:a="http://schemas.openxmlformats.org/drawingml/2006/main">
              <a:ext uri="{FF2B5EF4-FFF2-40B4-BE49-F238E27FC236}">
                <a16:creationId xmlns:a16="http://schemas.microsoft.com/office/drawing/2014/main" id="{4A8E6D23-4EE3-4DEB-9290-229B4BC4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6630" y="3110210"/>
            <a:ext cx="251966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30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7">
            <a:extLst xmlns:a="http://schemas.openxmlformats.org/drawingml/2006/main">
              <a:ext uri="{FF2B5EF4-FFF2-40B4-BE49-F238E27FC236}">
                <a16:creationId xmlns:a16="http://schemas.microsoft.com/office/drawing/2014/main" id="{122D5E08-4292-4668-9520-74495948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280" y="3357860"/>
            <a:ext cx="2226796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80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WAVE 3</a:t>
            </a:r>
            <a:endParaRPr sz="1800"/>
          </a:p>
        </p:txBody>
      </p:sp>
      <p:sp>
        <p:nvSpPr>
          <p:cNvPr id="28" name="Text 28">
            <a:extLst xmlns:a="http://schemas.openxmlformats.org/drawingml/2006/main">
              <a:ext uri="{FF2B5EF4-FFF2-40B4-BE49-F238E27FC236}">
                <a16:creationId xmlns:a16="http://schemas.microsoft.com/office/drawing/2014/main" id="{C125737C-0067-4560-B468-CA065753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280" y="3770610"/>
            <a:ext cx="2100560" cy="863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SellerCare + SmartFreight</a:t>
            </a:r>
            <a:endParaRPr sz="2400"/>
          </a:p>
        </p:txBody>
      </p:sp>
      <p:sp>
        <p:nvSpPr>
          <p:cNvPr id="29" name="Text 29">
            <a:extLst xmlns:a="http://schemas.openxmlformats.org/drawingml/2006/main">
              <a:ext uri="{FF2B5EF4-FFF2-40B4-BE49-F238E27FC236}">
                <a16:creationId xmlns:a16="http://schemas.microsoft.com/office/drawing/2014/main" id="{120115B3-EA9E-4131-8F02-3D2DC449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280" y="4710410"/>
            <a:ext cx="219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9184"/>
              </a:lnSpc>
              <a:buNone/>
            </a:pPr>
            <a:r>
              <a:rPr sz="195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Condicionada a uplift comprovado</a:t>
            </a:r>
            <a:endParaRPr sz="1950"/>
          </a:p>
        </p:txBody>
      </p:sp>
      <p:sp>
        <p:nvSpPr>
          <p:cNvPr id="30" name="Shape 30">
            <a:extLst xmlns:a="http://schemas.openxmlformats.org/drawingml/2006/main">
              <a:ext uri="{FF2B5EF4-FFF2-40B4-BE49-F238E27FC236}">
                <a16:creationId xmlns:a16="http://schemas.microsoft.com/office/drawing/2014/main" id="{8E024ECC-23A6-4083-AFC1-2ECAF7E3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5840" y="3110210"/>
            <a:ext cx="2519561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305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Text 31">
            <a:extLst xmlns:a="http://schemas.openxmlformats.org/drawingml/2006/main">
              <a:ext uri="{FF2B5EF4-FFF2-40B4-BE49-F238E27FC236}">
                <a16:creationId xmlns:a16="http://schemas.microsoft.com/office/drawing/2014/main" id="{3A4237D2-4F07-470F-9CBB-54646B17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3490" y="3357860"/>
            <a:ext cx="2226687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80">
                <a:solidFill>
                  <a:srgbClr val="A3A8BF"/>
                </a:solidFill>
                <a:latin typeface="IBM Plex Mono"/>
                <a:ea typeface="IBM Plex Mono"/>
                <a:cs typeface="IBM Plex Mono"/>
              </a:rPr>
              <a:t>FASE FUTURA</a:t>
            </a:r>
            <a:endParaRPr sz="1800"/>
          </a:p>
        </p:txBody>
      </p:sp>
      <p:sp>
        <p:nvSpPr>
          <p:cNvPr id="32" name="Text 32">
            <a:extLst xmlns:a="http://schemas.openxmlformats.org/drawingml/2006/main">
              <a:ext uri="{FF2B5EF4-FFF2-40B4-BE49-F238E27FC236}">
                <a16:creationId xmlns:a16="http://schemas.microsoft.com/office/drawing/2014/main" id="{9C72B336-FD80-419D-81B5-2F0CBCF5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3490" y="3770610"/>
            <a:ext cx="2226687" cy="450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Maestro</a:t>
            </a:r>
            <a:endParaRPr sz="2400"/>
          </a:p>
        </p:txBody>
      </p:sp>
      <p:sp>
        <p:nvSpPr>
          <p:cNvPr id="33" name="Text 33">
            <a:extLst xmlns:a="http://schemas.openxmlformats.org/drawingml/2006/main">
              <a:ext uri="{FF2B5EF4-FFF2-40B4-BE49-F238E27FC236}">
                <a16:creationId xmlns:a16="http://schemas.microsoft.com/office/drawing/2014/main" id="{E89E67A8-1A78-4F72-8166-D6448630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3490" y="4297660"/>
            <a:ext cx="219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9184"/>
              </a:lnSpc>
              <a:buNone/>
            </a:pPr>
            <a:r>
              <a:rPr sz="1950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Orquestração ampliada</a:t>
            </a:r>
            <a:endParaRPr sz="1950"/>
          </a:p>
        </p:txBody>
      </p:sp>
      <p:sp>
        <p:nvSpPr>
          <p:cNvPr id="34" name="Shape 34">
            <a:extLst xmlns:a="http://schemas.openxmlformats.org/drawingml/2006/main">
              <a:ext uri="{FF2B5EF4-FFF2-40B4-BE49-F238E27FC236}">
                <a16:creationId xmlns:a16="http://schemas.microsoft.com/office/drawing/2014/main" id="{0E98D34C-28CF-4743-A812-255D4297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872710"/>
            <a:ext cx="1638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Text 35">
            <a:extLst xmlns:a="http://schemas.openxmlformats.org/drawingml/2006/main">
              <a:ext uri="{FF2B5EF4-FFF2-40B4-BE49-F238E27FC236}">
                <a16:creationId xmlns:a16="http://schemas.microsoft.com/office/drawing/2014/main" id="{61CAA0A7-ED66-4FDF-86CB-31ED267C9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183860"/>
            <a:ext cx="2943225" cy="635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186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CRITÉRIOS DE AVANÇO</a:t>
            </a:r>
            <a:endParaRPr sz="1800"/>
          </a:p>
        </p:txBody>
      </p:sp>
      <p:sp>
        <p:nvSpPr>
          <p:cNvPr id="36" name="Text 36">
            <a:extLst xmlns:a="http://schemas.openxmlformats.org/drawingml/2006/main">
              <a:ext uri="{FF2B5EF4-FFF2-40B4-BE49-F238E27FC236}">
                <a16:creationId xmlns:a16="http://schemas.microsoft.com/office/drawing/2014/main" id="{C71F33C8-ABE8-42E1-A7D2-89678DD6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8183860"/>
            <a:ext cx="21342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1</a:t>
            </a:r>
            <a:endParaRPr sz="1800"/>
          </a:p>
        </p:txBody>
      </p:sp>
      <p:sp>
        <p:nvSpPr>
          <p:cNvPr id="37" name="Text 37">
            <a:extLst xmlns:a="http://schemas.openxmlformats.org/drawingml/2006/main">
              <a:ext uri="{FF2B5EF4-FFF2-40B4-BE49-F238E27FC236}">
                <a16:creationId xmlns:a16="http://schemas.microsoft.com/office/drawing/2014/main" id="{F6F6F84B-3CF4-49D8-98E7-E8814A6C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620" y="8126710"/>
            <a:ext cx="3416647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355"/>
              </a:lnSpc>
              <a:buNone/>
            </a:pPr>
            <a:r>
              <a:rPr sz="225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Qualidade e segurança</a:t>
            </a:r>
            <a:endParaRPr sz="2250"/>
          </a:p>
        </p:txBody>
      </p:sp>
      <p:sp>
        <p:nvSpPr>
          <p:cNvPr id="38" name="Text 38">
            <a:extLst xmlns:a="http://schemas.openxmlformats.org/drawingml/2006/main">
              <a:ext uri="{FF2B5EF4-FFF2-40B4-BE49-F238E27FC236}">
                <a16:creationId xmlns:a16="http://schemas.microsoft.com/office/drawing/2014/main" id="{6E2618C1-A837-4C19-A920-4A0301315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9500" y="8183860"/>
            <a:ext cx="21342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2</a:t>
            </a:r>
            <a:endParaRPr sz="1800"/>
          </a:p>
        </p:txBody>
      </p:sp>
      <p:sp>
        <p:nvSpPr>
          <p:cNvPr id="39" name="Text 39">
            <a:extLst xmlns:a="http://schemas.openxmlformats.org/drawingml/2006/main">
              <a:ext uri="{FF2B5EF4-FFF2-40B4-BE49-F238E27FC236}">
                <a16:creationId xmlns:a16="http://schemas.microsoft.com/office/drawing/2014/main" id="{F587BA87-C3E1-4919-9D7F-DC85784C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9120" y="8126710"/>
            <a:ext cx="3953017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355"/>
              </a:lnSpc>
              <a:buNone/>
            </a:pPr>
            <a:r>
              <a:rPr sz="225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Benefício incremental frente ao controle</a:t>
            </a:r>
            <a:endParaRPr sz="2250"/>
          </a:p>
        </p:txBody>
      </p:sp>
      <p:sp>
        <p:nvSpPr>
          <p:cNvPr id="40" name="Text 40">
            <a:extLst xmlns:a="http://schemas.openxmlformats.org/drawingml/2006/main">
              <a:ext uri="{FF2B5EF4-FFF2-40B4-BE49-F238E27FC236}">
                <a16:creationId xmlns:a16="http://schemas.microsoft.com/office/drawing/2014/main" id="{96AA916C-3836-4A5E-8D96-57C10E54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8001" y="8183860"/>
            <a:ext cx="21342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3</a:t>
            </a:r>
            <a:endParaRPr sz="1800"/>
          </a:p>
        </p:txBody>
      </p:sp>
      <p:sp>
        <p:nvSpPr>
          <p:cNvPr id="41" name="Text 41">
            <a:extLst xmlns:a="http://schemas.openxmlformats.org/drawingml/2006/main">
              <a:ext uri="{FF2B5EF4-FFF2-40B4-BE49-F238E27FC236}">
                <a16:creationId xmlns:a16="http://schemas.microsoft.com/office/drawing/2014/main" id="{AA85CE63-A1C1-4134-A5AF-EDE2ECD9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97620" y="8126710"/>
            <a:ext cx="3953017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355"/>
              </a:lnSpc>
              <a:buNone/>
            </a:pPr>
            <a:r>
              <a:rPr sz="225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Viabilidade econômica e operacional</a:t>
            </a:r>
            <a:endParaRPr sz="2250"/>
          </a:p>
        </p:txBody>
      </p:sp>
      <p:sp>
        <p:nvSpPr>
          <p:cNvPr id="42" name="Text 42">
            <a:extLst xmlns:a="http://schemas.openxmlformats.org/drawingml/2006/main">
              <a:ext uri="{FF2B5EF4-FFF2-40B4-BE49-F238E27FC236}">
                <a16:creationId xmlns:a16="http://schemas.microsoft.com/office/drawing/2014/main" id="{E8860DFD-A291-4DC4-B3A6-5F5D1713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055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Falso positivo ≤ 20%</a:t>
            </a:r>
            <a:endParaRPr sz="2100"/>
          </a:p>
        </p:txBody>
      </p:sp>
      <p:sp>
        <p:nvSpPr>
          <p:cNvPr id="43" name="Text 43">
            <a:extLst xmlns:a="http://schemas.openxmlformats.org/drawingml/2006/main">
              <a:ext uri="{FF2B5EF4-FFF2-40B4-BE49-F238E27FC236}">
                <a16:creationId xmlns:a16="http://schemas.microsoft.com/office/drawing/2014/main" id="{623C32C5-BBFB-47E3-9DEA-01D8393A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2484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Classificação correta ≥ 85%</a:t>
            </a:r>
            <a:endParaRPr sz="2100"/>
          </a:p>
        </p:txBody>
      </p:sp>
      <p:sp>
        <p:nvSpPr>
          <p:cNvPr id="44" name="Text 44">
            <a:extLst xmlns:a="http://schemas.openxmlformats.org/drawingml/2006/main">
              <a:ext uri="{FF2B5EF4-FFF2-40B4-BE49-F238E27FC236}">
                <a16:creationId xmlns:a16="http://schemas.microsoft.com/office/drawing/2014/main" id="{85313996-C4D7-47E6-AD27-6EE17AF6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5913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90% das respostas em &lt; 24 h</a:t>
            </a:r>
            <a:endParaRPr sz="2100"/>
          </a:p>
        </p:txBody>
      </p:sp>
      <p:sp>
        <p:nvSpPr>
          <p:cNvPr id="45" name="Shape 45">
            <a:extLst xmlns:a="http://schemas.openxmlformats.org/drawingml/2006/main">
              <a:ext uri="{FF2B5EF4-FFF2-40B4-BE49-F238E27FC236}">
                <a16:creationId xmlns:a16="http://schemas.microsoft.com/office/drawing/2014/main" id="{7EB1F36D-137B-4429-AEBF-31099ACB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43325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" name="Shape 46">
            <a:extLst xmlns:a="http://schemas.openxmlformats.org/drawingml/2006/main">
              <a:ext uri="{FF2B5EF4-FFF2-40B4-BE49-F238E27FC236}">
                <a16:creationId xmlns:a16="http://schemas.microsoft.com/office/drawing/2014/main" id="{01247B93-8E79-4739-AC76-FEA411B9D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43325"/>
            <a:ext cx="781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Shape 47">
            <a:extLst xmlns:a="http://schemas.openxmlformats.org/drawingml/2006/main">
              <a:ext uri="{FF2B5EF4-FFF2-40B4-BE49-F238E27FC236}">
                <a16:creationId xmlns:a16="http://schemas.microsoft.com/office/drawing/2014/main" id="{08D7734E-20FC-41CF-804F-F883B15A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163050"/>
            <a:ext cx="1638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" name="Text 48">
            <a:extLst xmlns:a="http://schemas.openxmlformats.org/drawingml/2006/main">
              <a:ext uri="{FF2B5EF4-FFF2-40B4-BE49-F238E27FC236}">
                <a16:creationId xmlns:a16="http://schemas.microsoft.com/office/drawing/2014/main" id="{CF83D3C4-59B7-453F-83D0-518164F4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382125"/>
            <a:ext cx="40005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8E7CFF"/>
                </a:solidFill>
                <a:latin typeface="IBM Plex Mono"/>
                <a:ea typeface="IBM Plex Mono"/>
                <a:cs typeface="IBM Plex Mono"/>
              </a:rPr>
              <a:t>PRÓXIMA ETAPA ACADÊMICA</a:t>
            </a:r>
            <a:endParaRPr sz="1800"/>
          </a:p>
        </p:txBody>
      </p:sp>
      <p:sp>
        <p:nvSpPr>
          <p:cNvPr id="49" name="Text 49">
            <a:extLst xmlns:a="http://schemas.openxmlformats.org/drawingml/2006/main">
              <a:ext uri="{FF2B5EF4-FFF2-40B4-BE49-F238E27FC236}">
                <a16:creationId xmlns:a16="http://schemas.microsoft.com/office/drawing/2014/main" id="{335E2D87-2855-4BC4-B6DE-0DC4146F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9382125"/>
            <a:ext cx="1238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Fase 3 do Tech Challenge: protótipo low-code do LogiPredict e do SentimentDesk com os casos reais.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13657940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F97F627-28BA-4B8C-975C-3A86345D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6263"/>
            <a:ext cx="5129828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OLIST · FROM INSIGHT TO IMPACT</a:t>
            </a:r>
            <a:endParaRPr sz="1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3A9142F-D049-4179-8BCC-FF269CF92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318" y="533400"/>
            <a:ext cx="1703927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DESCOBRIR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A19A36B-5315-401E-995C-DE5A6198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4350" y="533400"/>
            <a:ext cx="1548384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DESENHAR</a:t>
            </a:r>
            <a:endParaRPr sz="1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7E31722-C7E8-4691-BA1E-4FD2EFCF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8989" y="890587"/>
            <a:ext cx="1088231" cy="2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571D1BA-D4EE-4684-AB5E-DD6E41C0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9029" y="535019"/>
            <a:ext cx="1393031" cy="3365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F3F4F8"/>
                </a:solidFill>
                <a:latin typeface="IBM Plex Mono"/>
                <a:ea typeface="IBM Plex Mono"/>
                <a:cs typeface="IBM Plex Mono"/>
              </a:rPr>
              <a:t>ESCALAR</a:t>
            </a:r>
            <a:endParaRPr sz="1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7FA45FB-3256-40BE-9A7D-FCB06B86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8221" y="533400"/>
            <a:ext cx="85348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12/12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4BB9860-7D05-4E6C-928B-3BB3F5C61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10791825" cy="205878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4704"/>
              </a:lnSpc>
              <a:buNone/>
            </a:pPr>
            <a:r>
              <a:rPr sz="7800" b="1" spc="-273">
                <a:solidFill>
                  <a:srgbClr val="A3A8BF"/>
                </a:solidFill>
                <a:latin typeface="Manrope"/>
                <a:ea typeface="Manrope"/>
                <a:cs typeface="Manrope"/>
              </a:rPr>
              <a:t>Não propomos mais agentes.</a:t>
            </a:r>
            <a:endParaRPr sz="7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B9C4842-5B97-4435-8D5E-24EA2F1A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73339"/>
            <a:ext cx="10791825" cy="205878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74704"/>
              </a:lnSpc>
              <a:buNone/>
            </a:pPr>
            <a:r>
              <a:rPr sz="7800" b="1" spc="-273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Propomos agentes melhores.</a:t>
            </a:r>
            <a:endParaRPr sz="7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3E628CC-6931-441F-A441-719144E6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209800"/>
            <a:ext cx="4709160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216">
                <a:solidFill>
                  <a:srgbClr val="3CCFB4"/>
                </a:solidFill>
                <a:latin typeface="IBM Plex Mono"/>
                <a:ea typeface="IBM Plex Mono"/>
                <a:cs typeface="IBM Plex Mono"/>
              </a:rPr>
              <a:t>A DECISÃO AGORA É VALIDAR</a:t>
            </a:r>
            <a:endParaRPr sz="1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E9809E5-70B8-4E80-9E59-35FD4659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698750"/>
            <a:ext cx="457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39B995D-2D4C-41FF-8F25-0113D3A8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914650"/>
            <a:ext cx="4709160" cy="711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9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90 dias</a:t>
            </a:r>
            <a:endParaRPr sz="39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DD066A7-5CBC-4AF0-BEDA-34AFD8F8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3797300"/>
            <a:ext cx="457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21415A6-7E4D-408C-BB87-4CBD66D9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013200"/>
            <a:ext cx="4709160" cy="711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900" b="1">
                <a:solidFill>
                  <a:srgbClr val="F3F4F8"/>
                </a:solidFill>
                <a:latin typeface="Manrope"/>
                <a:ea typeface="Manrope"/>
                <a:cs typeface="Manrope"/>
              </a:rPr>
              <a:t>Dois agentes</a:t>
            </a:r>
            <a:endParaRPr sz="39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30D1629-2102-4719-8AC9-A217434E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6667500"/>
            <a:ext cx="457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DB16273-323B-4C9F-8069-21FB5498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895850"/>
            <a:ext cx="457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74340B3-8FC5-4DED-B9AF-9DE5DF5C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5111750"/>
            <a:ext cx="4709160" cy="1384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900" b="1">
                <a:solidFill>
                  <a:srgbClr val="3CCFB4"/>
                </a:solidFill>
                <a:latin typeface="Manrope"/>
                <a:ea typeface="Manrope"/>
                <a:cs typeface="Manrope"/>
              </a:rPr>
              <a:t>Impacto mensurável</a:t>
            </a:r>
            <a:endParaRPr sz="39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9793781-0C17-4410-819D-408C482D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382000"/>
            <a:ext cx="1638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15934D0-9E03-45AA-8412-C4BDE346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7810500"/>
            <a:ext cx="19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681FEC7-535D-4EA2-AB11-946C85C9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7810500"/>
            <a:ext cx="19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9AAADA3-A466-4A79-864D-B9F80ED5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7810500"/>
            <a:ext cx="19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05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B852550-4003-4DFF-952C-51D30AD7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77152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CE65458-C65A-4B9C-B670-BB0023CD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77152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DD4D46F-130F-4476-8124-AAB2CA01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2375" y="77152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0D1A"/>
          </a:solidFill>
          <a:ln xmlns:a="http://schemas.openxmlformats.org/drawingml/2006/main" w="19050">
            <a:solidFill>
              <a:srgbClr val="7C8299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A0B7E97-25A5-40BB-9F68-44D9D08C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8324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379942F-A009-4C56-A1D5-30762163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8324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572A2935-B3FE-4492-A698-A2BBF4D3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8324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4DA0F99C-445A-4677-A3A9-B87146C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73075" y="8324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4F8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8DC1EB44-1239-43C7-978A-D7D34927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8825" y="8324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CFB4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8230E78-D538-42D8-8B45-5A2E85BB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648700"/>
            <a:ext cx="1008955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8756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COMPRA</a:t>
            </a:r>
            <a:endParaRPr sz="18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1DF2C88-FEB1-482B-8E45-7A9D69D6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6446" y="8648700"/>
            <a:ext cx="1367969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257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POSTAGEM</a:t>
            </a:r>
            <a:endParaRPr sz="18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9B46280B-A761-4A43-A3A8-FFEA8B05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9884" y="8648700"/>
            <a:ext cx="1164431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1724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ENTREGA</a:t>
            </a:r>
            <a:endParaRPr sz="18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A72CBC6-D345-463E-9C30-7E1C16A9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40209" y="8648700"/>
            <a:ext cx="1538992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AVALIAÇÃO</a:t>
            </a:r>
            <a:endParaRPr sz="18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1938078-6AFA-4AEB-9B1D-E6542E7A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892" y="8648700"/>
            <a:ext cx="1367969" cy="336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25400" tIns="25400" rIns="25400" bIns="25400" anchor="t">
            <a:normAutofit fontScale="9095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44">
                <a:solidFill>
                  <a:srgbClr val="7C8299"/>
                </a:solidFill>
                <a:latin typeface="IBM Plex Mono"/>
                <a:ea typeface="IBM Plex Mono"/>
                <a:cs typeface="IBM Plex Mono"/>
              </a:rPr>
              <a:t>RECOMPRA</a:t>
            </a:r>
            <a:endParaRPr sz="18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046CDE0-AE33-4954-9B0E-826FC2AF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556750"/>
            <a:ext cx="13290927" cy="349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7C8299"/>
                </a:solidFill>
                <a:latin typeface="Manrope"/>
                <a:ea typeface="Manrope"/>
                <a:cs typeface="Manrope"/>
              </a:rPr>
              <a:t>FIAP · Tech Challenge · Fase 2 — Leonardo Granjeiro · Jorge Leandro Piva · Caio Sousa · Lucas Vinicius Oliveira Mendes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189928116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2026-10-20T22:55:04.3100000Z</dcterms:created>
  <dcterms:modified xsi:type="dcterms:W3CDTF">2026-10-20T22:55:04.3100000Z</dcterms:modified>
</coreProperties>
</file>