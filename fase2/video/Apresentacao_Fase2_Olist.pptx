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50" d="100"/>
          <a:sy n="50" d="100"/>
        </p:scale>
        <p:origin x="300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07540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LEONARDO · Slide 1 · Abertura</a:t>
            </a:r>
          </a:p>
          <a:p>
            <a:r>
              <a:t/>
            </a:r>
          </a:p>
          <a:p>
            <a:r>
              <a:t>Olá, pessoal! Nós somos o grupo responsável pelo projeto Olist Intelligent Marketplace e, neste vídeo, vamos apresentar a evolução do nosso trabalho para a segunda fase do Tech Challenge.</a:t>
            </a:r>
          </a:p>
          <a:p>
            <a:r>
              <a:t/>
            </a:r>
          </a:p>
          <a:p>
            <a:r>
              <a:t>Na primeira etapa, analisamos os dados da Olist e identificamos algumas oportunidades importantes para o uso de inteligência artificial. Agora, nosso desafio é mostrar como essas oportunidades podem se transformar em soluções práticas para o negócio.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LEONARDO · Slide 2 · Nossa recomendação</a:t>
            </a:r>
          </a:p>
          <a:p>
            <a:r>
              <a:t/>
            </a:r>
          </a:p>
          <a:p>
            <a:r>
              <a:t>E a nossa proposta é começar de forma bem objetiva: com dois agentes, o LogiPredict e o SentimentDesk, em um piloto controlado de 90 dias.</a:t>
            </a:r>
          </a:p>
          <a:p>
            <a:r>
              <a:t/>
            </a:r>
          </a:p>
          <a:p>
            <a:r>
              <a:t>A ideia é testar essas soluções em rotas selecionadas do Nordeste, comparar os resultados com um grupo de controle e manter a supervisão humana nas decisões mais sensíveis.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LEONARDO · Slide 3 · Evolução da Fase 1</a:t>
            </a:r>
          </a:p>
          <a:p>
            <a:r>
              <a:t/>
            </a:r>
          </a:p>
          <a:p>
            <a:r>
              <a:t>Para chegar até aqui, partimos das seis oportunidades identificadas na primeira fase e priorizamos três agentes.</a:t>
            </a:r>
          </a:p>
          <a:p>
            <a:r>
              <a:t/>
            </a:r>
          </a:p>
          <a:p>
            <a:r>
              <a:t>Mais do que definir o que cada um faz, detalhamos quais dados utilizam, como tomam decisões, quando devem agir e quais são seus limites.</a:t>
            </a:r>
          </a:p>
          <a:p>
            <a:r>
              <a:t/>
            </a:r>
          </a:p>
          <a:p>
            <a:r>
              <a:t>Ou seja, saímos de um mapa de oportunidades para uma proposta que pode ser testada e medida.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JORGE · Slide 4 · Evidências</a:t>
            </a:r>
          </a:p>
          <a:p>
            <a:r>
              <a:t/>
            </a:r>
          </a:p>
          <a:p>
            <a:r>
              <a:t>Mas por que começar justamente por esses agentes?</a:t>
            </a:r>
          </a:p>
          <a:p>
            <a:r>
              <a:t/>
            </a:r>
          </a:p>
          <a:p>
            <a:r>
              <a:t>Quando olhamos os dados históricos da Olist, encontramos alguns sinais importantes.</a:t>
            </a:r>
          </a:p>
          <a:p>
            <a:r>
              <a:t/>
            </a:r>
          </a:p>
          <a:p>
            <a:r>
              <a:t>Cerca de 8% das entregas chegaram atrasadas. E, entre esses pedidos, mais da metade recebeu avaliações negativas, contra apenas 9% dos pedidos entregues no prazo.</a:t>
            </a:r>
          </a:p>
          <a:p>
            <a:r>
              <a:t/>
            </a:r>
          </a:p>
          <a:p>
            <a:r>
              <a:t>Outro ponto interessante é que aproximadamente 27% dos atrasos estão associados à postagem tardia dos vendedores.</a:t>
            </a:r>
          </a:p>
          <a:p>
            <a:r>
              <a:t/>
            </a:r>
          </a:p>
          <a:p>
            <a:r>
              <a:t>Esses números não provam uma relação de causa e efeito, mas mostram onde temos oportunidades relevantes de intervenção.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JORGE · Slide 5 · Priorização</a:t>
            </a:r>
          </a:p>
          <a:p>
            <a:r>
              <a:t/>
            </a:r>
          </a:p>
          <a:p>
            <a:r>
              <a:t>Com essas evidências, avaliamos os seis agentes considerando impacto, proximidade com o negócio, qualidade das evidências, viabilidade e risco.</a:t>
            </a:r>
          </a:p>
          <a:p>
            <a:r>
              <a:t/>
            </a:r>
          </a:p>
          <a:p>
            <a:r>
              <a:t>E três se destacaram: o LogiPredict, que atua antes da entrega; o SentimentDesk, que entra na etapa de avaliação; e o WinBack, que busca estimular uma segunda compra.</a:t>
            </a:r>
          </a:p>
          <a:p>
            <a:r>
              <a:t/>
            </a:r>
          </a:p>
          <a:p>
            <a:r>
              <a:t>São agentes diferentes, mas que trabalham em momentos complementares da mesma jornada.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JORGE · Slide 6 · Responsabilidades</a:t>
            </a:r>
          </a:p>
          <a:p>
            <a:r>
              <a:t/>
            </a:r>
          </a:p>
          <a:p>
            <a:r>
              <a:t>E aqui existe um ponto importante: não estamos falando de chatbots que simplesmente respondem perguntas.</a:t>
            </a:r>
          </a:p>
          <a:p>
            <a:r>
              <a:t/>
            </a:r>
          </a:p>
          <a:p>
            <a:r>
              <a:t>Cada agente tem uma missão específica, utiliza informações para tomar decisões e possui limites claros de atuação.</a:t>
            </a:r>
          </a:p>
          <a:p>
            <a:r>
              <a:t/>
            </a:r>
          </a:p>
          <a:p>
            <a:r>
              <a:t>Quando existe algum risco maior, como uma compensação financeira ou uma decisão operacional sensível, a responsabilidade continua sendo humana.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CAIO · Slide 7 · Funcionamento</a:t>
            </a:r>
          </a:p>
          <a:p>
            <a:r>
              <a:t/>
            </a:r>
          </a:p>
          <a:p>
            <a:r>
              <a:t>Na prática, como isso funciona?</a:t>
            </a:r>
          </a:p>
          <a:p>
            <a:r>
              <a:t/>
            </a:r>
          </a:p>
          <a:p>
            <a:r>
              <a:t>Os agentes seguem uma sequência de eventos, análise e decisão.</a:t>
            </a:r>
          </a:p>
          <a:p>
            <a:r>
              <a:t/>
            </a:r>
          </a:p>
          <a:p>
            <a:r>
              <a:t>O LogiPredict acompanha os principais marcos da entrega, identifica possíveis atrasos e pode acionar a operação antes que o problema aconteça.</a:t>
            </a:r>
          </a:p>
          <a:p>
            <a:r>
              <a:t/>
            </a:r>
          </a:p>
          <a:p>
            <a:r>
              <a:t>O SentimentDesk analisa as avaliações considerando não apenas o texto, mas também os dados do pedido.</a:t>
            </a:r>
          </a:p>
          <a:p>
            <a:r>
              <a:t/>
            </a:r>
          </a:p>
          <a:p>
            <a:r>
              <a:t>Já o WinBack verifica se o cliente está elegível para uma nova abordagem, respeitando consentimento, prazo e eventuais problemas ainda não resolvidos.</a:t>
            </a:r>
          </a:p>
          <a:p>
            <a:r>
              <a:t/>
            </a:r>
          </a:p>
          <a:p>
            <a:r>
              <a:t>Tudo isso com regras claras sobre o que pode ser automatizado e o que precisa passar por uma pessoa.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CAIO · Slide 8 · Caso real</a:t>
            </a:r>
          </a:p>
          <a:p>
            <a:r>
              <a:t/>
            </a:r>
          </a:p>
          <a:p>
            <a:r>
              <a:t>Para ilustrar, usamos um pedido real do dataset, enviado de Minas Gerais para o Maranhão.</a:t>
            </a:r>
          </a:p>
          <a:p>
            <a:r>
              <a:t/>
            </a:r>
          </a:p>
          <a:p>
            <a:r>
              <a:t>Nesse caso, o vendedor postou o produto quatro dias depois do limite, a entrega aconteceu dez dias após o prazo e o cliente deu nota um.</a:t>
            </a:r>
          </a:p>
          <a:p>
            <a:r>
              <a:t/>
            </a:r>
          </a:p>
          <a:p>
            <a:r>
              <a:t>Com o LogiPredict, seria possível identificar antecipadamente alguns sinais de risco. Depois, o SentimentDesk poderia tratar a avaliação, enquanto o WinBack evitaria uma oferta comercial antes da resolução do problema.</a:t>
            </a:r>
          </a:p>
          <a:p>
            <a:r>
              <a:t/>
            </a:r>
          </a:p>
          <a:p>
            <a:r>
              <a:t>É importante lembrar que essas intervenções são simulações. O que estamos mostrando é como os agentes poderiam atuar.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CAIO · Slide 9 · Exemplo do SentimentDesk</a:t>
            </a:r>
          </a:p>
          <a:p>
            <a:r>
              <a:t/>
            </a:r>
          </a:p>
          <a:p>
            <a:r>
              <a:t>Outro exemplo interessante é uma avaliação em que o cliente diz: “Só chegou a mochila, estou aguardando a lancheira”.</a:t>
            </a:r>
          </a:p>
          <a:p>
            <a:r>
              <a:t/>
            </a:r>
          </a:p>
          <a:p>
            <a:r>
              <a:t>Uma análise superficial poderia interpretar que o pedido inteiro não foi entregue.</a:t>
            </a:r>
          </a:p>
          <a:p>
            <a:r>
              <a:t/>
            </a:r>
          </a:p>
          <a:p>
            <a:r>
              <a:t>Mas, ao cruzar a mensagem com os dados do pedido, o SentimentDesk deve identificar que existe um item faltante e encaminhar o caso para o responsável.</a:t>
            </a:r>
          </a:p>
          <a:p>
            <a:r>
              <a:t/>
            </a:r>
          </a:p>
          <a:p>
            <a:r>
              <a:t>É esse contexto que permite uma decisão mais adequada.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LUCAS · Slide 10 · Impacto esperado</a:t>
            </a:r>
          </a:p>
          <a:p>
            <a:r>
              <a:t/>
            </a:r>
          </a:p>
          <a:p>
            <a:r>
              <a:t>No cenário base anual, estimamos 672 atrasos evitados, 302 avaliações negativas a menos e cerca de 1.230 horas de triagem liberadas. Na expansão futura, o WinBack poderia gerar 358 segundas compras adicionais.</a:t>
            </a:r>
          </a:p>
          <a:p>
            <a:r>
              <a:t/>
            </a:r>
          </a:p>
          <a:p>
            <a:r>
              <a:t>São projeções sobre a amostra histórica, não resultados comprovados nem metas para os 90 dias. Horas liberadas representam capacidade operacional; compras adicionais representam receita bruta, não lucro.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LUCAS · Slide 11 · Próximos passos</a:t>
            </a:r>
          </a:p>
          <a:p>
            <a:r>
              <a:t/>
            </a:r>
          </a:p>
          <a:p>
            <a:r>
              <a:t>O piloto de 90 dias começa com LogiPredict e SentimentDesk. Vamos comparar qualidade, segurança e benefício incremental com o controle, além da viabilidade econômica. Os resultados orientarão escalar, ajustar ou encerrar.</a:t>
            </a:r>
          </a:p>
          <a:p>
            <a:r>
              <a:t/>
            </a:r>
          </a:p>
          <a:p>
            <a:r>
              <a:t>Na Fase 3 acadêmica, desenvolveremos os protótipos low-code para testar esse funcionamento.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LUCAS · Slide 12 · Encerramento</a:t>
            </a:r>
          </a:p>
          <a:p>
            <a:r>
              <a:t/>
            </a:r>
          </a:p>
          <a:p>
            <a:r>
              <a:t>Queremos agentes com objetivos claros, decisões responsáveis e impacto mensurável. O próximo passo é validar. Muito obrigado!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>
  <p:cSld name="Slide 1">
    <p:bg>
      <p:bgPr>
        <a:solidFill>
          <a:srgbClr val="0A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76263"/>
            <a:ext cx="5129828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FIAP · TECH CHALLENGE · FASE 2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1684298" y="890587"/>
            <a:ext cx="1399084" cy="25400"/>
          </a:xfrm>
          <a:prstGeom prst="rect">
            <a:avLst/>
          </a:prstGeom>
          <a:solidFill>
            <a:srgbClr val="F0B547"/>
          </a:solidFill>
          <a:ln/>
        </p:spPr>
        <p:txBody>
          <a:bodyPr wrap="none"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684298" y="534988"/>
            <a:ext cx="1703884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F3F4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DESCOBRIR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3464382" y="533400"/>
            <a:ext cx="1548408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DESENHAR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088989" y="533400"/>
            <a:ext cx="1393031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ESCALAR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558221" y="533400"/>
            <a:ext cx="853480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01/12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52500" y="2190750"/>
            <a:ext cx="4938395" cy="1613892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68933"/>
              </a:lnSpc>
              <a:buNone/>
            </a:pPr>
            <a:r>
              <a:rPr lang="en-US" sz="13200" b="1" kern="0" spc="-462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FROM</a:t>
            </a:r>
            <a:endParaRPr lang="en-US" sz="13200" dirty="0"/>
          </a:p>
        </p:txBody>
      </p:sp>
      <p:sp>
        <p:nvSpPr>
          <p:cNvPr id="9" name="Text 7"/>
          <p:cNvSpPr/>
          <p:nvPr/>
        </p:nvSpPr>
        <p:spPr>
          <a:xfrm>
            <a:off x="5861050" y="2190750"/>
            <a:ext cx="7066419" cy="1613892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68933"/>
              </a:lnSpc>
              <a:buNone/>
            </a:pPr>
            <a:r>
              <a:rPr lang="en-US" sz="13200" b="1" kern="0" spc="-462" dirty="0">
                <a:solidFill>
                  <a:srgbClr val="F0B54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INSIGHT</a:t>
            </a:r>
            <a:endParaRPr lang="en-US" sz="13200" dirty="0"/>
          </a:p>
        </p:txBody>
      </p:sp>
      <p:sp>
        <p:nvSpPr>
          <p:cNvPr id="10" name="Text 8"/>
          <p:cNvSpPr/>
          <p:nvPr/>
        </p:nvSpPr>
        <p:spPr>
          <a:xfrm>
            <a:off x="952500" y="3766542"/>
            <a:ext cx="2393672" cy="1613892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68933"/>
              </a:lnSpc>
              <a:buNone/>
            </a:pPr>
            <a:r>
              <a:rPr lang="en-US" sz="13200" b="1" kern="0" spc="-462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</a:t>
            </a:r>
            <a:endParaRPr lang="en-US" sz="13200" dirty="0"/>
          </a:p>
        </p:txBody>
      </p:sp>
      <p:sp>
        <p:nvSpPr>
          <p:cNvPr id="11" name="Text 9"/>
          <p:cNvSpPr/>
          <p:nvPr/>
        </p:nvSpPr>
        <p:spPr>
          <a:xfrm>
            <a:off x="3547666" y="3766542"/>
            <a:ext cx="6574086" cy="1613892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68933"/>
              </a:lnSpc>
              <a:buNone/>
            </a:pPr>
            <a:r>
              <a:rPr lang="en-US" sz="13200" b="1" kern="0" spc="-462" dirty="0">
                <a:solidFill>
                  <a:srgbClr val="3CCFB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IMPACT</a:t>
            </a:r>
            <a:endParaRPr lang="en-US" sz="13200" dirty="0"/>
          </a:p>
        </p:txBody>
      </p:sp>
      <p:sp>
        <p:nvSpPr>
          <p:cNvPr id="12" name="Text 10"/>
          <p:cNvSpPr/>
          <p:nvPr/>
        </p:nvSpPr>
        <p:spPr>
          <a:xfrm>
            <a:off x="952500" y="5761434"/>
            <a:ext cx="14650929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1463"/>
              </a:lnSpc>
              <a:buNone/>
            </a:pPr>
            <a:r>
              <a:rPr lang="en-US" sz="3000" b="1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Olist Intelligent Marketplace | Agentes de IA aplicados à jornada do pedido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952500" y="6371034"/>
            <a:ext cx="14650929" cy="44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692"/>
              </a:lnSpc>
              <a:buNone/>
            </a:pPr>
            <a:r>
              <a:rPr lang="en-US" sz="2400" dirty="0">
                <a:solidFill>
                  <a:srgbClr val="A3A8B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Da identificação dos problemas ao desenho de agentes capazes de atuar sobre eles.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52500" y="8382000"/>
            <a:ext cx="16383000" cy="19050"/>
          </a:xfrm>
          <a:prstGeom prst="rect">
            <a:avLst/>
          </a:prstGeom>
          <a:solidFill>
            <a:srgbClr val="2A3050"/>
          </a:solidFill>
          <a:ln/>
        </p:spPr>
        <p:txBody>
          <a:bodyPr wrap="none"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096125" y="7810500"/>
            <a:ext cx="19050" cy="571500"/>
          </a:xfrm>
          <a:prstGeom prst="rect">
            <a:avLst/>
          </a:prstGeom>
          <a:solidFill>
            <a:srgbClr val="8E7CFF"/>
          </a:solidFill>
          <a:ln/>
        </p:spPr>
        <p:txBody>
          <a:bodyPr wrap="none"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3239750" y="7810500"/>
            <a:ext cx="19050" cy="571500"/>
          </a:xfrm>
          <a:prstGeom prst="rect">
            <a:avLst/>
          </a:prstGeom>
          <a:solidFill>
            <a:srgbClr val="8E7CFF"/>
          </a:solidFill>
          <a:ln/>
        </p:spPr>
        <p:txBody>
          <a:bodyPr wrap="none"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5287625" y="7810500"/>
            <a:ext cx="19050" cy="571500"/>
          </a:xfrm>
          <a:prstGeom prst="rect">
            <a:avLst/>
          </a:prstGeom>
          <a:solidFill>
            <a:srgbClr val="8E7CFF"/>
          </a:solidFill>
          <a:ln/>
        </p:spPr>
        <p:txBody>
          <a:bodyPr wrap="none"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000875" y="7715250"/>
            <a:ext cx="209550" cy="209550"/>
          </a:xfrm>
          <a:prstGeom prst="ellipse">
            <a:avLst/>
          </a:prstGeom>
          <a:solidFill>
            <a:srgbClr val="8E7CFF"/>
          </a:solidFill>
          <a:ln/>
        </p:spPr>
        <p:txBody>
          <a:bodyPr wrap="none"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3144500" y="7715250"/>
            <a:ext cx="209550" cy="209550"/>
          </a:xfrm>
          <a:prstGeom prst="ellipse">
            <a:avLst/>
          </a:prstGeom>
          <a:solidFill>
            <a:srgbClr val="8E7CFF"/>
          </a:solidFill>
          <a:ln/>
        </p:spPr>
        <p:txBody>
          <a:bodyPr wrap="none"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5192375" y="7715250"/>
            <a:ext cx="209550" cy="209550"/>
          </a:xfrm>
          <a:prstGeom prst="ellipse">
            <a:avLst/>
          </a:prstGeom>
          <a:solidFill>
            <a:srgbClr val="8E7CFF"/>
          </a:solidFill>
          <a:ln/>
        </p:spPr>
        <p:txBody>
          <a:bodyPr wrap="none"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885825" y="8324850"/>
            <a:ext cx="133350" cy="133350"/>
          </a:xfrm>
          <a:prstGeom prst="ellipse">
            <a:avLst/>
          </a:prstGeom>
          <a:solidFill>
            <a:srgbClr val="F3F4F8"/>
          </a:solidFill>
          <a:ln/>
        </p:spPr>
        <p:txBody>
          <a:bodyPr wrap="none"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981575" y="8324850"/>
            <a:ext cx="133350" cy="133350"/>
          </a:xfrm>
          <a:prstGeom prst="ellipse">
            <a:avLst/>
          </a:prstGeom>
          <a:solidFill>
            <a:srgbClr val="F3F4F8"/>
          </a:solidFill>
          <a:ln/>
        </p:spPr>
        <p:txBody>
          <a:bodyPr wrap="none"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9077325" y="8324850"/>
            <a:ext cx="133350" cy="133350"/>
          </a:xfrm>
          <a:prstGeom prst="ellipse">
            <a:avLst/>
          </a:prstGeom>
          <a:solidFill>
            <a:srgbClr val="F3F4F8"/>
          </a:solidFill>
          <a:ln/>
        </p:spPr>
        <p:txBody>
          <a:bodyPr wrap="none"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13173075" y="8324850"/>
            <a:ext cx="133350" cy="133350"/>
          </a:xfrm>
          <a:prstGeom prst="ellipse">
            <a:avLst/>
          </a:prstGeom>
          <a:solidFill>
            <a:srgbClr val="F3F4F8"/>
          </a:solidFill>
          <a:ln/>
        </p:spPr>
        <p:txBody>
          <a:bodyPr wrap="none"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17268825" y="8324850"/>
            <a:ext cx="133350" cy="133350"/>
          </a:xfrm>
          <a:prstGeom prst="ellipse">
            <a:avLst/>
          </a:prstGeom>
          <a:solidFill>
            <a:srgbClr val="3CCFB4"/>
          </a:solidFill>
          <a:ln/>
        </p:spPr>
        <p:txBody>
          <a:bodyPr wrap="none"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52500" y="8648700"/>
            <a:ext cx="1008955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COMPRA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426446" y="8648700"/>
            <a:ext cx="1367969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POSTAGEM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599884" y="8648700"/>
            <a:ext cx="1164431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ENTREGA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2540209" y="8648700"/>
            <a:ext cx="1538992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AVALIAÇÃO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6091892" y="8648700"/>
            <a:ext cx="1367969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RECOMPRA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52500" y="9556750"/>
            <a:ext cx="13018731" cy="349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7C82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Leonardo Granjeiro · Jorge Leandro Piva · Caio Sousa · Lucas Vinicius Oliveira Mendes — Pós-graduação em IA, FIAP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 name="Slide 2">
    <p:bg>
      <p:bgPr>
        <a:solidFill>
          <a:srgbClr val="0A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76263"/>
            <a:ext cx="5129828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OLIST · FROM INSIGHT TO IMPACT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1684298" y="890587"/>
            <a:ext cx="1399084" cy="25400"/>
          </a:xfrm>
          <a:prstGeom prst="rect">
            <a:avLst/>
          </a:prstGeom>
          <a:solidFill>
            <a:srgbClr val="F0B547"/>
          </a:solidFill>
          <a:ln/>
        </p:spPr>
        <p:txBody>
          <a:bodyPr wrap="none"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684298" y="534988"/>
            <a:ext cx="1703884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F3F4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DESCOBRIR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3464382" y="533400"/>
            <a:ext cx="1548408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DESENHAR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088989" y="533400"/>
            <a:ext cx="1393031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ESCALAR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558221" y="533400"/>
            <a:ext cx="853480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02/12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52500" y="1428750"/>
            <a:ext cx="16383000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216" dirty="0">
                <a:solidFill>
                  <a:srgbClr val="F0B54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DECISÃO SOLICITADA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52500" y="1898650"/>
            <a:ext cx="14716125" cy="13182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1951"/>
              </a:lnSpc>
              <a:buNone/>
            </a:pPr>
            <a:r>
              <a:rPr lang="en-US" sz="4500" b="1" kern="0" spc="-9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Nossa recomendação: validar dois agentes em 90 dias.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952500" y="3712171"/>
            <a:ext cx="6496050" cy="31623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60000"/>
              </a:lnSpc>
              <a:buNone/>
            </a:pPr>
            <a:r>
              <a:rPr lang="en-US" sz="30000" b="1" kern="0" spc="-1500" dirty="0">
                <a:solidFill>
                  <a:srgbClr val="3CCFB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90</a:t>
            </a:r>
            <a:endParaRPr lang="en-US" sz="30000" dirty="0"/>
          </a:p>
        </p:txBody>
      </p:sp>
      <p:sp>
        <p:nvSpPr>
          <p:cNvPr id="11" name="Text 9"/>
          <p:cNvSpPr/>
          <p:nvPr/>
        </p:nvSpPr>
        <p:spPr>
          <a:xfrm>
            <a:off x="952500" y="7122121"/>
            <a:ext cx="6496050" cy="3873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kern="0" spc="252" dirty="0">
                <a:solidFill>
                  <a:srgbClr val="F3F4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DIAS DE PILOTO CONTROLADO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7620000" y="3883621"/>
            <a:ext cx="3371790" cy="819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500" b="1" kern="0" spc="-90" dirty="0">
                <a:solidFill>
                  <a:srgbClr val="8E7C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LogiPredict</a:t>
            </a:r>
            <a:endParaRPr lang="en-US" sz="4500" dirty="0"/>
          </a:p>
        </p:txBody>
      </p:sp>
      <p:sp>
        <p:nvSpPr>
          <p:cNvPr id="13" name="Text 11"/>
          <p:cNvSpPr/>
          <p:nvPr/>
        </p:nvSpPr>
        <p:spPr>
          <a:xfrm>
            <a:off x="10951964" y="3966170"/>
            <a:ext cx="361752" cy="7112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900" dirty="0">
                <a:solidFill>
                  <a:srgbClr val="7C82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11504216" y="3883621"/>
            <a:ext cx="4552583" cy="819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500" b="1" kern="0" spc="-90" dirty="0">
                <a:solidFill>
                  <a:srgbClr val="8E7C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SentimentDesk</a:t>
            </a:r>
            <a:endParaRPr lang="en-US" sz="4500" dirty="0"/>
          </a:p>
        </p:txBody>
      </p:sp>
      <p:sp>
        <p:nvSpPr>
          <p:cNvPr id="15" name="Shape 13"/>
          <p:cNvSpPr/>
          <p:nvPr/>
        </p:nvSpPr>
        <p:spPr>
          <a:xfrm>
            <a:off x="7620000" y="4836121"/>
            <a:ext cx="9715500" cy="19050"/>
          </a:xfrm>
          <a:prstGeom prst="rect">
            <a:avLst/>
          </a:prstGeom>
          <a:solidFill>
            <a:srgbClr val="2A3050"/>
          </a:solidFill>
          <a:ln/>
        </p:spPr>
        <p:txBody>
          <a:bodyPr wrap="none"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620000" y="5026621"/>
            <a:ext cx="10006965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7984"/>
              </a:lnSpc>
              <a:buNone/>
            </a:pPr>
            <a:r>
              <a:rPr lang="en-US" sz="2250" dirty="0">
                <a:solidFill>
                  <a:srgbClr val="A3A8B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Prevenção de atrasos antes da entrega e triagem das avaliações negativas depois dela: dois elos da mesma jornada.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7620000" y="6328371"/>
            <a:ext cx="114300" cy="114300"/>
          </a:xfrm>
          <a:prstGeom prst="rect">
            <a:avLst/>
          </a:prstGeom>
          <a:solidFill>
            <a:srgbClr val="3CCFB4"/>
          </a:solidFill>
          <a:ln/>
        </p:spPr>
        <p:txBody>
          <a:bodyPr wrap="none"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905750" y="6179146"/>
            <a:ext cx="4993729" cy="450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Rotas selecionadas do Nordeste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7620000" y="6893521"/>
            <a:ext cx="114300" cy="114300"/>
          </a:xfrm>
          <a:prstGeom prst="rect">
            <a:avLst/>
          </a:prstGeom>
          <a:solidFill>
            <a:srgbClr val="3CCFB4"/>
          </a:solidFill>
          <a:ln/>
        </p:spPr>
        <p:txBody>
          <a:bodyPr wrap="none"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905750" y="6744295"/>
            <a:ext cx="4630946" cy="450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Grupo de controle comparável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7620000" y="7458670"/>
            <a:ext cx="114300" cy="114300"/>
          </a:xfrm>
          <a:prstGeom prst="rect">
            <a:avLst/>
          </a:prstGeom>
          <a:solidFill>
            <a:srgbClr val="3CCFB4"/>
          </a:solidFill>
          <a:ln/>
        </p:spPr>
        <p:txBody>
          <a:bodyPr wrap="none"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905750" y="7309446"/>
            <a:ext cx="10055453" cy="450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Supervisão humana e avaliação técnica, operacional e econômica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952500" y="8166100"/>
            <a:ext cx="16383000" cy="19050"/>
          </a:xfrm>
          <a:prstGeom prst="rect">
            <a:avLst/>
          </a:prstGeom>
          <a:solidFill>
            <a:srgbClr val="2A3050"/>
          </a:solidFill>
          <a:ln/>
        </p:spPr>
        <p:txBody>
          <a:bodyPr wrap="none"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52500" y="8394700"/>
            <a:ext cx="8591550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216" dirty="0">
                <a:solidFill>
                  <a:srgbClr val="3CCFB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PILOTO AGORA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52500" y="8769350"/>
            <a:ext cx="8591550" cy="406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Prevenção de atrasos e triagem de avaliações.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9144000" y="8185150"/>
            <a:ext cx="19050" cy="952500"/>
          </a:xfrm>
          <a:prstGeom prst="rect">
            <a:avLst/>
          </a:prstGeom>
          <a:solidFill>
            <a:srgbClr val="2A3050"/>
          </a:solidFill>
          <a:ln/>
        </p:spPr>
        <p:txBody>
          <a:bodyPr wrap="none"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9544050" y="8394700"/>
            <a:ext cx="8570595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216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EXPANSÃO FUTURA · CONDICIONADA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544050" y="8769350"/>
            <a:ext cx="8570595" cy="406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A3A8B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Conversão em segunda compra com WinBack.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952500" y="9309100"/>
            <a:ext cx="16383000" cy="349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7C82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Rotas finais sujeitas à confirmação de volume elegível e viabilidade operacional.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 name="Slide 3">
    <p:bg>
      <p:bgPr>
        <a:solidFill>
          <a:srgbClr val="0A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952500" y="576263"/>
            <a:ext cx="5129828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OLIST · FROM INSIGHT TO IMPACT</a:t>
            </a:r>
            <a:endParaRPr lang="pt-BR" sz="1800" dirty="0"/>
          </a:p>
        </p:txBody>
      </p:sp>
      <p:sp>
        <p:nvSpPr>
          <p:cNvPr id="3" name="Shape 3"/>
          <p:cNvSpPr/>
          <p:nvPr/>
        </p:nvSpPr>
        <p:spPr>
          <a:xfrm>
            <a:off x="11684298" y="890587"/>
            <a:ext cx="1399084" cy="25400"/>
          </a:xfrm>
          <a:prstGeom prst="rect">
            <a:avLst/>
          </a:prstGeom>
          <a:solidFill>
            <a:srgbClr val="F0B547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4" name="Text 4"/>
          <p:cNvSpPr/>
          <p:nvPr/>
        </p:nvSpPr>
        <p:spPr>
          <a:xfrm>
            <a:off x="11684298" y="534988"/>
            <a:ext cx="1703884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F3F4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DESCOBRIR</a:t>
            </a:r>
            <a:endParaRPr lang="pt-BR" sz="1800" dirty="0"/>
          </a:p>
        </p:txBody>
      </p:sp>
      <p:sp>
        <p:nvSpPr>
          <p:cNvPr id="5" name="Text 5"/>
          <p:cNvSpPr/>
          <p:nvPr/>
        </p:nvSpPr>
        <p:spPr>
          <a:xfrm>
            <a:off x="13464382" y="533400"/>
            <a:ext cx="1548408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DESENHAR</a:t>
            </a:r>
            <a:endParaRPr lang="pt-BR" sz="1800" dirty="0"/>
          </a:p>
        </p:txBody>
      </p:sp>
      <p:sp>
        <p:nvSpPr>
          <p:cNvPr id="6" name="Text 6"/>
          <p:cNvSpPr/>
          <p:nvPr/>
        </p:nvSpPr>
        <p:spPr>
          <a:xfrm>
            <a:off x="15088989" y="533400"/>
            <a:ext cx="1393031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ESCALAR</a:t>
            </a:r>
            <a:endParaRPr lang="pt-BR" sz="1800" dirty="0"/>
          </a:p>
        </p:txBody>
      </p:sp>
      <p:sp>
        <p:nvSpPr>
          <p:cNvPr id="7" name="Text 7"/>
          <p:cNvSpPr/>
          <p:nvPr/>
        </p:nvSpPr>
        <p:spPr>
          <a:xfrm>
            <a:off x="16558221" y="533400"/>
            <a:ext cx="853480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03/12</a:t>
            </a:r>
            <a:endParaRPr lang="pt-BR" sz="1800" dirty="0"/>
          </a:p>
        </p:txBody>
      </p:sp>
      <p:sp>
        <p:nvSpPr>
          <p:cNvPr id="8" name="Text 8"/>
          <p:cNvSpPr/>
          <p:nvPr/>
        </p:nvSpPr>
        <p:spPr>
          <a:xfrm>
            <a:off x="952500" y="1428750"/>
            <a:ext cx="16383000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216" dirty="0">
                <a:solidFill>
                  <a:srgbClr val="F0B54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DA FASE 1 PARA A FASE 2</a:t>
            </a:r>
            <a:endParaRPr lang="pt-BR" sz="1800" dirty="0"/>
          </a:p>
        </p:txBody>
      </p:sp>
      <p:sp>
        <p:nvSpPr>
          <p:cNvPr id="9" name="Text 9"/>
          <p:cNvSpPr/>
          <p:nvPr/>
        </p:nvSpPr>
        <p:spPr>
          <a:xfrm>
            <a:off x="952500" y="1898650"/>
            <a:ext cx="13735050" cy="13182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1951"/>
              </a:lnSpc>
              <a:buNone/>
            </a:pPr>
            <a:r>
              <a:rPr lang="pt-BR" sz="4500" b="1" kern="0" spc="-9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 seis oportunidades a três agentes com decisões definidas.</a:t>
            </a:r>
            <a:endParaRPr lang="pt-BR" sz="4500" dirty="0"/>
          </a:p>
        </p:txBody>
      </p:sp>
      <p:sp>
        <p:nvSpPr>
          <p:cNvPr id="10" name="Text 10"/>
          <p:cNvSpPr/>
          <p:nvPr/>
        </p:nvSpPr>
        <p:spPr>
          <a:xfrm>
            <a:off x="952500" y="3667125"/>
            <a:ext cx="7620000" cy="3333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216" dirty="0">
                <a:solidFill>
                  <a:srgbClr val="F0B54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FASE 1 · IDENTIFICAR</a:t>
            </a:r>
            <a:endParaRPr lang="pt-BR" sz="1800" dirty="0"/>
          </a:p>
        </p:txBody>
      </p:sp>
      <p:sp>
        <p:nvSpPr>
          <p:cNvPr id="11" name="Text 11"/>
          <p:cNvSpPr/>
          <p:nvPr/>
        </p:nvSpPr>
        <p:spPr>
          <a:xfrm>
            <a:off x="952500" y="4076700"/>
            <a:ext cx="7810500" cy="762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100" dirty="0">
                <a:solidFill>
                  <a:srgbClr val="A3A8B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Seis oportunidades de IA · diagnóstico das fricções da jornada · proposta conceitual</a:t>
            </a:r>
            <a:endParaRPr lang="pt-BR" sz="2100" dirty="0"/>
          </a:p>
        </p:txBody>
      </p:sp>
      <p:sp>
        <p:nvSpPr>
          <p:cNvPr id="12" name="Text 12"/>
          <p:cNvSpPr/>
          <p:nvPr/>
        </p:nvSpPr>
        <p:spPr>
          <a:xfrm>
            <a:off x="10668000" y="3667125"/>
            <a:ext cx="6667500" cy="3333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216" dirty="0">
                <a:solidFill>
                  <a:srgbClr val="8E7C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FASE 2 · OPERACIONALIZAR</a:t>
            </a:r>
            <a:endParaRPr lang="pt-BR" sz="1800" dirty="0"/>
          </a:p>
        </p:txBody>
      </p:sp>
      <p:sp>
        <p:nvSpPr>
          <p:cNvPr id="13" name="Text 13"/>
          <p:cNvSpPr/>
          <p:nvPr/>
        </p:nvSpPr>
        <p:spPr>
          <a:xfrm>
            <a:off x="10668000" y="4076700"/>
            <a:ext cx="6667500" cy="762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10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Três agentes priorizados · jornadas e decisões detalhadas · limites de autonomia · indicadores e validação</a:t>
            </a:r>
            <a:endParaRPr lang="pt-BR" sz="2100" dirty="0"/>
          </a:p>
        </p:txBody>
      </p:sp>
      <p:sp>
        <p:nvSpPr>
          <p:cNvPr id="14" name="Text 14"/>
          <p:cNvSpPr/>
          <p:nvPr/>
        </p:nvSpPr>
        <p:spPr>
          <a:xfrm>
            <a:off x="4476750" y="5219700"/>
            <a:ext cx="5334000" cy="3333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80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PRIORIZAÇÃO PONDERADA</a:t>
            </a:r>
            <a:endParaRPr lang="pt-BR" sz="1800" dirty="0"/>
          </a:p>
        </p:txBody>
      </p:sp>
      <p:sp>
        <p:nvSpPr>
          <p:cNvPr id="15" name="Text 15"/>
          <p:cNvSpPr/>
          <p:nvPr/>
        </p:nvSpPr>
        <p:spPr>
          <a:xfrm>
            <a:off x="952500" y="5686425"/>
            <a:ext cx="30480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400" b="1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LogiPredict</a:t>
            </a:r>
            <a:endParaRPr lang="pt-BR" sz="2400" dirty="0"/>
          </a:p>
        </p:txBody>
      </p:sp>
      <p:sp>
        <p:nvSpPr>
          <p:cNvPr id="16" name="Shape 16"/>
          <p:cNvSpPr/>
          <p:nvPr/>
        </p:nvSpPr>
        <p:spPr>
          <a:xfrm>
            <a:off x="4057650" y="5829300"/>
            <a:ext cx="152400" cy="152400"/>
          </a:xfrm>
          <a:prstGeom prst="ellipse">
            <a:avLst/>
          </a:prstGeom>
          <a:solidFill>
            <a:srgbClr val="8E7CFF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17" name="Shape 17"/>
          <p:cNvSpPr/>
          <p:nvPr/>
        </p:nvSpPr>
        <p:spPr>
          <a:xfrm>
            <a:off x="4210050" y="5891213"/>
            <a:ext cx="5905500" cy="28575"/>
          </a:xfrm>
          <a:prstGeom prst="rect">
            <a:avLst/>
          </a:prstGeom>
          <a:solidFill>
            <a:srgbClr val="8E7CFF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18" name="Text 18"/>
          <p:cNvSpPr/>
          <p:nvPr/>
        </p:nvSpPr>
        <p:spPr>
          <a:xfrm>
            <a:off x="952500" y="6219825"/>
            <a:ext cx="30480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400" b="1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SentimentDesk</a:t>
            </a:r>
            <a:endParaRPr lang="pt-BR" sz="2400" dirty="0"/>
          </a:p>
        </p:txBody>
      </p:sp>
      <p:sp>
        <p:nvSpPr>
          <p:cNvPr id="19" name="Shape 19"/>
          <p:cNvSpPr/>
          <p:nvPr/>
        </p:nvSpPr>
        <p:spPr>
          <a:xfrm>
            <a:off x="4057650" y="6362700"/>
            <a:ext cx="152400" cy="152400"/>
          </a:xfrm>
          <a:prstGeom prst="ellipse">
            <a:avLst/>
          </a:prstGeom>
          <a:solidFill>
            <a:srgbClr val="8E7CFF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20" name="Shape 20"/>
          <p:cNvSpPr/>
          <p:nvPr/>
        </p:nvSpPr>
        <p:spPr>
          <a:xfrm>
            <a:off x="4210050" y="6424613"/>
            <a:ext cx="5905500" cy="28575"/>
          </a:xfrm>
          <a:prstGeom prst="rect">
            <a:avLst/>
          </a:prstGeom>
          <a:solidFill>
            <a:srgbClr val="8E7CFF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21" name="Text 21"/>
          <p:cNvSpPr/>
          <p:nvPr/>
        </p:nvSpPr>
        <p:spPr>
          <a:xfrm>
            <a:off x="952500" y="6753225"/>
            <a:ext cx="30480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400" b="1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WinBack</a:t>
            </a:r>
            <a:endParaRPr lang="pt-BR" sz="2400" dirty="0"/>
          </a:p>
        </p:txBody>
      </p:sp>
      <p:sp>
        <p:nvSpPr>
          <p:cNvPr id="22" name="Shape 22"/>
          <p:cNvSpPr/>
          <p:nvPr/>
        </p:nvSpPr>
        <p:spPr>
          <a:xfrm>
            <a:off x="4057650" y="6896100"/>
            <a:ext cx="152400" cy="152400"/>
          </a:xfrm>
          <a:prstGeom prst="ellipse">
            <a:avLst/>
          </a:prstGeom>
          <a:solidFill>
            <a:srgbClr val="8E7CFF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23" name="Shape 23"/>
          <p:cNvSpPr/>
          <p:nvPr/>
        </p:nvSpPr>
        <p:spPr>
          <a:xfrm>
            <a:off x="4210050" y="6958013"/>
            <a:ext cx="5905500" cy="28575"/>
          </a:xfrm>
          <a:prstGeom prst="rect">
            <a:avLst/>
          </a:prstGeom>
          <a:solidFill>
            <a:srgbClr val="8E7CFF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24" name="Text 24"/>
          <p:cNvSpPr/>
          <p:nvPr/>
        </p:nvSpPr>
        <p:spPr>
          <a:xfrm>
            <a:off x="952500" y="7286625"/>
            <a:ext cx="30480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400" dirty="0">
                <a:solidFill>
                  <a:srgbClr val="7C82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SellerCare</a:t>
            </a:r>
            <a:endParaRPr lang="pt-BR" sz="2400" dirty="0"/>
          </a:p>
        </p:txBody>
      </p:sp>
      <p:sp>
        <p:nvSpPr>
          <p:cNvPr id="25" name="Shape 25"/>
          <p:cNvSpPr/>
          <p:nvPr/>
        </p:nvSpPr>
        <p:spPr>
          <a:xfrm>
            <a:off x="4067175" y="7439025"/>
            <a:ext cx="133350" cy="133350"/>
          </a:xfrm>
          <a:prstGeom prst="ellipse">
            <a:avLst/>
          </a:prstGeom>
          <a:solidFill>
            <a:srgbClr val="0A0D1A"/>
          </a:solidFill>
          <a:ln w="14288">
            <a:solidFill>
              <a:srgbClr val="7C8299"/>
            </a:solidFill>
            <a:prstDash val="solid"/>
          </a:ln>
        </p:spPr>
        <p:txBody>
          <a:bodyPr wrap="none"/>
          <a:lstStyle/>
          <a:p>
            <a:endParaRPr lang="pt-BR"/>
          </a:p>
        </p:txBody>
      </p:sp>
      <p:sp>
        <p:nvSpPr>
          <p:cNvPr id="26" name="Shape 26"/>
          <p:cNvSpPr/>
          <p:nvPr/>
        </p:nvSpPr>
        <p:spPr>
          <a:xfrm>
            <a:off x="4238625" y="7496175"/>
            <a:ext cx="666750" cy="19050"/>
          </a:xfrm>
          <a:prstGeom prst="rect">
            <a:avLst/>
          </a:prstGeom>
          <a:solidFill>
            <a:srgbClr val="2A3050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27" name="Text 27"/>
          <p:cNvSpPr/>
          <p:nvPr/>
        </p:nvSpPr>
        <p:spPr>
          <a:xfrm>
            <a:off x="5095875" y="7343314"/>
            <a:ext cx="47625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72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absorvido pelos dois primeiros</a:t>
            </a:r>
            <a:endParaRPr lang="pt-BR" sz="1800" dirty="0"/>
          </a:p>
        </p:txBody>
      </p:sp>
      <p:sp>
        <p:nvSpPr>
          <p:cNvPr id="28" name="Text 28"/>
          <p:cNvSpPr/>
          <p:nvPr/>
        </p:nvSpPr>
        <p:spPr>
          <a:xfrm>
            <a:off x="952500" y="7820025"/>
            <a:ext cx="30480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400" dirty="0">
                <a:solidFill>
                  <a:srgbClr val="7C82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SmartFreight</a:t>
            </a:r>
            <a:endParaRPr lang="pt-BR" sz="2400" dirty="0"/>
          </a:p>
        </p:txBody>
      </p:sp>
      <p:sp>
        <p:nvSpPr>
          <p:cNvPr id="29" name="Shape 29"/>
          <p:cNvSpPr/>
          <p:nvPr/>
        </p:nvSpPr>
        <p:spPr>
          <a:xfrm>
            <a:off x="4067175" y="7972425"/>
            <a:ext cx="133350" cy="133350"/>
          </a:xfrm>
          <a:prstGeom prst="ellipse">
            <a:avLst/>
          </a:prstGeom>
          <a:solidFill>
            <a:srgbClr val="0A0D1A"/>
          </a:solidFill>
          <a:ln w="14288">
            <a:solidFill>
              <a:srgbClr val="7C8299"/>
            </a:solidFill>
            <a:prstDash val="solid"/>
          </a:ln>
        </p:spPr>
        <p:txBody>
          <a:bodyPr wrap="none"/>
          <a:lstStyle/>
          <a:p>
            <a:endParaRPr lang="pt-BR"/>
          </a:p>
        </p:txBody>
      </p:sp>
      <p:sp>
        <p:nvSpPr>
          <p:cNvPr id="30" name="Shape 30"/>
          <p:cNvSpPr/>
          <p:nvPr/>
        </p:nvSpPr>
        <p:spPr>
          <a:xfrm>
            <a:off x="4238625" y="8029575"/>
            <a:ext cx="666750" cy="19050"/>
          </a:xfrm>
          <a:prstGeom prst="rect">
            <a:avLst/>
          </a:prstGeom>
          <a:solidFill>
            <a:srgbClr val="2A3050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31" name="Text 31"/>
          <p:cNvSpPr/>
          <p:nvPr/>
        </p:nvSpPr>
        <p:spPr>
          <a:xfrm>
            <a:off x="5095875" y="7876714"/>
            <a:ext cx="47625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72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backlog</a:t>
            </a:r>
            <a:endParaRPr lang="pt-BR" sz="1800" dirty="0"/>
          </a:p>
        </p:txBody>
      </p:sp>
      <p:sp>
        <p:nvSpPr>
          <p:cNvPr id="32" name="Text 32"/>
          <p:cNvSpPr/>
          <p:nvPr/>
        </p:nvSpPr>
        <p:spPr>
          <a:xfrm>
            <a:off x="952500" y="8353425"/>
            <a:ext cx="30480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400" dirty="0">
                <a:solidFill>
                  <a:srgbClr val="7C82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Maestro</a:t>
            </a:r>
            <a:endParaRPr lang="pt-BR" sz="2400" dirty="0"/>
          </a:p>
        </p:txBody>
      </p:sp>
      <p:sp>
        <p:nvSpPr>
          <p:cNvPr id="33" name="Shape 33"/>
          <p:cNvSpPr/>
          <p:nvPr/>
        </p:nvSpPr>
        <p:spPr>
          <a:xfrm>
            <a:off x="4067175" y="8505825"/>
            <a:ext cx="133350" cy="133350"/>
          </a:xfrm>
          <a:prstGeom prst="ellipse">
            <a:avLst/>
          </a:prstGeom>
          <a:solidFill>
            <a:srgbClr val="0A0D1A"/>
          </a:solidFill>
          <a:ln w="14288">
            <a:solidFill>
              <a:srgbClr val="7C8299"/>
            </a:solidFill>
            <a:prstDash val="solid"/>
          </a:ln>
        </p:spPr>
        <p:txBody>
          <a:bodyPr wrap="none"/>
          <a:lstStyle/>
          <a:p>
            <a:endParaRPr lang="pt-BR"/>
          </a:p>
        </p:txBody>
      </p:sp>
      <p:sp>
        <p:nvSpPr>
          <p:cNvPr id="34" name="Shape 34"/>
          <p:cNvSpPr/>
          <p:nvPr/>
        </p:nvSpPr>
        <p:spPr>
          <a:xfrm>
            <a:off x="4238625" y="8562975"/>
            <a:ext cx="666750" cy="19050"/>
          </a:xfrm>
          <a:prstGeom prst="rect">
            <a:avLst/>
          </a:prstGeom>
          <a:solidFill>
            <a:srgbClr val="2A3050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35" name="Text 35"/>
          <p:cNvSpPr/>
          <p:nvPr/>
        </p:nvSpPr>
        <p:spPr>
          <a:xfrm>
            <a:off x="5095875" y="8410114"/>
            <a:ext cx="47625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72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orquestração na Fase 4</a:t>
            </a:r>
            <a:endParaRPr lang="pt-BR" sz="1800" dirty="0"/>
          </a:p>
        </p:txBody>
      </p:sp>
      <p:sp>
        <p:nvSpPr>
          <p:cNvPr id="36" name="Shape 36"/>
          <p:cNvSpPr/>
          <p:nvPr/>
        </p:nvSpPr>
        <p:spPr>
          <a:xfrm>
            <a:off x="10096500" y="5891213"/>
            <a:ext cx="38100" cy="1095375"/>
          </a:xfrm>
          <a:prstGeom prst="rect">
            <a:avLst/>
          </a:prstGeom>
          <a:solidFill>
            <a:srgbClr val="8E7CFF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37" name="Shape 37"/>
          <p:cNvSpPr/>
          <p:nvPr/>
        </p:nvSpPr>
        <p:spPr>
          <a:xfrm>
            <a:off x="10134600" y="6424613"/>
            <a:ext cx="381000" cy="28575"/>
          </a:xfrm>
          <a:prstGeom prst="rect">
            <a:avLst/>
          </a:prstGeom>
          <a:solidFill>
            <a:srgbClr val="8E7CFF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38" name="Text 38"/>
          <p:cNvSpPr/>
          <p:nvPr/>
        </p:nvSpPr>
        <p:spPr>
          <a:xfrm>
            <a:off x="10648950" y="5581650"/>
            <a:ext cx="1809750" cy="17145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/>
          </a:bodyPr>
          <a:lstStyle/>
          <a:p>
            <a:pPr marL="0" indent="0" algn="l">
              <a:lnSpc>
                <a:spcPct val="80000"/>
              </a:lnSpc>
              <a:buNone/>
            </a:pPr>
            <a:r>
              <a:rPr lang="pt-BR" sz="12000" b="1" kern="0" spc="-240" dirty="0">
                <a:solidFill>
                  <a:srgbClr val="8E7C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pt-BR" sz="12000" dirty="0"/>
          </a:p>
        </p:txBody>
      </p:sp>
      <p:sp>
        <p:nvSpPr>
          <p:cNvPr id="39" name="Text 39"/>
          <p:cNvSpPr/>
          <p:nvPr/>
        </p:nvSpPr>
        <p:spPr>
          <a:xfrm>
            <a:off x="12287250" y="5945444"/>
            <a:ext cx="5048250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pt-BR" sz="2550" b="1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agentes especializados na jornada do pedido</a:t>
            </a:r>
            <a:endParaRPr lang="pt-BR" sz="2550" dirty="0"/>
          </a:p>
        </p:txBody>
      </p:sp>
      <p:sp>
        <p:nvSpPr>
          <p:cNvPr id="40" name="Shape 40"/>
          <p:cNvSpPr/>
          <p:nvPr/>
        </p:nvSpPr>
        <p:spPr>
          <a:xfrm>
            <a:off x="952500" y="9048750"/>
            <a:ext cx="16383000" cy="9525"/>
          </a:xfrm>
          <a:prstGeom prst="rect">
            <a:avLst/>
          </a:prstGeom>
          <a:solidFill>
            <a:srgbClr val="2A3050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41" name="Text 41"/>
          <p:cNvSpPr/>
          <p:nvPr/>
        </p:nvSpPr>
        <p:spPr>
          <a:xfrm>
            <a:off x="952500" y="9286875"/>
            <a:ext cx="4000500" cy="3333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DA EVIDÊNCIA À DECISÃO</a:t>
            </a:r>
            <a:endParaRPr lang="pt-BR" sz="1800" dirty="0"/>
          </a:p>
        </p:txBody>
      </p:sp>
      <p:sp>
        <p:nvSpPr>
          <p:cNvPr id="42" name="Text 42"/>
          <p:cNvSpPr/>
          <p:nvPr/>
        </p:nvSpPr>
        <p:spPr>
          <a:xfrm>
            <a:off x="4953000" y="9239250"/>
            <a:ext cx="2769870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100" b="1" dirty="0">
                <a:solidFill>
                  <a:srgbClr val="F0B54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Dados rastreáveis</a:t>
            </a:r>
            <a:endParaRPr lang="pt-BR" sz="2100" dirty="0"/>
          </a:p>
        </p:txBody>
      </p:sp>
      <p:sp>
        <p:nvSpPr>
          <p:cNvPr id="43" name="Text 43"/>
          <p:cNvSpPr/>
          <p:nvPr/>
        </p:nvSpPr>
        <p:spPr>
          <a:xfrm>
            <a:off x="7818120" y="9239250"/>
            <a:ext cx="285750" cy="4000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100" dirty="0">
                <a:solidFill>
                  <a:srgbClr val="7C82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→</a:t>
            </a:r>
            <a:endParaRPr lang="pt-BR" sz="2100" dirty="0"/>
          </a:p>
        </p:txBody>
      </p:sp>
      <p:sp>
        <p:nvSpPr>
          <p:cNvPr id="44" name="Text 44"/>
          <p:cNvSpPr/>
          <p:nvPr/>
        </p:nvSpPr>
        <p:spPr>
          <a:xfrm>
            <a:off x="8199120" y="9239250"/>
            <a:ext cx="4956810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100" b="1" dirty="0">
                <a:solidFill>
                  <a:srgbClr val="8E7C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Prompts desenhados com contexto</a:t>
            </a:r>
            <a:endParaRPr lang="pt-BR" sz="2100" dirty="0"/>
          </a:p>
        </p:txBody>
      </p:sp>
      <p:sp>
        <p:nvSpPr>
          <p:cNvPr id="45" name="Text 45"/>
          <p:cNvSpPr/>
          <p:nvPr/>
        </p:nvSpPr>
        <p:spPr>
          <a:xfrm>
            <a:off x="13251180" y="9239250"/>
            <a:ext cx="285750" cy="4000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100" dirty="0">
                <a:solidFill>
                  <a:srgbClr val="7C82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→</a:t>
            </a:r>
            <a:endParaRPr lang="pt-BR" sz="2100" dirty="0"/>
          </a:p>
        </p:txBody>
      </p:sp>
      <p:sp>
        <p:nvSpPr>
          <p:cNvPr id="46" name="Text 46"/>
          <p:cNvSpPr/>
          <p:nvPr/>
        </p:nvSpPr>
        <p:spPr>
          <a:xfrm>
            <a:off x="13632180" y="9239250"/>
            <a:ext cx="2769870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100" b="1" dirty="0">
                <a:solidFill>
                  <a:srgbClr val="3CCFB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Ações delimitadas</a:t>
            </a:r>
            <a:endParaRPr lang="pt-BR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 name="Slide 4">
    <p:bg>
      <p:bgPr>
        <a:solidFill>
          <a:srgbClr val="0A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952500" y="576263"/>
            <a:ext cx="5129828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OLIST · FROM INSIGHT TO IMPACT</a:t>
            </a:r>
            <a:endParaRPr lang="pt-BR" sz="1800" dirty="0"/>
          </a:p>
        </p:txBody>
      </p:sp>
      <p:sp>
        <p:nvSpPr>
          <p:cNvPr id="3" name="Shape 3"/>
          <p:cNvSpPr/>
          <p:nvPr/>
        </p:nvSpPr>
        <p:spPr>
          <a:xfrm>
            <a:off x="11684298" y="890587"/>
            <a:ext cx="1399084" cy="25400"/>
          </a:xfrm>
          <a:prstGeom prst="rect">
            <a:avLst/>
          </a:prstGeom>
          <a:solidFill>
            <a:srgbClr val="F0B547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4" name="Text 4"/>
          <p:cNvSpPr/>
          <p:nvPr/>
        </p:nvSpPr>
        <p:spPr>
          <a:xfrm>
            <a:off x="11684298" y="534988"/>
            <a:ext cx="1703884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F3F4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DESCOBRIR</a:t>
            </a:r>
            <a:endParaRPr lang="pt-BR" sz="1800" dirty="0"/>
          </a:p>
        </p:txBody>
      </p:sp>
      <p:sp>
        <p:nvSpPr>
          <p:cNvPr id="5" name="Text 5"/>
          <p:cNvSpPr/>
          <p:nvPr/>
        </p:nvSpPr>
        <p:spPr>
          <a:xfrm>
            <a:off x="13464382" y="533400"/>
            <a:ext cx="1548408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DESENHAR</a:t>
            </a:r>
            <a:endParaRPr lang="pt-BR" sz="1800" dirty="0"/>
          </a:p>
        </p:txBody>
      </p:sp>
      <p:sp>
        <p:nvSpPr>
          <p:cNvPr id="6" name="Text 6"/>
          <p:cNvSpPr/>
          <p:nvPr/>
        </p:nvSpPr>
        <p:spPr>
          <a:xfrm>
            <a:off x="15088989" y="533400"/>
            <a:ext cx="1393031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ESCALAR</a:t>
            </a:r>
            <a:endParaRPr lang="pt-BR" sz="1800" dirty="0"/>
          </a:p>
        </p:txBody>
      </p:sp>
      <p:sp>
        <p:nvSpPr>
          <p:cNvPr id="7" name="Text 7"/>
          <p:cNvSpPr/>
          <p:nvPr/>
        </p:nvSpPr>
        <p:spPr>
          <a:xfrm>
            <a:off x="16558221" y="533400"/>
            <a:ext cx="853480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04/12</a:t>
            </a:r>
            <a:endParaRPr lang="pt-BR" sz="1800" dirty="0"/>
          </a:p>
        </p:txBody>
      </p:sp>
      <p:sp>
        <p:nvSpPr>
          <p:cNvPr id="8" name="Text 8"/>
          <p:cNvSpPr/>
          <p:nvPr/>
        </p:nvSpPr>
        <p:spPr>
          <a:xfrm>
            <a:off x="952500" y="1428750"/>
            <a:ext cx="16383000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216" dirty="0">
                <a:solidFill>
                  <a:srgbClr val="F0B54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 PROBLEMA DE NEGÓCIO · OBSERVADO</a:t>
            </a:r>
            <a:endParaRPr lang="pt-BR" sz="1800" dirty="0"/>
          </a:p>
        </p:txBody>
      </p:sp>
      <p:sp>
        <p:nvSpPr>
          <p:cNvPr id="9" name="Text 9"/>
          <p:cNvSpPr/>
          <p:nvPr/>
        </p:nvSpPr>
        <p:spPr>
          <a:xfrm>
            <a:off x="952500" y="1898650"/>
            <a:ext cx="14716125" cy="13182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1951"/>
              </a:lnSpc>
              <a:buNone/>
            </a:pPr>
            <a:r>
              <a:rPr lang="pt-BR" sz="4500" b="1" kern="0" spc="-9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 atraso não termina na entrega. Ele compromete a relação com o cliente.</a:t>
            </a:r>
            <a:endParaRPr lang="pt-BR" sz="4500" dirty="0"/>
          </a:p>
        </p:txBody>
      </p:sp>
      <p:sp>
        <p:nvSpPr>
          <p:cNvPr id="10" name="Shape 10"/>
          <p:cNvSpPr/>
          <p:nvPr/>
        </p:nvSpPr>
        <p:spPr>
          <a:xfrm>
            <a:off x="952500" y="3931246"/>
            <a:ext cx="16383000" cy="19050"/>
          </a:xfrm>
          <a:prstGeom prst="rect">
            <a:avLst/>
          </a:prstGeom>
          <a:solidFill>
            <a:srgbClr val="2A3050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11" name="Shape 11"/>
          <p:cNvSpPr/>
          <p:nvPr/>
        </p:nvSpPr>
        <p:spPr>
          <a:xfrm>
            <a:off x="1019175" y="3857625"/>
            <a:ext cx="171450" cy="171450"/>
          </a:xfrm>
          <a:prstGeom prst="ellipse">
            <a:avLst/>
          </a:prstGeom>
          <a:solidFill>
            <a:srgbClr val="F0B547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12" name="Text 12"/>
          <p:cNvSpPr/>
          <p:nvPr/>
        </p:nvSpPr>
        <p:spPr>
          <a:xfrm>
            <a:off x="952500" y="4283671"/>
            <a:ext cx="3781614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216" dirty="0">
                <a:solidFill>
                  <a:srgbClr val="A3A8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POSTAGEM</a:t>
            </a:r>
            <a:endParaRPr lang="pt-BR" sz="1800" dirty="0"/>
          </a:p>
        </p:txBody>
      </p:sp>
      <p:sp>
        <p:nvSpPr>
          <p:cNvPr id="13" name="Text 13"/>
          <p:cNvSpPr/>
          <p:nvPr/>
        </p:nvSpPr>
        <p:spPr>
          <a:xfrm>
            <a:off x="952500" y="4829175"/>
            <a:ext cx="3781614" cy="9525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73009"/>
              </a:lnSpc>
              <a:buNone/>
            </a:pPr>
            <a:r>
              <a:rPr lang="pt-BR" sz="7200" b="1" kern="0" spc="-247" dirty="0">
                <a:solidFill>
                  <a:srgbClr val="F0B54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27%</a:t>
            </a:r>
            <a:endParaRPr lang="pt-BR" sz="7200" dirty="0"/>
          </a:p>
        </p:txBody>
      </p:sp>
      <p:sp>
        <p:nvSpPr>
          <p:cNvPr id="14" name="Text 14"/>
          <p:cNvSpPr/>
          <p:nvPr/>
        </p:nvSpPr>
        <p:spPr>
          <a:xfrm>
            <a:off x="952500" y="6010870"/>
            <a:ext cx="3540965" cy="11179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7759"/>
              </a:lnSpc>
              <a:buNone/>
            </a:pPr>
            <a:r>
              <a:rPr lang="pt-BR" sz="210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dos atrasos começam com o seller postando após o limite</a:t>
            </a:r>
            <a:endParaRPr lang="pt-BR" sz="2100" dirty="0"/>
          </a:p>
        </p:txBody>
      </p:sp>
      <p:sp>
        <p:nvSpPr>
          <p:cNvPr id="15" name="Text 15"/>
          <p:cNvSpPr/>
          <p:nvPr/>
        </p:nvSpPr>
        <p:spPr>
          <a:xfrm>
            <a:off x="952500" y="7281267"/>
            <a:ext cx="3540965" cy="9980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2857"/>
              </a:lnSpc>
              <a:buNone/>
            </a:pPr>
            <a:r>
              <a:rPr lang="pt-BR" sz="1800" dirty="0">
                <a:solidFill>
                  <a:srgbClr val="A3A8B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Nesses pedidos, o atraso sobe para 24,4%, contra 6,5% quando a postagem é feita no prazo</a:t>
            </a:r>
            <a:endParaRPr lang="pt-BR" sz="1800" dirty="0"/>
          </a:p>
        </p:txBody>
      </p:sp>
      <p:sp>
        <p:nvSpPr>
          <p:cNvPr id="16" name="Shape 16"/>
          <p:cNvSpPr/>
          <p:nvPr/>
        </p:nvSpPr>
        <p:spPr>
          <a:xfrm>
            <a:off x="4990406" y="3857625"/>
            <a:ext cx="171450" cy="171450"/>
          </a:xfrm>
          <a:prstGeom prst="ellipse">
            <a:avLst/>
          </a:prstGeom>
          <a:solidFill>
            <a:srgbClr val="F0B547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17" name="Text 17"/>
          <p:cNvSpPr/>
          <p:nvPr/>
        </p:nvSpPr>
        <p:spPr>
          <a:xfrm>
            <a:off x="4923731" y="4283671"/>
            <a:ext cx="3025269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216" dirty="0">
                <a:solidFill>
                  <a:srgbClr val="A3A8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ENTREGA</a:t>
            </a:r>
            <a:endParaRPr lang="pt-BR" sz="1800" dirty="0"/>
          </a:p>
        </p:txBody>
      </p:sp>
      <p:sp>
        <p:nvSpPr>
          <p:cNvPr id="18" name="Text 18"/>
          <p:cNvSpPr/>
          <p:nvPr/>
        </p:nvSpPr>
        <p:spPr>
          <a:xfrm>
            <a:off x="4923731" y="4829175"/>
            <a:ext cx="3025269" cy="9525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73009"/>
              </a:lnSpc>
              <a:buNone/>
            </a:pPr>
            <a:r>
              <a:rPr lang="pt-BR" sz="7200" b="1" kern="0" spc="-247" dirty="0">
                <a:solidFill>
                  <a:srgbClr val="F0B54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8,11%</a:t>
            </a:r>
            <a:endParaRPr lang="pt-BR" sz="7200" dirty="0"/>
          </a:p>
        </p:txBody>
      </p:sp>
      <p:sp>
        <p:nvSpPr>
          <p:cNvPr id="19" name="Text 19"/>
          <p:cNvSpPr/>
          <p:nvPr/>
        </p:nvSpPr>
        <p:spPr>
          <a:xfrm>
            <a:off x="4923731" y="6010870"/>
            <a:ext cx="2832752" cy="7580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7759"/>
              </a:lnSpc>
              <a:buNone/>
            </a:pPr>
            <a:r>
              <a:rPr lang="pt-BR" sz="210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dos pedidos entregues com atraso</a:t>
            </a:r>
            <a:endParaRPr lang="pt-BR" sz="2100" dirty="0"/>
          </a:p>
        </p:txBody>
      </p:sp>
      <p:sp>
        <p:nvSpPr>
          <p:cNvPr id="20" name="Shape 20"/>
          <p:cNvSpPr/>
          <p:nvPr/>
        </p:nvSpPr>
        <p:spPr>
          <a:xfrm>
            <a:off x="8274050" y="3857625"/>
            <a:ext cx="171450" cy="171450"/>
          </a:xfrm>
          <a:prstGeom prst="ellipse">
            <a:avLst/>
          </a:prstGeom>
          <a:solidFill>
            <a:srgbClr val="F0B547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21" name="Text 21"/>
          <p:cNvSpPr/>
          <p:nvPr/>
        </p:nvSpPr>
        <p:spPr>
          <a:xfrm>
            <a:off x="8207375" y="4283671"/>
            <a:ext cx="5105271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216" dirty="0">
                <a:solidFill>
                  <a:srgbClr val="F3F4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EXPERIÊNCIA</a:t>
            </a:r>
            <a:endParaRPr lang="pt-BR" sz="1800" dirty="0"/>
          </a:p>
        </p:txBody>
      </p:sp>
      <p:sp>
        <p:nvSpPr>
          <p:cNvPr id="22" name="Text 22"/>
          <p:cNvSpPr/>
          <p:nvPr/>
        </p:nvSpPr>
        <p:spPr>
          <a:xfrm>
            <a:off x="8207375" y="5350471"/>
            <a:ext cx="2203768" cy="406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10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Pedido atrasado</a:t>
            </a:r>
            <a:endParaRPr lang="pt-BR" sz="2100" dirty="0"/>
          </a:p>
        </p:txBody>
      </p:sp>
      <p:sp>
        <p:nvSpPr>
          <p:cNvPr id="23" name="Text 23"/>
          <p:cNvSpPr/>
          <p:nvPr/>
        </p:nvSpPr>
        <p:spPr>
          <a:xfrm>
            <a:off x="11006833" y="4829770"/>
            <a:ext cx="2025868" cy="9525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73096"/>
              </a:lnSpc>
              <a:buNone/>
            </a:pPr>
            <a:r>
              <a:rPr lang="pt-BR" sz="7200" b="1" kern="0" spc="-216" dirty="0">
                <a:solidFill>
                  <a:srgbClr val="F0B54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54%</a:t>
            </a:r>
            <a:endParaRPr lang="pt-BR" sz="7200" dirty="0"/>
          </a:p>
        </p:txBody>
      </p:sp>
      <p:sp>
        <p:nvSpPr>
          <p:cNvPr id="24" name="Shape 24"/>
          <p:cNvSpPr/>
          <p:nvPr/>
        </p:nvSpPr>
        <p:spPr>
          <a:xfrm>
            <a:off x="8207375" y="5820370"/>
            <a:ext cx="4641156" cy="247650"/>
          </a:xfrm>
          <a:prstGeom prst="rect">
            <a:avLst/>
          </a:prstGeom>
          <a:solidFill>
            <a:srgbClr val="1A1F36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25" name="Shape 25"/>
          <p:cNvSpPr/>
          <p:nvPr/>
        </p:nvSpPr>
        <p:spPr>
          <a:xfrm>
            <a:off x="8207375" y="5820370"/>
            <a:ext cx="2506167" cy="247650"/>
          </a:xfrm>
          <a:prstGeom prst="rect">
            <a:avLst/>
          </a:prstGeom>
          <a:solidFill>
            <a:srgbClr val="F0B547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26" name="Text 26"/>
          <p:cNvSpPr/>
          <p:nvPr/>
        </p:nvSpPr>
        <p:spPr>
          <a:xfrm>
            <a:off x="8207375" y="6487120"/>
            <a:ext cx="2155200" cy="406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100" dirty="0">
                <a:solidFill>
                  <a:srgbClr val="A3A8B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Pedido no prazo</a:t>
            </a:r>
            <a:endParaRPr lang="pt-BR" sz="2100" dirty="0"/>
          </a:p>
        </p:txBody>
      </p:sp>
      <p:sp>
        <p:nvSpPr>
          <p:cNvPr id="27" name="Text 27"/>
          <p:cNvSpPr/>
          <p:nvPr/>
        </p:nvSpPr>
        <p:spPr>
          <a:xfrm>
            <a:off x="11957249" y="6239470"/>
            <a:ext cx="967482" cy="6477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73282"/>
              </a:lnSpc>
              <a:buNone/>
            </a:pPr>
            <a:r>
              <a:rPr lang="pt-BR" sz="4800" b="1" kern="0" spc="-144" dirty="0">
                <a:solidFill>
                  <a:srgbClr val="A3A8B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9%</a:t>
            </a:r>
            <a:endParaRPr lang="pt-BR" sz="4800" dirty="0"/>
          </a:p>
        </p:txBody>
      </p:sp>
      <p:sp>
        <p:nvSpPr>
          <p:cNvPr id="28" name="Shape 28"/>
          <p:cNvSpPr/>
          <p:nvPr/>
        </p:nvSpPr>
        <p:spPr>
          <a:xfrm>
            <a:off x="8207375" y="6931621"/>
            <a:ext cx="4641156" cy="247650"/>
          </a:xfrm>
          <a:prstGeom prst="rect">
            <a:avLst/>
          </a:prstGeom>
          <a:solidFill>
            <a:srgbClr val="1A1F36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29" name="Shape 29"/>
          <p:cNvSpPr/>
          <p:nvPr/>
        </p:nvSpPr>
        <p:spPr>
          <a:xfrm>
            <a:off x="8207375" y="6931621"/>
            <a:ext cx="417612" cy="247650"/>
          </a:xfrm>
          <a:prstGeom prst="rect">
            <a:avLst/>
          </a:prstGeom>
          <a:solidFill>
            <a:srgbClr val="A3A8BF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30" name="Text 30"/>
          <p:cNvSpPr/>
          <p:nvPr/>
        </p:nvSpPr>
        <p:spPr>
          <a:xfrm>
            <a:off x="8207375" y="7350721"/>
            <a:ext cx="5105271" cy="39806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7759"/>
              </a:lnSpc>
              <a:buNone/>
            </a:pPr>
            <a:r>
              <a:rPr lang="pt-BR" sz="210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das avaliações são nota 1 ou 2</a:t>
            </a:r>
            <a:endParaRPr lang="pt-BR" sz="2100" dirty="0"/>
          </a:p>
        </p:txBody>
      </p:sp>
      <p:sp>
        <p:nvSpPr>
          <p:cNvPr id="31" name="Shape 31"/>
          <p:cNvSpPr/>
          <p:nvPr/>
        </p:nvSpPr>
        <p:spPr>
          <a:xfrm>
            <a:off x="13448606" y="3857625"/>
            <a:ext cx="171450" cy="171450"/>
          </a:xfrm>
          <a:prstGeom prst="ellipse">
            <a:avLst/>
          </a:prstGeom>
          <a:solidFill>
            <a:srgbClr val="F0B547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32" name="Text 32"/>
          <p:cNvSpPr/>
          <p:nvPr/>
        </p:nvSpPr>
        <p:spPr>
          <a:xfrm>
            <a:off x="13381931" y="4283671"/>
            <a:ext cx="4348817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216" dirty="0">
                <a:solidFill>
                  <a:srgbClr val="A3A8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RECOMPRA</a:t>
            </a:r>
            <a:endParaRPr lang="pt-BR" sz="1800" dirty="0"/>
          </a:p>
        </p:txBody>
      </p:sp>
      <p:sp>
        <p:nvSpPr>
          <p:cNvPr id="33" name="Text 33"/>
          <p:cNvSpPr/>
          <p:nvPr/>
        </p:nvSpPr>
        <p:spPr>
          <a:xfrm>
            <a:off x="13381931" y="4829175"/>
            <a:ext cx="2667000" cy="9525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73171"/>
              </a:lnSpc>
              <a:buNone/>
            </a:pPr>
            <a:r>
              <a:rPr lang="pt-BR" sz="7200" b="1" kern="0" spc="-180" dirty="0">
                <a:solidFill>
                  <a:srgbClr val="F0B54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1,56%</a:t>
            </a:r>
            <a:endParaRPr lang="pt-BR" sz="7200" dirty="0"/>
          </a:p>
        </p:txBody>
      </p:sp>
      <p:sp>
        <p:nvSpPr>
          <p:cNvPr id="34" name="Text 34"/>
          <p:cNvSpPr/>
          <p:nvPr/>
        </p:nvSpPr>
        <p:spPr>
          <a:xfrm>
            <a:off x="16097250" y="5238750"/>
            <a:ext cx="1333500" cy="450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400" b="1" dirty="0">
                <a:solidFill>
                  <a:srgbClr val="A3A8B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vs 2,13%</a:t>
            </a:r>
            <a:endParaRPr lang="pt-BR" sz="2400" dirty="0"/>
          </a:p>
        </p:txBody>
      </p:sp>
      <p:sp>
        <p:nvSpPr>
          <p:cNvPr id="35" name="Text 35"/>
          <p:cNvSpPr/>
          <p:nvPr/>
        </p:nvSpPr>
        <p:spPr>
          <a:xfrm>
            <a:off x="13381931" y="6010275"/>
            <a:ext cx="4072074" cy="11179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7759"/>
              </a:lnSpc>
              <a:buNone/>
            </a:pPr>
            <a:r>
              <a:rPr lang="pt-BR" sz="210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 recompra quando a 1ª compra atrasou, contra a 1ª compra no prazo</a:t>
            </a:r>
            <a:endParaRPr lang="pt-BR" sz="2100" dirty="0"/>
          </a:p>
        </p:txBody>
      </p:sp>
      <p:sp>
        <p:nvSpPr>
          <p:cNvPr id="36" name="Shape 36"/>
          <p:cNvSpPr/>
          <p:nvPr/>
        </p:nvSpPr>
        <p:spPr>
          <a:xfrm>
            <a:off x="952500" y="9112250"/>
            <a:ext cx="16383000" cy="9525"/>
          </a:xfrm>
          <a:prstGeom prst="rect">
            <a:avLst/>
          </a:prstGeom>
          <a:solidFill>
            <a:srgbClr val="2A3050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37" name="Text 37"/>
          <p:cNvSpPr/>
          <p:nvPr/>
        </p:nvSpPr>
        <p:spPr>
          <a:xfrm>
            <a:off x="952500" y="9315450"/>
            <a:ext cx="1629470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216" dirty="0">
                <a:solidFill>
                  <a:srgbClr val="F0B54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OBSERVADO</a:t>
            </a:r>
            <a:endParaRPr lang="pt-BR" sz="1800" dirty="0"/>
          </a:p>
        </p:txBody>
      </p:sp>
      <p:sp>
        <p:nvSpPr>
          <p:cNvPr id="38" name="Text 38"/>
          <p:cNvSpPr/>
          <p:nvPr/>
        </p:nvSpPr>
        <p:spPr>
          <a:xfrm>
            <a:off x="2662436" y="9309100"/>
            <a:ext cx="14501406" cy="349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dirty="0">
                <a:solidFill>
                  <a:srgbClr val="A3A8B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Dataset público Olist, 2016–2018. Associações históricas: não demonstram, isoladamente, o efeito causal de uma intervenção.</a:t>
            </a:r>
            <a:endParaRPr lang="pt-BR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 name="Slide 5">
    <p:bg>
      <p:bgPr>
        <a:solidFill>
          <a:srgbClr val="0A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952500" y="576263"/>
            <a:ext cx="5129828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OLIST · FROM INSIGHT TO IMPACT</a:t>
            </a:r>
            <a:endParaRPr lang="pt-BR" sz="1800" dirty="0"/>
          </a:p>
        </p:txBody>
      </p:sp>
      <p:sp>
        <p:nvSpPr>
          <p:cNvPr id="3" name="Shape 3"/>
          <p:cNvSpPr/>
          <p:nvPr/>
        </p:nvSpPr>
        <p:spPr>
          <a:xfrm>
            <a:off x="11684298" y="890587"/>
            <a:ext cx="1399084" cy="25400"/>
          </a:xfrm>
          <a:prstGeom prst="rect">
            <a:avLst/>
          </a:prstGeom>
          <a:solidFill>
            <a:srgbClr val="F0B547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4" name="Text 4"/>
          <p:cNvSpPr/>
          <p:nvPr/>
        </p:nvSpPr>
        <p:spPr>
          <a:xfrm>
            <a:off x="11684298" y="534988"/>
            <a:ext cx="1703884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F3F4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DESCOBRIR</a:t>
            </a:r>
            <a:endParaRPr lang="pt-BR" sz="1800" dirty="0"/>
          </a:p>
        </p:txBody>
      </p:sp>
      <p:sp>
        <p:nvSpPr>
          <p:cNvPr id="5" name="Text 5"/>
          <p:cNvSpPr/>
          <p:nvPr/>
        </p:nvSpPr>
        <p:spPr>
          <a:xfrm>
            <a:off x="13464382" y="533400"/>
            <a:ext cx="1548408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DESENHAR</a:t>
            </a:r>
            <a:endParaRPr lang="pt-BR" sz="1800" dirty="0"/>
          </a:p>
        </p:txBody>
      </p:sp>
      <p:sp>
        <p:nvSpPr>
          <p:cNvPr id="6" name="Text 6"/>
          <p:cNvSpPr/>
          <p:nvPr/>
        </p:nvSpPr>
        <p:spPr>
          <a:xfrm>
            <a:off x="15088989" y="533400"/>
            <a:ext cx="1393031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ESCALAR</a:t>
            </a:r>
            <a:endParaRPr lang="pt-BR" sz="1800" dirty="0"/>
          </a:p>
        </p:txBody>
      </p:sp>
      <p:sp>
        <p:nvSpPr>
          <p:cNvPr id="7" name="Text 7"/>
          <p:cNvSpPr/>
          <p:nvPr/>
        </p:nvSpPr>
        <p:spPr>
          <a:xfrm>
            <a:off x="16558221" y="533400"/>
            <a:ext cx="853480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05/12</a:t>
            </a:r>
            <a:endParaRPr lang="pt-BR" sz="1800" dirty="0"/>
          </a:p>
        </p:txBody>
      </p:sp>
      <p:sp>
        <p:nvSpPr>
          <p:cNvPr id="8" name="Text 8"/>
          <p:cNvSpPr/>
          <p:nvPr/>
        </p:nvSpPr>
        <p:spPr>
          <a:xfrm>
            <a:off x="952500" y="1428750"/>
            <a:ext cx="16383000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216" dirty="0">
                <a:solidFill>
                  <a:srgbClr val="F0B54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PRIORIZAÇÃO · 5 CRITÉRIOS PONDERADOS</a:t>
            </a:r>
            <a:endParaRPr lang="pt-BR" sz="1800" dirty="0"/>
          </a:p>
        </p:txBody>
      </p:sp>
      <p:sp>
        <p:nvSpPr>
          <p:cNvPr id="9" name="Text 9"/>
          <p:cNvSpPr/>
          <p:nvPr/>
        </p:nvSpPr>
        <p:spPr>
          <a:xfrm>
            <a:off x="952500" y="1898650"/>
            <a:ext cx="14716125" cy="13182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1951"/>
              </a:lnSpc>
              <a:buNone/>
            </a:pPr>
            <a:r>
              <a:rPr lang="pt-BR" sz="4500" b="1" kern="0" spc="-9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Priorizamos três agentes que atuam na mesma jornada.</a:t>
            </a:r>
            <a:endParaRPr lang="pt-BR" sz="4500" dirty="0"/>
          </a:p>
        </p:txBody>
      </p:sp>
      <p:sp>
        <p:nvSpPr>
          <p:cNvPr id="10" name="Text 10"/>
          <p:cNvSpPr/>
          <p:nvPr/>
        </p:nvSpPr>
        <p:spPr>
          <a:xfrm>
            <a:off x="952500" y="3369271"/>
            <a:ext cx="163830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950" dirty="0">
                <a:solidFill>
                  <a:srgbClr val="A3A8B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Impacto 30% · Proximidade do core 25% · Evidência 20% · Viabilidade 15% · Risco 10%</a:t>
            </a:r>
            <a:endParaRPr lang="pt-BR" sz="1950" dirty="0"/>
          </a:p>
        </p:txBody>
      </p:sp>
      <p:sp>
        <p:nvSpPr>
          <p:cNvPr id="11" name="Shape 11"/>
          <p:cNvSpPr/>
          <p:nvPr/>
        </p:nvSpPr>
        <p:spPr>
          <a:xfrm>
            <a:off x="952500" y="4931371"/>
            <a:ext cx="16383000" cy="28575"/>
          </a:xfrm>
          <a:prstGeom prst="rect">
            <a:avLst/>
          </a:prstGeom>
          <a:solidFill>
            <a:srgbClr val="8E7CFF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12" name="Text 12"/>
          <p:cNvSpPr/>
          <p:nvPr/>
        </p:nvSpPr>
        <p:spPr>
          <a:xfrm>
            <a:off x="952500" y="4397971"/>
            <a:ext cx="5504180" cy="4191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950" kern="0" spc="234" dirty="0">
                <a:solidFill>
                  <a:srgbClr val="A3A8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ANTES DA ENTREGA</a:t>
            </a:r>
            <a:endParaRPr lang="pt-BR" sz="1950" dirty="0"/>
          </a:p>
        </p:txBody>
      </p:sp>
      <p:sp>
        <p:nvSpPr>
          <p:cNvPr id="13" name="Shape 13"/>
          <p:cNvSpPr/>
          <p:nvPr/>
        </p:nvSpPr>
        <p:spPr>
          <a:xfrm>
            <a:off x="952500" y="4931371"/>
            <a:ext cx="228600" cy="228600"/>
          </a:xfrm>
          <a:prstGeom prst="ellipse">
            <a:avLst/>
          </a:prstGeom>
          <a:solidFill>
            <a:srgbClr val="8E7CFF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14" name="Text 14"/>
          <p:cNvSpPr/>
          <p:nvPr/>
        </p:nvSpPr>
        <p:spPr>
          <a:xfrm>
            <a:off x="952500" y="5369521"/>
            <a:ext cx="550418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3282"/>
              </a:lnSpc>
              <a:buNone/>
            </a:pPr>
            <a:r>
              <a:rPr lang="pt-BR" sz="4800" b="1" kern="0" spc="-96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LogiPredict</a:t>
            </a:r>
            <a:endParaRPr lang="pt-BR" sz="4800" dirty="0"/>
          </a:p>
        </p:txBody>
      </p:sp>
      <p:sp>
        <p:nvSpPr>
          <p:cNvPr id="15" name="Text 15"/>
          <p:cNvSpPr/>
          <p:nvPr/>
        </p:nvSpPr>
        <p:spPr>
          <a:xfrm>
            <a:off x="952500" y="6188671"/>
            <a:ext cx="5153914" cy="7580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7759"/>
              </a:lnSpc>
              <a:buNone/>
            </a:pPr>
            <a:r>
              <a:rPr lang="pt-BR" sz="2100" dirty="0">
                <a:solidFill>
                  <a:srgbClr val="A3A8B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Atua do limite de postagem até a entrega</a:t>
            </a:r>
            <a:endParaRPr lang="pt-BR" sz="2100" dirty="0"/>
          </a:p>
        </p:txBody>
      </p:sp>
      <p:sp>
        <p:nvSpPr>
          <p:cNvPr id="16" name="Text 16"/>
          <p:cNvSpPr/>
          <p:nvPr/>
        </p:nvSpPr>
        <p:spPr>
          <a:xfrm>
            <a:off x="952500" y="7118152"/>
            <a:ext cx="5504180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SCORE 4,75</a:t>
            </a:r>
            <a:endParaRPr lang="pt-BR" sz="1800" dirty="0"/>
          </a:p>
        </p:txBody>
      </p:sp>
      <p:sp>
        <p:nvSpPr>
          <p:cNvPr id="17" name="Shape 17"/>
          <p:cNvSpPr/>
          <p:nvPr/>
        </p:nvSpPr>
        <p:spPr>
          <a:xfrm>
            <a:off x="6413500" y="4397971"/>
            <a:ext cx="9525" cy="3018631"/>
          </a:xfrm>
          <a:prstGeom prst="rect">
            <a:avLst/>
          </a:prstGeom>
          <a:solidFill>
            <a:srgbClr val="2A3050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18" name="Text 18"/>
          <p:cNvSpPr/>
          <p:nvPr/>
        </p:nvSpPr>
        <p:spPr>
          <a:xfrm>
            <a:off x="6877050" y="4397971"/>
            <a:ext cx="4994275" cy="4191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950" kern="0" spc="234" dirty="0">
                <a:solidFill>
                  <a:srgbClr val="A3A8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APÓS A ENTREGA</a:t>
            </a:r>
            <a:endParaRPr lang="pt-BR" sz="1950" dirty="0"/>
          </a:p>
        </p:txBody>
      </p:sp>
      <p:sp>
        <p:nvSpPr>
          <p:cNvPr id="19" name="Shape 19"/>
          <p:cNvSpPr/>
          <p:nvPr/>
        </p:nvSpPr>
        <p:spPr>
          <a:xfrm>
            <a:off x="6877050" y="4931371"/>
            <a:ext cx="228600" cy="228600"/>
          </a:xfrm>
          <a:prstGeom prst="ellipse">
            <a:avLst/>
          </a:prstGeom>
          <a:solidFill>
            <a:srgbClr val="8E7CFF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20" name="Text 20"/>
          <p:cNvSpPr/>
          <p:nvPr/>
        </p:nvSpPr>
        <p:spPr>
          <a:xfrm>
            <a:off x="6877050" y="5369521"/>
            <a:ext cx="4994275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3282"/>
              </a:lnSpc>
              <a:buNone/>
            </a:pPr>
            <a:r>
              <a:rPr lang="pt-BR" sz="4800" b="1" kern="0" spc="-96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SentimentDesk</a:t>
            </a:r>
            <a:endParaRPr lang="pt-BR" sz="4800" dirty="0"/>
          </a:p>
        </p:txBody>
      </p:sp>
      <p:sp>
        <p:nvSpPr>
          <p:cNvPr id="21" name="Text 21"/>
          <p:cNvSpPr/>
          <p:nvPr/>
        </p:nvSpPr>
        <p:spPr>
          <a:xfrm>
            <a:off x="6877050" y="6188671"/>
            <a:ext cx="4676458" cy="7580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7759"/>
              </a:lnSpc>
              <a:buNone/>
            </a:pPr>
            <a:r>
              <a:rPr lang="pt-BR" sz="2100" dirty="0">
                <a:solidFill>
                  <a:srgbClr val="A3A8B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Atua quando chega uma avaliação de 1 a 3</a:t>
            </a:r>
            <a:endParaRPr lang="pt-BR" sz="2100" dirty="0"/>
          </a:p>
        </p:txBody>
      </p:sp>
      <p:sp>
        <p:nvSpPr>
          <p:cNvPr id="22" name="Text 22"/>
          <p:cNvSpPr/>
          <p:nvPr/>
        </p:nvSpPr>
        <p:spPr>
          <a:xfrm>
            <a:off x="6877050" y="7118152"/>
            <a:ext cx="4994275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SCORE 4,60</a:t>
            </a:r>
            <a:endParaRPr lang="pt-BR" sz="1800" dirty="0"/>
          </a:p>
        </p:txBody>
      </p:sp>
      <p:sp>
        <p:nvSpPr>
          <p:cNvPr id="23" name="Shape 23"/>
          <p:cNvSpPr/>
          <p:nvPr/>
        </p:nvSpPr>
        <p:spPr>
          <a:xfrm>
            <a:off x="11874501" y="4397971"/>
            <a:ext cx="9525" cy="3018631"/>
          </a:xfrm>
          <a:prstGeom prst="rect">
            <a:avLst/>
          </a:prstGeom>
          <a:solidFill>
            <a:srgbClr val="2A3050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24" name="Text 24"/>
          <p:cNvSpPr/>
          <p:nvPr/>
        </p:nvSpPr>
        <p:spPr>
          <a:xfrm>
            <a:off x="12338050" y="4397971"/>
            <a:ext cx="5497195" cy="4191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950" kern="0" spc="234" dirty="0">
                <a:solidFill>
                  <a:srgbClr val="A3A8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PRÓXIMA COMPRA</a:t>
            </a:r>
            <a:endParaRPr lang="pt-BR" sz="1950" dirty="0"/>
          </a:p>
        </p:txBody>
      </p:sp>
      <p:sp>
        <p:nvSpPr>
          <p:cNvPr id="25" name="Shape 25"/>
          <p:cNvSpPr/>
          <p:nvPr/>
        </p:nvSpPr>
        <p:spPr>
          <a:xfrm>
            <a:off x="12338050" y="4931371"/>
            <a:ext cx="228600" cy="228600"/>
          </a:xfrm>
          <a:prstGeom prst="ellipse">
            <a:avLst/>
          </a:prstGeom>
          <a:solidFill>
            <a:srgbClr val="8E7CFF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26" name="Text 26"/>
          <p:cNvSpPr/>
          <p:nvPr/>
        </p:nvSpPr>
        <p:spPr>
          <a:xfrm>
            <a:off x="12338050" y="5369521"/>
            <a:ext cx="5497195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3282"/>
              </a:lnSpc>
              <a:buNone/>
            </a:pPr>
            <a:r>
              <a:rPr lang="pt-BR" sz="4800" b="1" kern="0" spc="-96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WinBack</a:t>
            </a:r>
            <a:endParaRPr lang="pt-BR" sz="4800" dirty="0"/>
          </a:p>
        </p:txBody>
      </p:sp>
      <p:sp>
        <p:nvSpPr>
          <p:cNvPr id="27" name="Text 27"/>
          <p:cNvSpPr/>
          <p:nvPr/>
        </p:nvSpPr>
        <p:spPr>
          <a:xfrm>
            <a:off x="12338050" y="6188671"/>
            <a:ext cx="5497195" cy="39806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7759"/>
              </a:lnSpc>
              <a:buNone/>
            </a:pPr>
            <a:r>
              <a:rPr lang="pt-BR" sz="2100" dirty="0">
                <a:solidFill>
                  <a:srgbClr val="A3A8B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Atua de D+7 a D+90 após a 1ª entrega</a:t>
            </a:r>
            <a:endParaRPr lang="pt-BR" sz="2100" dirty="0"/>
          </a:p>
        </p:txBody>
      </p:sp>
      <p:sp>
        <p:nvSpPr>
          <p:cNvPr id="28" name="Text 28"/>
          <p:cNvSpPr/>
          <p:nvPr/>
        </p:nvSpPr>
        <p:spPr>
          <a:xfrm>
            <a:off x="12338050" y="6758186"/>
            <a:ext cx="5497195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SCORE 4,20</a:t>
            </a:r>
            <a:endParaRPr lang="pt-BR" sz="1800" dirty="0"/>
          </a:p>
        </p:txBody>
      </p:sp>
      <p:sp>
        <p:nvSpPr>
          <p:cNvPr id="29" name="Shape 29"/>
          <p:cNvSpPr/>
          <p:nvPr/>
        </p:nvSpPr>
        <p:spPr>
          <a:xfrm>
            <a:off x="952500" y="9036050"/>
            <a:ext cx="16383000" cy="9525"/>
          </a:xfrm>
          <a:prstGeom prst="rect">
            <a:avLst/>
          </a:prstGeom>
          <a:solidFill>
            <a:srgbClr val="2A3050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30" name="Text 30"/>
          <p:cNvSpPr/>
          <p:nvPr/>
        </p:nvSpPr>
        <p:spPr>
          <a:xfrm>
            <a:off x="952500" y="9302750"/>
            <a:ext cx="2896920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216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FORA DESTA ETAPA</a:t>
            </a:r>
            <a:endParaRPr lang="pt-BR" sz="1800" dirty="0"/>
          </a:p>
        </p:txBody>
      </p:sp>
      <p:sp>
        <p:nvSpPr>
          <p:cNvPr id="31" name="Text 31"/>
          <p:cNvSpPr/>
          <p:nvPr/>
        </p:nvSpPr>
        <p:spPr>
          <a:xfrm>
            <a:off x="4119463" y="9251950"/>
            <a:ext cx="1504176" cy="406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100" b="1" dirty="0">
                <a:solidFill>
                  <a:srgbClr val="A3A8B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SellerCare</a:t>
            </a:r>
            <a:endParaRPr lang="pt-BR" sz="2100" dirty="0"/>
          </a:p>
        </p:txBody>
      </p:sp>
      <p:sp>
        <p:nvSpPr>
          <p:cNvPr id="32" name="Text 32"/>
          <p:cNvSpPr/>
          <p:nvPr/>
        </p:nvSpPr>
        <p:spPr>
          <a:xfrm>
            <a:off x="5620246" y="9296400"/>
            <a:ext cx="2710071" cy="349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dirty="0">
                <a:solidFill>
                  <a:srgbClr val="7C82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parcialmente absorvido</a:t>
            </a:r>
            <a:endParaRPr lang="pt-BR" sz="1800" dirty="0"/>
          </a:p>
        </p:txBody>
      </p:sp>
      <p:sp>
        <p:nvSpPr>
          <p:cNvPr id="33" name="Text 33"/>
          <p:cNvSpPr/>
          <p:nvPr/>
        </p:nvSpPr>
        <p:spPr>
          <a:xfrm>
            <a:off x="8617347" y="9251950"/>
            <a:ext cx="1887587" cy="406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100" b="1" dirty="0">
                <a:solidFill>
                  <a:srgbClr val="A3A8B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SmartFreight</a:t>
            </a:r>
            <a:endParaRPr lang="pt-BR" sz="2100" dirty="0"/>
          </a:p>
        </p:txBody>
      </p:sp>
      <p:sp>
        <p:nvSpPr>
          <p:cNvPr id="34" name="Text 34"/>
          <p:cNvSpPr/>
          <p:nvPr/>
        </p:nvSpPr>
        <p:spPr>
          <a:xfrm>
            <a:off x="10466686" y="9296400"/>
            <a:ext cx="902395" cy="349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dirty="0">
                <a:solidFill>
                  <a:srgbClr val="7C82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backlog</a:t>
            </a:r>
            <a:endParaRPr lang="pt-BR" sz="1800" dirty="0"/>
          </a:p>
        </p:txBody>
      </p:sp>
      <p:sp>
        <p:nvSpPr>
          <p:cNvPr id="35" name="Text 35"/>
          <p:cNvSpPr/>
          <p:nvPr/>
        </p:nvSpPr>
        <p:spPr>
          <a:xfrm>
            <a:off x="11826280" y="9251950"/>
            <a:ext cx="1146870" cy="406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100" b="1" dirty="0">
                <a:solidFill>
                  <a:srgbClr val="A3A8B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Maestro</a:t>
            </a:r>
            <a:endParaRPr lang="pt-BR" sz="2100" dirty="0"/>
          </a:p>
        </p:txBody>
      </p:sp>
      <p:sp>
        <p:nvSpPr>
          <p:cNvPr id="36" name="Text 36"/>
          <p:cNvSpPr/>
          <p:nvPr/>
        </p:nvSpPr>
        <p:spPr>
          <a:xfrm>
            <a:off x="13030300" y="9296400"/>
            <a:ext cx="2333754" cy="349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dirty="0">
                <a:solidFill>
                  <a:srgbClr val="7C82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orquestração futura</a:t>
            </a:r>
            <a:endParaRPr lang="pt-BR" sz="1800" dirty="0"/>
          </a:p>
        </p:txBody>
      </p:sp>
      <p:sp>
        <p:nvSpPr>
          <p:cNvPr id="37" name="Text 37"/>
          <p:cNvSpPr/>
          <p:nvPr/>
        </p:nvSpPr>
        <p:spPr>
          <a:xfrm>
            <a:off x="952500" y="7696200"/>
            <a:ext cx="66675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80" dirty="0">
                <a:solidFill>
                  <a:srgbClr val="8E7C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INTEGRAÇÕES PROPOSTAS ENTRE AGENTES</a:t>
            </a:r>
            <a:endParaRPr lang="pt-BR" sz="1800" dirty="0"/>
          </a:p>
        </p:txBody>
      </p:sp>
      <p:sp>
        <p:nvSpPr>
          <p:cNvPr id="38" name="Text 38"/>
          <p:cNvSpPr/>
          <p:nvPr/>
        </p:nvSpPr>
        <p:spPr>
          <a:xfrm>
            <a:off x="952500" y="8096250"/>
            <a:ext cx="53340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100" b="1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LogiPredict → SentimentDesk</a:t>
            </a:r>
            <a:endParaRPr lang="pt-BR" sz="2100" dirty="0"/>
          </a:p>
        </p:txBody>
      </p:sp>
      <p:sp>
        <p:nvSpPr>
          <p:cNvPr id="39" name="Text 39"/>
          <p:cNvSpPr/>
          <p:nvPr/>
        </p:nvSpPr>
        <p:spPr>
          <a:xfrm>
            <a:off x="952500" y="8477250"/>
            <a:ext cx="533400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950" dirty="0">
                <a:solidFill>
                  <a:srgbClr val="A3A8B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contexto de risco ou atraso para a triagem</a:t>
            </a:r>
            <a:endParaRPr lang="pt-BR" sz="1950" dirty="0"/>
          </a:p>
        </p:txBody>
      </p:sp>
      <p:sp>
        <p:nvSpPr>
          <p:cNvPr id="40" name="Text 40"/>
          <p:cNvSpPr/>
          <p:nvPr/>
        </p:nvSpPr>
        <p:spPr>
          <a:xfrm>
            <a:off x="6877050" y="8096250"/>
            <a:ext cx="53340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100" b="1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SentimentDesk → WinBack</a:t>
            </a:r>
            <a:endParaRPr lang="pt-BR" sz="2100" dirty="0"/>
          </a:p>
        </p:txBody>
      </p:sp>
      <p:sp>
        <p:nvSpPr>
          <p:cNvPr id="41" name="Text 41"/>
          <p:cNvSpPr/>
          <p:nvPr/>
        </p:nvSpPr>
        <p:spPr>
          <a:xfrm>
            <a:off x="6877050" y="8477250"/>
            <a:ext cx="533400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950" dirty="0">
                <a:solidFill>
                  <a:srgbClr val="A3A8B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suspende ofertas com problema em aberto</a:t>
            </a:r>
            <a:endParaRPr lang="pt-BR" sz="1950" dirty="0"/>
          </a:p>
        </p:txBody>
      </p:sp>
      <p:sp>
        <p:nvSpPr>
          <p:cNvPr id="42" name="Text 42"/>
          <p:cNvSpPr/>
          <p:nvPr/>
        </p:nvSpPr>
        <p:spPr>
          <a:xfrm>
            <a:off x="12334875" y="8096250"/>
            <a:ext cx="53340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100" b="1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SentimentDesk → LogiPredict</a:t>
            </a:r>
            <a:endParaRPr lang="pt-BR" sz="2100" dirty="0"/>
          </a:p>
        </p:txBody>
      </p:sp>
      <p:sp>
        <p:nvSpPr>
          <p:cNvPr id="43" name="Text 43"/>
          <p:cNvSpPr/>
          <p:nvPr/>
        </p:nvSpPr>
        <p:spPr>
          <a:xfrm>
            <a:off x="12334875" y="8477250"/>
            <a:ext cx="533400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950" dirty="0">
                <a:solidFill>
                  <a:srgbClr val="A3A8B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histórico de falhas por rota, não intervenção</a:t>
            </a:r>
            <a:endParaRPr lang="pt-BR" sz="1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 name="Slide 6">
    <p:bg>
      <p:bgPr>
        <a:solidFill>
          <a:srgbClr val="0A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952500" y="576263"/>
            <a:ext cx="5129828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OLIST · FROM INSIGHT TO IMPACT</a:t>
            </a:r>
            <a:endParaRPr lang="pt-BR" sz="1800" dirty="0"/>
          </a:p>
        </p:txBody>
      </p:sp>
      <p:sp>
        <p:nvSpPr>
          <p:cNvPr id="3" name="Text 3"/>
          <p:cNvSpPr/>
          <p:nvPr/>
        </p:nvSpPr>
        <p:spPr>
          <a:xfrm>
            <a:off x="11684298" y="533400"/>
            <a:ext cx="1703884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DESCOBRIR</a:t>
            </a:r>
            <a:endParaRPr lang="pt-BR" sz="1800" dirty="0"/>
          </a:p>
        </p:txBody>
      </p:sp>
      <p:sp>
        <p:nvSpPr>
          <p:cNvPr id="4" name="Shape 4"/>
          <p:cNvSpPr/>
          <p:nvPr/>
        </p:nvSpPr>
        <p:spPr>
          <a:xfrm>
            <a:off x="13464382" y="890587"/>
            <a:ext cx="1243608" cy="25400"/>
          </a:xfrm>
          <a:prstGeom prst="rect">
            <a:avLst/>
          </a:prstGeom>
          <a:solidFill>
            <a:srgbClr val="8E7CFF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5" name="Text 5"/>
          <p:cNvSpPr/>
          <p:nvPr/>
        </p:nvSpPr>
        <p:spPr>
          <a:xfrm>
            <a:off x="13464382" y="534988"/>
            <a:ext cx="1548408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F3F4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DESENHAR</a:t>
            </a:r>
            <a:endParaRPr lang="pt-BR" sz="1800" dirty="0"/>
          </a:p>
        </p:txBody>
      </p:sp>
      <p:sp>
        <p:nvSpPr>
          <p:cNvPr id="6" name="Text 6"/>
          <p:cNvSpPr/>
          <p:nvPr/>
        </p:nvSpPr>
        <p:spPr>
          <a:xfrm>
            <a:off x="15088989" y="533400"/>
            <a:ext cx="1393031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ESCALAR</a:t>
            </a:r>
            <a:endParaRPr lang="pt-BR" sz="1800" dirty="0"/>
          </a:p>
        </p:txBody>
      </p:sp>
      <p:sp>
        <p:nvSpPr>
          <p:cNvPr id="7" name="Text 7"/>
          <p:cNvSpPr/>
          <p:nvPr/>
        </p:nvSpPr>
        <p:spPr>
          <a:xfrm>
            <a:off x="16558221" y="533400"/>
            <a:ext cx="853480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06/12</a:t>
            </a:r>
            <a:endParaRPr lang="pt-BR" sz="1800" dirty="0"/>
          </a:p>
        </p:txBody>
      </p:sp>
      <p:sp>
        <p:nvSpPr>
          <p:cNvPr id="8" name="Text 8"/>
          <p:cNvSpPr/>
          <p:nvPr/>
        </p:nvSpPr>
        <p:spPr>
          <a:xfrm>
            <a:off x="952500" y="1428750"/>
            <a:ext cx="16383000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216" dirty="0">
                <a:solidFill>
                  <a:srgbClr val="8E7C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PAPEL DOS AGENTES · COMPORTAMENTO PROPOSTO</a:t>
            </a:r>
            <a:endParaRPr lang="pt-BR" sz="1800" dirty="0"/>
          </a:p>
        </p:txBody>
      </p:sp>
      <p:sp>
        <p:nvSpPr>
          <p:cNvPr id="9" name="Text 9"/>
          <p:cNvSpPr/>
          <p:nvPr/>
        </p:nvSpPr>
        <p:spPr>
          <a:xfrm>
            <a:off x="952500" y="1898650"/>
            <a:ext cx="14716125" cy="13182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1951"/>
              </a:lnSpc>
              <a:buNone/>
            </a:pPr>
            <a:r>
              <a:rPr lang="pt-BR" sz="4500" b="1" kern="0" spc="-9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Cada agente tem uma missão, uma decisão e um limite.</a:t>
            </a:r>
            <a:endParaRPr lang="pt-BR" sz="4500" dirty="0"/>
          </a:p>
        </p:txBody>
      </p:sp>
      <p:sp>
        <p:nvSpPr>
          <p:cNvPr id="10" name="Shape 10"/>
          <p:cNvSpPr/>
          <p:nvPr/>
        </p:nvSpPr>
        <p:spPr>
          <a:xfrm>
            <a:off x="3048000" y="3712171"/>
            <a:ext cx="9525" cy="1648123"/>
          </a:xfrm>
          <a:prstGeom prst="rect">
            <a:avLst/>
          </a:prstGeom>
          <a:solidFill>
            <a:srgbClr val="2A3050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11" name="Text 11"/>
          <p:cNvSpPr/>
          <p:nvPr/>
        </p:nvSpPr>
        <p:spPr>
          <a:xfrm>
            <a:off x="3397250" y="3712171"/>
            <a:ext cx="4477385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3600" b="1" kern="0" spc="-72" dirty="0">
                <a:solidFill>
                  <a:srgbClr val="8E7C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LogiPredict</a:t>
            </a:r>
            <a:endParaRPr lang="pt-BR" sz="3600" dirty="0"/>
          </a:p>
        </p:txBody>
      </p:sp>
      <p:sp>
        <p:nvSpPr>
          <p:cNvPr id="12" name="Text 12"/>
          <p:cNvSpPr/>
          <p:nvPr/>
        </p:nvSpPr>
        <p:spPr>
          <a:xfrm>
            <a:off x="3397250" y="4397971"/>
            <a:ext cx="4477385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GUARDIÃO DO PRAZO · PILOTO</a:t>
            </a:r>
            <a:endParaRPr lang="pt-BR" sz="1800" dirty="0"/>
          </a:p>
        </p:txBody>
      </p:sp>
      <p:sp>
        <p:nvSpPr>
          <p:cNvPr id="13" name="Shape 13"/>
          <p:cNvSpPr/>
          <p:nvPr/>
        </p:nvSpPr>
        <p:spPr>
          <a:xfrm>
            <a:off x="7810500" y="3712171"/>
            <a:ext cx="9525" cy="1648123"/>
          </a:xfrm>
          <a:prstGeom prst="rect">
            <a:avLst/>
          </a:prstGeom>
          <a:solidFill>
            <a:srgbClr val="2A3050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14" name="Text 14"/>
          <p:cNvSpPr/>
          <p:nvPr/>
        </p:nvSpPr>
        <p:spPr>
          <a:xfrm>
            <a:off x="8159750" y="3712171"/>
            <a:ext cx="4477385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3600" b="1" kern="0" spc="-72" dirty="0">
                <a:solidFill>
                  <a:srgbClr val="8E7C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SentimentDesk</a:t>
            </a:r>
            <a:endParaRPr lang="pt-BR" sz="3600" dirty="0"/>
          </a:p>
        </p:txBody>
      </p:sp>
      <p:sp>
        <p:nvSpPr>
          <p:cNvPr id="15" name="Text 15"/>
          <p:cNvSpPr/>
          <p:nvPr/>
        </p:nvSpPr>
        <p:spPr>
          <a:xfrm>
            <a:off x="8159750" y="4397971"/>
            <a:ext cx="4192461" cy="6350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TRIAGEM DE AVALIAÇÕES · PILOTO</a:t>
            </a:r>
            <a:endParaRPr lang="pt-BR" sz="1800" dirty="0"/>
          </a:p>
        </p:txBody>
      </p:sp>
      <p:sp>
        <p:nvSpPr>
          <p:cNvPr id="16" name="Shape 16"/>
          <p:cNvSpPr/>
          <p:nvPr/>
        </p:nvSpPr>
        <p:spPr>
          <a:xfrm>
            <a:off x="12573000" y="3712171"/>
            <a:ext cx="9525" cy="1648123"/>
          </a:xfrm>
          <a:prstGeom prst="rect">
            <a:avLst/>
          </a:prstGeom>
          <a:solidFill>
            <a:srgbClr val="2A3050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17" name="Text 17"/>
          <p:cNvSpPr/>
          <p:nvPr/>
        </p:nvSpPr>
        <p:spPr>
          <a:xfrm>
            <a:off x="12922251" y="3712171"/>
            <a:ext cx="4477385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3600" b="1" kern="0" spc="-72" dirty="0">
                <a:solidFill>
                  <a:srgbClr val="8E7C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WinBack</a:t>
            </a:r>
            <a:endParaRPr lang="pt-BR" sz="3600" dirty="0"/>
          </a:p>
        </p:txBody>
      </p:sp>
      <p:sp>
        <p:nvSpPr>
          <p:cNvPr id="18" name="Text 18"/>
          <p:cNvSpPr/>
          <p:nvPr/>
        </p:nvSpPr>
        <p:spPr>
          <a:xfrm>
            <a:off x="12922251" y="4397971"/>
            <a:ext cx="4477385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SEGUNDA COMPRA · EXPANSÃO</a:t>
            </a:r>
            <a:endParaRPr lang="pt-BR" sz="1800" dirty="0"/>
          </a:p>
        </p:txBody>
      </p:sp>
      <p:sp>
        <p:nvSpPr>
          <p:cNvPr id="19" name="Shape 19"/>
          <p:cNvSpPr/>
          <p:nvPr/>
        </p:nvSpPr>
        <p:spPr>
          <a:xfrm>
            <a:off x="952500" y="5360293"/>
            <a:ext cx="2095500" cy="19050"/>
          </a:xfrm>
          <a:prstGeom prst="rect">
            <a:avLst/>
          </a:prstGeom>
          <a:solidFill>
            <a:srgbClr val="F3F4F8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20" name="Text 20"/>
          <p:cNvSpPr/>
          <p:nvPr/>
        </p:nvSpPr>
        <p:spPr>
          <a:xfrm>
            <a:off x="952500" y="5588893"/>
            <a:ext cx="2171700" cy="1157784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950" kern="0" spc="234" dirty="0">
                <a:solidFill>
                  <a:srgbClr val="F3F4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MISSÃO</a:t>
            </a:r>
            <a:endParaRPr lang="pt-BR" sz="1950" dirty="0"/>
          </a:p>
        </p:txBody>
      </p:sp>
      <p:sp>
        <p:nvSpPr>
          <p:cNvPr id="21" name="Shape 21"/>
          <p:cNvSpPr/>
          <p:nvPr/>
        </p:nvSpPr>
        <p:spPr>
          <a:xfrm>
            <a:off x="3048000" y="5360293"/>
            <a:ext cx="4762500" cy="19050"/>
          </a:xfrm>
          <a:prstGeom prst="rect">
            <a:avLst/>
          </a:prstGeom>
          <a:solidFill>
            <a:srgbClr val="F3F4F8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22" name="Shape 22"/>
          <p:cNvSpPr/>
          <p:nvPr/>
        </p:nvSpPr>
        <p:spPr>
          <a:xfrm>
            <a:off x="3048000" y="5360293"/>
            <a:ext cx="9525" cy="1348284"/>
          </a:xfrm>
          <a:prstGeom prst="rect">
            <a:avLst/>
          </a:prstGeom>
          <a:solidFill>
            <a:srgbClr val="2A3050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23" name="Text 23"/>
          <p:cNvSpPr/>
          <p:nvPr/>
        </p:nvSpPr>
        <p:spPr>
          <a:xfrm>
            <a:off x="3397250" y="5588893"/>
            <a:ext cx="4213225" cy="9482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pt-BR" sz="2550" b="1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Antecipar riscos de atraso</a:t>
            </a:r>
            <a:endParaRPr lang="pt-BR" sz="2550" dirty="0"/>
          </a:p>
        </p:txBody>
      </p:sp>
      <p:sp>
        <p:nvSpPr>
          <p:cNvPr id="24" name="Shape 24"/>
          <p:cNvSpPr/>
          <p:nvPr/>
        </p:nvSpPr>
        <p:spPr>
          <a:xfrm>
            <a:off x="7810500" y="5360293"/>
            <a:ext cx="4762500" cy="19050"/>
          </a:xfrm>
          <a:prstGeom prst="rect">
            <a:avLst/>
          </a:prstGeom>
          <a:solidFill>
            <a:srgbClr val="F3F4F8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25" name="Shape 25"/>
          <p:cNvSpPr/>
          <p:nvPr/>
        </p:nvSpPr>
        <p:spPr>
          <a:xfrm>
            <a:off x="7810500" y="5360293"/>
            <a:ext cx="9525" cy="1348284"/>
          </a:xfrm>
          <a:prstGeom prst="rect">
            <a:avLst/>
          </a:prstGeom>
          <a:solidFill>
            <a:srgbClr val="2A3050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26" name="Text 26"/>
          <p:cNvSpPr/>
          <p:nvPr/>
        </p:nvSpPr>
        <p:spPr>
          <a:xfrm>
            <a:off x="8159750" y="5588893"/>
            <a:ext cx="4213225" cy="9482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pt-BR" sz="2550" b="1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Interpretar e encaminhar avaliações negativas</a:t>
            </a:r>
            <a:endParaRPr lang="pt-BR" sz="2550" dirty="0"/>
          </a:p>
        </p:txBody>
      </p:sp>
      <p:sp>
        <p:nvSpPr>
          <p:cNvPr id="27" name="Shape 27"/>
          <p:cNvSpPr/>
          <p:nvPr/>
        </p:nvSpPr>
        <p:spPr>
          <a:xfrm>
            <a:off x="12573000" y="5360293"/>
            <a:ext cx="4762500" cy="19050"/>
          </a:xfrm>
          <a:prstGeom prst="rect">
            <a:avLst/>
          </a:prstGeom>
          <a:solidFill>
            <a:srgbClr val="F3F4F8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28" name="Shape 28"/>
          <p:cNvSpPr/>
          <p:nvPr/>
        </p:nvSpPr>
        <p:spPr>
          <a:xfrm>
            <a:off x="12573000" y="5360293"/>
            <a:ext cx="9525" cy="1348284"/>
          </a:xfrm>
          <a:prstGeom prst="rect">
            <a:avLst/>
          </a:prstGeom>
          <a:solidFill>
            <a:srgbClr val="2A3050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29" name="Text 29"/>
          <p:cNvSpPr/>
          <p:nvPr/>
        </p:nvSpPr>
        <p:spPr>
          <a:xfrm>
            <a:off x="12922250" y="5588893"/>
            <a:ext cx="4213225" cy="9482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pt-BR" sz="2550" b="1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Apoiar a conversão da 1ª para a 2ª compra</a:t>
            </a:r>
            <a:endParaRPr lang="pt-BR" sz="2550" dirty="0"/>
          </a:p>
        </p:txBody>
      </p:sp>
      <p:sp>
        <p:nvSpPr>
          <p:cNvPr id="30" name="Shape 30"/>
          <p:cNvSpPr/>
          <p:nvPr/>
        </p:nvSpPr>
        <p:spPr>
          <a:xfrm>
            <a:off x="952500" y="6708577"/>
            <a:ext cx="2095500" cy="19050"/>
          </a:xfrm>
          <a:prstGeom prst="rect">
            <a:avLst/>
          </a:prstGeom>
          <a:solidFill>
            <a:srgbClr val="8E7CFF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31" name="Text 31"/>
          <p:cNvSpPr/>
          <p:nvPr/>
        </p:nvSpPr>
        <p:spPr>
          <a:xfrm>
            <a:off x="952500" y="6937177"/>
            <a:ext cx="2171700" cy="1085354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950" kern="0" spc="234" dirty="0">
                <a:solidFill>
                  <a:srgbClr val="8E7C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DECISÃO</a:t>
            </a:r>
            <a:endParaRPr lang="pt-BR" sz="1950" dirty="0"/>
          </a:p>
        </p:txBody>
      </p:sp>
      <p:sp>
        <p:nvSpPr>
          <p:cNvPr id="32" name="Shape 32"/>
          <p:cNvSpPr/>
          <p:nvPr/>
        </p:nvSpPr>
        <p:spPr>
          <a:xfrm>
            <a:off x="3048000" y="6708577"/>
            <a:ext cx="4762500" cy="19050"/>
          </a:xfrm>
          <a:prstGeom prst="rect">
            <a:avLst/>
          </a:prstGeom>
          <a:solidFill>
            <a:srgbClr val="8E7CFF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33" name="Shape 33"/>
          <p:cNvSpPr/>
          <p:nvPr/>
        </p:nvSpPr>
        <p:spPr>
          <a:xfrm>
            <a:off x="3048000" y="6708577"/>
            <a:ext cx="9525" cy="1275854"/>
          </a:xfrm>
          <a:prstGeom prst="rect">
            <a:avLst/>
          </a:prstGeom>
          <a:solidFill>
            <a:srgbClr val="2A3050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34" name="Text 34"/>
          <p:cNvSpPr/>
          <p:nvPr/>
        </p:nvSpPr>
        <p:spPr>
          <a:xfrm>
            <a:off x="3397250" y="6937177"/>
            <a:ext cx="4213225" cy="8758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7759"/>
              </a:lnSpc>
              <a:buNone/>
            </a:pPr>
            <a:r>
              <a:rPr lang="pt-BR" sz="225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Quando alertar e qual intervenção recomendar</a:t>
            </a:r>
            <a:endParaRPr lang="pt-BR" sz="2250" dirty="0"/>
          </a:p>
        </p:txBody>
      </p:sp>
      <p:sp>
        <p:nvSpPr>
          <p:cNvPr id="35" name="Shape 35"/>
          <p:cNvSpPr/>
          <p:nvPr/>
        </p:nvSpPr>
        <p:spPr>
          <a:xfrm>
            <a:off x="7810500" y="6708577"/>
            <a:ext cx="4762500" cy="19050"/>
          </a:xfrm>
          <a:prstGeom prst="rect">
            <a:avLst/>
          </a:prstGeom>
          <a:solidFill>
            <a:srgbClr val="8E7CFF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36" name="Shape 36"/>
          <p:cNvSpPr/>
          <p:nvPr/>
        </p:nvSpPr>
        <p:spPr>
          <a:xfrm>
            <a:off x="7810500" y="6708577"/>
            <a:ext cx="9525" cy="1275854"/>
          </a:xfrm>
          <a:prstGeom prst="rect">
            <a:avLst/>
          </a:prstGeom>
          <a:solidFill>
            <a:srgbClr val="2A3050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37" name="Text 37"/>
          <p:cNvSpPr/>
          <p:nvPr/>
        </p:nvSpPr>
        <p:spPr>
          <a:xfrm>
            <a:off x="8159750" y="6937177"/>
            <a:ext cx="4213225" cy="8758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7759"/>
              </a:lnSpc>
              <a:buNone/>
            </a:pPr>
            <a:r>
              <a:rPr lang="pt-BR" sz="225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Motivo, prioridade e tratamento adequado</a:t>
            </a:r>
            <a:endParaRPr lang="pt-BR" sz="2250" dirty="0"/>
          </a:p>
        </p:txBody>
      </p:sp>
      <p:sp>
        <p:nvSpPr>
          <p:cNvPr id="38" name="Shape 38"/>
          <p:cNvSpPr/>
          <p:nvPr/>
        </p:nvSpPr>
        <p:spPr>
          <a:xfrm>
            <a:off x="12573000" y="6708577"/>
            <a:ext cx="4762500" cy="19050"/>
          </a:xfrm>
          <a:prstGeom prst="rect">
            <a:avLst/>
          </a:prstGeom>
          <a:solidFill>
            <a:srgbClr val="8E7CFF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39" name="Shape 39"/>
          <p:cNvSpPr/>
          <p:nvPr/>
        </p:nvSpPr>
        <p:spPr>
          <a:xfrm>
            <a:off x="12573000" y="6708577"/>
            <a:ext cx="9525" cy="1275854"/>
          </a:xfrm>
          <a:prstGeom prst="rect">
            <a:avLst/>
          </a:prstGeom>
          <a:solidFill>
            <a:srgbClr val="2A3050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40" name="Text 40"/>
          <p:cNvSpPr/>
          <p:nvPr/>
        </p:nvSpPr>
        <p:spPr>
          <a:xfrm>
            <a:off x="12922250" y="6937177"/>
            <a:ext cx="4213225" cy="8758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7759"/>
              </a:lnSpc>
              <a:buNone/>
            </a:pPr>
            <a:r>
              <a:rPr lang="pt-BR" sz="225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Elegibilidade, momento e abordagem do contato</a:t>
            </a:r>
            <a:endParaRPr lang="pt-BR" sz="2250" dirty="0"/>
          </a:p>
        </p:txBody>
      </p:sp>
      <p:sp>
        <p:nvSpPr>
          <p:cNvPr id="41" name="Shape 41"/>
          <p:cNvSpPr/>
          <p:nvPr/>
        </p:nvSpPr>
        <p:spPr>
          <a:xfrm>
            <a:off x="952500" y="7984431"/>
            <a:ext cx="2095500" cy="19050"/>
          </a:xfrm>
          <a:prstGeom prst="rect">
            <a:avLst/>
          </a:prstGeom>
          <a:solidFill>
            <a:srgbClr val="3CCFB4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42" name="Text 42"/>
          <p:cNvSpPr/>
          <p:nvPr/>
        </p:nvSpPr>
        <p:spPr>
          <a:xfrm>
            <a:off x="952500" y="8213031"/>
            <a:ext cx="2171700" cy="144532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950" kern="0" spc="234" dirty="0">
                <a:solidFill>
                  <a:srgbClr val="3CCFB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LIMITE</a:t>
            </a:r>
            <a:endParaRPr lang="pt-BR" sz="1950" dirty="0"/>
          </a:p>
        </p:txBody>
      </p:sp>
      <p:sp>
        <p:nvSpPr>
          <p:cNvPr id="43" name="Shape 43"/>
          <p:cNvSpPr/>
          <p:nvPr/>
        </p:nvSpPr>
        <p:spPr>
          <a:xfrm>
            <a:off x="3048000" y="7984431"/>
            <a:ext cx="4762500" cy="19050"/>
          </a:xfrm>
          <a:prstGeom prst="rect">
            <a:avLst/>
          </a:prstGeom>
          <a:solidFill>
            <a:srgbClr val="3CCFB4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44" name="Shape 44"/>
          <p:cNvSpPr/>
          <p:nvPr/>
        </p:nvSpPr>
        <p:spPr>
          <a:xfrm>
            <a:off x="3048000" y="7984431"/>
            <a:ext cx="9525" cy="1635820"/>
          </a:xfrm>
          <a:prstGeom prst="rect">
            <a:avLst/>
          </a:prstGeom>
          <a:solidFill>
            <a:srgbClr val="2A3050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45" name="Text 45"/>
          <p:cNvSpPr/>
          <p:nvPr/>
        </p:nvSpPr>
        <p:spPr>
          <a:xfrm>
            <a:off x="3397250" y="8213031"/>
            <a:ext cx="4213225" cy="12357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7759"/>
              </a:lnSpc>
              <a:buNone/>
            </a:pPr>
            <a:r>
              <a:rPr lang="pt-BR" sz="2250" dirty="0">
                <a:solidFill>
                  <a:srgbClr val="A3A8B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Não altera transportadora nem concede compensação sozinho</a:t>
            </a:r>
            <a:endParaRPr lang="pt-BR" sz="2250" dirty="0"/>
          </a:p>
        </p:txBody>
      </p:sp>
      <p:sp>
        <p:nvSpPr>
          <p:cNvPr id="46" name="Shape 46"/>
          <p:cNvSpPr/>
          <p:nvPr/>
        </p:nvSpPr>
        <p:spPr>
          <a:xfrm>
            <a:off x="7810500" y="7984431"/>
            <a:ext cx="4762500" cy="19050"/>
          </a:xfrm>
          <a:prstGeom prst="rect">
            <a:avLst/>
          </a:prstGeom>
          <a:solidFill>
            <a:srgbClr val="3CCFB4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47" name="Shape 47"/>
          <p:cNvSpPr/>
          <p:nvPr/>
        </p:nvSpPr>
        <p:spPr>
          <a:xfrm>
            <a:off x="7810500" y="7984431"/>
            <a:ext cx="9525" cy="1635820"/>
          </a:xfrm>
          <a:prstGeom prst="rect">
            <a:avLst/>
          </a:prstGeom>
          <a:solidFill>
            <a:srgbClr val="2A3050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48" name="Text 48"/>
          <p:cNvSpPr/>
          <p:nvPr/>
        </p:nvSpPr>
        <p:spPr>
          <a:xfrm>
            <a:off x="8159750" y="8213031"/>
            <a:ext cx="4213225" cy="12357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7759"/>
              </a:lnSpc>
              <a:buNone/>
            </a:pPr>
            <a:r>
              <a:rPr lang="pt-BR" sz="2250" dirty="0">
                <a:solidFill>
                  <a:srgbClr val="A3A8B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Casos críticos ou de baixa confiança vão para uma pessoa</a:t>
            </a:r>
            <a:endParaRPr lang="pt-BR" sz="2250" dirty="0"/>
          </a:p>
        </p:txBody>
      </p:sp>
      <p:sp>
        <p:nvSpPr>
          <p:cNvPr id="49" name="Shape 49"/>
          <p:cNvSpPr/>
          <p:nvPr/>
        </p:nvSpPr>
        <p:spPr>
          <a:xfrm>
            <a:off x="12573000" y="7984431"/>
            <a:ext cx="4762500" cy="19050"/>
          </a:xfrm>
          <a:prstGeom prst="rect">
            <a:avLst/>
          </a:prstGeom>
          <a:solidFill>
            <a:srgbClr val="3CCFB4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50" name="Shape 50"/>
          <p:cNvSpPr/>
          <p:nvPr/>
        </p:nvSpPr>
        <p:spPr>
          <a:xfrm>
            <a:off x="12573000" y="7984431"/>
            <a:ext cx="9525" cy="1635820"/>
          </a:xfrm>
          <a:prstGeom prst="rect">
            <a:avLst/>
          </a:prstGeom>
          <a:solidFill>
            <a:srgbClr val="2A3050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51" name="Text 51"/>
          <p:cNvSpPr/>
          <p:nvPr/>
        </p:nvSpPr>
        <p:spPr>
          <a:xfrm>
            <a:off x="12922250" y="8213031"/>
            <a:ext cx="4213225" cy="12357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7759"/>
              </a:lnSpc>
              <a:buNone/>
            </a:pPr>
            <a:r>
              <a:rPr lang="pt-BR" sz="2250" dirty="0">
                <a:solidFill>
                  <a:srgbClr val="A3A8B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Respeita consentimento, experiência anterior e política econômica</a:t>
            </a:r>
            <a:endParaRPr lang="pt-BR" sz="2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 name="Slide 7">
    <p:bg>
      <p:bgPr>
        <a:solidFill>
          <a:srgbClr val="0A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952500" y="576263"/>
            <a:ext cx="5129828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OLIST · FROM INSIGHT TO IMPACT</a:t>
            </a:r>
            <a:endParaRPr lang="pt-BR" sz="1800" dirty="0"/>
          </a:p>
        </p:txBody>
      </p:sp>
      <p:sp>
        <p:nvSpPr>
          <p:cNvPr id="3" name="Text 3"/>
          <p:cNvSpPr/>
          <p:nvPr/>
        </p:nvSpPr>
        <p:spPr>
          <a:xfrm>
            <a:off x="11684298" y="533400"/>
            <a:ext cx="1703884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DESCOBRIR</a:t>
            </a:r>
            <a:endParaRPr lang="pt-BR" sz="1800" dirty="0"/>
          </a:p>
        </p:txBody>
      </p:sp>
      <p:sp>
        <p:nvSpPr>
          <p:cNvPr id="4" name="Shape 4"/>
          <p:cNvSpPr/>
          <p:nvPr/>
        </p:nvSpPr>
        <p:spPr>
          <a:xfrm>
            <a:off x="13464382" y="890587"/>
            <a:ext cx="1243608" cy="25400"/>
          </a:xfrm>
          <a:prstGeom prst="rect">
            <a:avLst/>
          </a:prstGeom>
          <a:solidFill>
            <a:srgbClr val="8E7CFF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5" name="Text 5"/>
          <p:cNvSpPr/>
          <p:nvPr/>
        </p:nvSpPr>
        <p:spPr>
          <a:xfrm>
            <a:off x="13464382" y="534988"/>
            <a:ext cx="1548408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F3F4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DESENHAR</a:t>
            </a:r>
            <a:endParaRPr lang="pt-BR" sz="1800" dirty="0"/>
          </a:p>
        </p:txBody>
      </p:sp>
      <p:sp>
        <p:nvSpPr>
          <p:cNvPr id="6" name="Text 6"/>
          <p:cNvSpPr/>
          <p:nvPr/>
        </p:nvSpPr>
        <p:spPr>
          <a:xfrm>
            <a:off x="15088989" y="533400"/>
            <a:ext cx="1393031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ESCALAR</a:t>
            </a:r>
            <a:endParaRPr lang="pt-BR" sz="1800" dirty="0"/>
          </a:p>
        </p:txBody>
      </p:sp>
      <p:sp>
        <p:nvSpPr>
          <p:cNvPr id="7" name="Text 7"/>
          <p:cNvSpPr/>
          <p:nvPr/>
        </p:nvSpPr>
        <p:spPr>
          <a:xfrm>
            <a:off x="16558221" y="533400"/>
            <a:ext cx="853480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07/12</a:t>
            </a:r>
            <a:endParaRPr lang="pt-BR" sz="1800" dirty="0"/>
          </a:p>
        </p:txBody>
      </p:sp>
      <p:sp>
        <p:nvSpPr>
          <p:cNvPr id="8" name="Text 8"/>
          <p:cNvSpPr/>
          <p:nvPr/>
        </p:nvSpPr>
        <p:spPr>
          <a:xfrm>
            <a:off x="952500" y="1428750"/>
            <a:ext cx="16383000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216" dirty="0">
                <a:solidFill>
                  <a:srgbClr val="8E7C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FLUXOS DE DECISÃO · COMPORTAMENTO PROPOSTO</a:t>
            </a:r>
            <a:endParaRPr lang="pt-BR" sz="1800" dirty="0"/>
          </a:p>
        </p:txBody>
      </p:sp>
      <p:sp>
        <p:nvSpPr>
          <p:cNvPr id="9" name="Text 9"/>
          <p:cNvSpPr/>
          <p:nvPr/>
        </p:nvSpPr>
        <p:spPr>
          <a:xfrm>
            <a:off x="952500" y="1898650"/>
            <a:ext cx="14716125" cy="12328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1809"/>
              </a:lnSpc>
              <a:buNone/>
            </a:pPr>
            <a:r>
              <a:rPr lang="pt-BR" sz="4200" b="1" kern="0" spc="-84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autonomia é definida pelo contexto, pelas regras e pelo risco.</a:t>
            </a:r>
            <a:endParaRPr lang="pt-BR" sz="4200" dirty="0"/>
          </a:p>
        </p:txBody>
      </p:sp>
      <p:sp>
        <p:nvSpPr>
          <p:cNvPr id="10" name="Text 10"/>
          <p:cNvSpPr/>
          <p:nvPr/>
        </p:nvSpPr>
        <p:spPr>
          <a:xfrm>
            <a:off x="3905250" y="3600450"/>
            <a:ext cx="3048000" cy="3333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216" dirty="0">
                <a:solidFill>
                  <a:srgbClr val="A3A8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GATILHO</a:t>
            </a:r>
            <a:endParaRPr lang="pt-BR" sz="1800" dirty="0"/>
          </a:p>
        </p:txBody>
      </p:sp>
      <p:sp>
        <p:nvSpPr>
          <p:cNvPr id="11" name="Text 11"/>
          <p:cNvSpPr/>
          <p:nvPr/>
        </p:nvSpPr>
        <p:spPr>
          <a:xfrm>
            <a:off x="7381875" y="3600450"/>
            <a:ext cx="3048000" cy="3333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216" dirty="0">
                <a:solidFill>
                  <a:srgbClr val="8E7C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ANÁLISE</a:t>
            </a:r>
            <a:endParaRPr lang="pt-BR" sz="1800" dirty="0"/>
          </a:p>
        </p:txBody>
      </p:sp>
      <p:sp>
        <p:nvSpPr>
          <p:cNvPr id="12" name="Text 12"/>
          <p:cNvSpPr/>
          <p:nvPr/>
        </p:nvSpPr>
        <p:spPr>
          <a:xfrm>
            <a:off x="10858500" y="3600450"/>
            <a:ext cx="3048000" cy="3333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216" dirty="0">
                <a:solidFill>
                  <a:srgbClr val="8E7C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DECISÃO</a:t>
            </a:r>
            <a:endParaRPr lang="pt-BR" sz="1800" dirty="0"/>
          </a:p>
        </p:txBody>
      </p:sp>
      <p:sp>
        <p:nvSpPr>
          <p:cNvPr id="13" name="Text 13"/>
          <p:cNvSpPr/>
          <p:nvPr/>
        </p:nvSpPr>
        <p:spPr>
          <a:xfrm>
            <a:off x="14335125" y="3600450"/>
            <a:ext cx="3048000" cy="3333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216" dirty="0">
                <a:solidFill>
                  <a:srgbClr val="3CCFB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AÇÃO</a:t>
            </a:r>
            <a:endParaRPr lang="pt-BR" sz="1800" dirty="0"/>
          </a:p>
        </p:txBody>
      </p:sp>
      <p:sp>
        <p:nvSpPr>
          <p:cNvPr id="14" name="Shape 14"/>
          <p:cNvSpPr/>
          <p:nvPr/>
        </p:nvSpPr>
        <p:spPr>
          <a:xfrm>
            <a:off x="952500" y="4019550"/>
            <a:ext cx="16383000" cy="9525"/>
          </a:xfrm>
          <a:prstGeom prst="rect">
            <a:avLst/>
          </a:prstGeom>
          <a:solidFill>
            <a:srgbClr val="2A3050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15" name="Text 15"/>
          <p:cNvSpPr/>
          <p:nvPr/>
        </p:nvSpPr>
        <p:spPr>
          <a:xfrm>
            <a:off x="952500" y="4152900"/>
            <a:ext cx="24765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550" b="1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LogiPredict</a:t>
            </a:r>
            <a:endParaRPr lang="pt-BR" sz="2550" dirty="0"/>
          </a:p>
        </p:txBody>
      </p:sp>
      <p:sp>
        <p:nvSpPr>
          <p:cNvPr id="16" name="Text 16"/>
          <p:cNvSpPr/>
          <p:nvPr/>
        </p:nvSpPr>
        <p:spPr>
          <a:xfrm>
            <a:off x="952500" y="4610100"/>
            <a:ext cx="2571750" cy="3333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3CCFB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PILOTO</a:t>
            </a:r>
            <a:endParaRPr lang="pt-BR" sz="1800" dirty="0"/>
          </a:p>
        </p:txBody>
      </p:sp>
      <p:sp>
        <p:nvSpPr>
          <p:cNvPr id="17" name="Shape 17"/>
          <p:cNvSpPr/>
          <p:nvPr/>
        </p:nvSpPr>
        <p:spPr>
          <a:xfrm>
            <a:off x="3790950" y="4352925"/>
            <a:ext cx="3305175" cy="19050"/>
          </a:xfrm>
          <a:prstGeom prst="rect">
            <a:avLst/>
          </a:prstGeom>
          <a:solidFill>
            <a:srgbClr val="7C8299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18" name="Shape 18"/>
          <p:cNvSpPr/>
          <p:nvPr/>
        </p:nvSpPr>
        <p:spPr>
          <a:xfrm>
            <a:off x="7248525" y="4348163"/>
            <a:ext cx="3324225" cy="28575"/>
          </a:xfrm>
          <a:prstGeom prst="rect">
            <a:avLst/>
          </a:prstGeom>
          <a:solidFill>
            <a:srgbClr val="8E7CFF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19" name="Shape 19"/>
          <p:cNvSpPr/>
          <p:nvPr/>
        </p:nvSpPr>
        <p:spPr>
          <a:xfrm>
            <a:off x="10744200" y="4348163"/>
            <a:ext cx="3305175" cy="28575"/>
          </a:xfrm>
          <a:prstGeom prst="rect">
            <a:avLst/>
          </a:prstGeom>
          <a:solidFill>
            <a:srgbClr val="3CCFB4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20" name="Shape 20"/>
          <p:cNvSpPr/>
          <p:nvPr/>
        </p:nvSpPr>
        <p:spPr>
          <a:xfrm>
            <a:off x="3619500" y="4276725"/>
            <a:ext cx="171450" cy="171450"/>
          </a:xfrm>
          <a:prstGeom prst="ellipse">
            <a:avLst/>
          </a:prstGeom>
          <a:solidFill>
            <a:srgbClr val="0A0D1A"/>
          </a:solidFill>
          <a:ln w="19050">
            <a:solidFill>
              <a:srgbClr val="A3A8BF"/>
            </a:solidFill>
            <a:prstDash val="solid"/>
          </a:ln>
        </p:spPr>
        <p:txBody>
          <a:bodyPr wrap="none"/>
          <a:lstStyle/>
          <a:p>
            <a:endParaRPr lang="pt-BR"/>
          </a:p>
        </p:txBody>
      </p:sp>
      <p:sp>
        <p:nvSpPr>
          <p:cNvPr id="21" name="Shape 21"/>
          <p:cNvSpPr/>
          <p:nvPr/>
        </p:nvSpPr>
        <p:spPr>
          <a:xfrm>
            <a:off x="7096125" y="4286250"/>
            <a:ext cx="152400" cy="152400"/>
          </a:xfrm>
          <a:prstGeom prst="rect">
            <a:avLst/>
          </a:prstGeom>
          <a:solidFill>
            <a:srgbClr val="8E7CFF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22" name="Shape 22"/>
          <p:cNvSpPr/>
          <p:nvPr/>
        </p:nvSpPr>
        <p:spPr>
          <a:xfrm rot="2700000">
            <a:off x="10553700" y="4257675"/>
            <a:ext cx="209550" cy="209550"/>
          </a:xfrm>
          <a:prstGeom prst="rect">
            <a:avLst/>
          </a:prstGeom>
          <a:solidFill>
            <a:srgbClr val="8E7CFF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23" name="Shape 23"/>
          <p:cNvSpPr/>
          <p:nvPr/>
        </p:nvSpPr>
        <p:spPr>
          <a:xfrm>
            <a:off x="14049375" y="4276725"/>
            <a:ext cx="171450" cy="171450"/>
          </a:xfrm>
          <a:prstGeom prst="ellipse">
            <a:avLst/>
          </a:prstGeom>
          <a:solidFill>
            <a:srgbClr val="3CCFB4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24" name="Text 24"/>
          <p:cNvSpPr/>
          <p:nvPr/>
        </p:nvSpPr>
        <p:spPr>
          <a:xfrm>
            <a:off x="3905250" y="4533900"/>
            <a:ext cx="3095625" cy="762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10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Limite de postagem, postagem efetiva ou D-3</a:t>
            </a:r>
            <a:endParaRPr lang="pt-BR" sz="2100" dirty="0"/>
          </a:p>
        </p:txBody>
      </p:sp>
      <p:sp>
        <p:nvSpPr>
          <p:cNvPr id="25" name="Text 25"/>
          <p:cNvSpPr/>
          <p:nvPr/>
        </p:nvSpPr>
        <p:spPr>
          <a:xfrm>
            <a:off x="7381875" y="4533900"/>
            <a:ext cx="3095625" cy="762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100" dirty="0">
                <a:solidFill>
                  <a:srgbClr val="A3A8B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Histórico da rota, seller e rastreamento</a:t>
            </a:r>
            <a:endParaRPr lang="pt-BR" sz="2100" dirty="0"/>
          </a:p>
        </p:txBody>
      </p:sp>
      <p:sp>
        <p:nvSpPr>
          <p:cNvPr id="26" name="Text 26"/>
          <p:cNvSpPr/>
          <p:nvPr/>
        </p:nvSpPr>
        <p:spPr>
          <a:xfrm>
            <a:off x="10858500" y="4533900"/>
            <a:ext cx="3095625" cy="762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100" b="1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Há risco de atraso que exija intervenção?</a:t>
            </a:r>
            <a:endParaRPr lang="pt-BR" sz="2100" dirty="0"/>
          </a:p>
        </p:txBody>
      </p:sp>
      <p:sp>
        <p:nvSpPr>
          <p:cNvPr id="27" name="Text 27"/>
          <p:cNvSpPr/>
          <p:nvPr/>
        </p:nvSpPr>
        <p:spPr>
          <a:xfrm>
            <a:off x="14335125" y="4533900"/>
            <a:ext cx="3095625" cy="762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10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Alerta operacional ou comunicação autorizada</a:t>
            </a:r>
            <a:endParaRPr lang="pt-BR" sz="2100" dirty="0"/>
          </a:p>
        </p:txBody>
      </p:sp>
      <p:sp>
        <p:nvSpPr>
          <p:cNvPr id="28" name="Shape 28"/>
          <p:cNvSpPr/>
          <p:nvPr/>
        </p:nvSpPr>
        <p:spPr>
          <a:xfrm>
            <a:off x="10648950" y="4476750"/>
            <a:ext cx="28575" cy="1038225"/>
          </a:xfrm>
          <a:prstGeom prst="rect">
            <a:avLst/>
          </a:prstGeom>
          <a:solidFill>
            <a:srgbClr val="F3F4F8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29" name="Shape 29"/>
          <p:cNvSpPr/>
          <p:nvPr/>
        </p:nvSpPr>
        <p:spPr>
          <a:xfrm>
            <a:off x="10648950" y="5505450"/>
            <a:ext cx="209550" cy="28575"/>
          </a:xfrm>
          <a:prstGeom prst="rect">
            <a:avLst/>
          </a:prstGeom>
          <a:solidFill>
            <a:srgbClr val="F3F4F8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30" name="Shape 30"/>
          <p:cNvSpPr/>
          <p:nvPr/>
        </p:nvSpPr>
        <p:spPr>
          <a:xfrm>
            <a:off x="10877550" y="5438775"/>
            <a:ext cx="152400" cy="152400"/>
          </a:xfrm>
          <a:prstGeom prst="ellipse">
            <a:avLst/>
          </a:prstGeom>
          <a:solidFill>
            <a:srgbClr val="0A0D1A"/>
          </a:solidFill>
          <a:ln w="19050">
            <a:solidFill>
              <a:srgbClr val="F3F4F8"/>
            </a:solidFill>
            <a:prstDash val="solid"/>
          </a:ln>
        </p:spPr>
        <p:txBody>
          <a:bodyPr wrap="none"/>
          <a:lstStyle/>
          <a:p>
            <a:endParaRPr lang="pt-BR"/>
          </a:p>
        </p:txBody>
      </p:sp>
      <p:sp>
        <p:nvSpPr>
          <p:cNvPr id="31" name="Text 31"/>
          <p:cNvSpPr/>
          <p:nvPr/>
        </p:nvSpPr>
        <p:spPr>
          <a:xfrm>
            <a:off x="11106150" y="5353050"/>
            <a:ext cx="1047750" cy="3333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F3F4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HUMANO</a:t>
            </a:r>
            <a:endParaRPr lang="pt-BR" sz="1800" dirty="0"/>
          </a:p>
        </p:txBody>
      </p:sp>
      <p:sp>
        <p:nvSpPr>
          <p:cNvPr id="32" name="Text 32"/>
          <p:cNvSpPr/>
          <p:nvPr/>
        </p:nvSpPr>
        <p:spPr>
          <a:xfrm>
            <a:off x="12153900" y="5324475"/>
            <a:ext cx="5219700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10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Analista de operações decide a tratativa</a:t>
            </a:r>
            <a:endParaRPr lang="pt-BR" sz="2100" dirty="0"/>
          </a:p>
        </p:txBody>
      </p:sp>
      <p:sp>
        <p:nvSpPr>
          <p:cNvPr id="33" name="Shape 33"/>
          <p:cNvSpPr/>
          <p:nvPr/>
        </p:nvSpPr>
        <p:spPr>
          <a:xfrm>
            <a:off x="952500" y="5715000"/>
            <a:ext cx="16383000" cy="9525"/>
          </a:xfrm>
          <a:prstGeom prst="rect">
            <a:avLst/>
          </a:prstGeom>
          <a:solidFill>
            <a:srgbClr val="2A3050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34" name="Text 34"/>
          <p:cNvSpPr/>
          <p:nvPr/>
        </p:nvSpPr>
        <p:spPr>
          <a:xfrm>
            <a:off x="952500" y="5848350"/>
            <a:ext cx="24765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550" b="1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SentimentDesk</a:t>
            </a:r>
            <a:endParaRPr lang="pt-BR" sz="2550" dirty="0"/>
          </a:p>
        </p:txBody>
      </p:sp>
      <p:sp>
        <p:nvSpPr>
          <p:cNvPr id="35" name="Text 35"/>
          <p:cNvSpPr/>
          <p:nvPr/>
        </p:nvSpPr>
        <p:spPr>
          <a:xfrm>
            <a:off x="952500" y="6305550"/>
            <a:ext cx="2571750" cy="3333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3CCFB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PILOTO</a:t>
            </a:r>
            <a:endParaRPr lang="pt-BR" sz="1800" dirty="0"/>
          </a:p>
        </p:txBody>
      </p:sp>
      <p:sp>
        <p:nvSpPr>
          <p:cNvPr id="36" name="Shape 36"/>
          <p:cNvSpPr/>
          <p:nvPr/>
        </p:nvSpPr>
        <p:spPr>
          <a:xfrm>
            <a:off x="3790950" y="6048375"/>
            <a:ext cx="3305175" cy="19050"/>
          </a:xfrm>
          <a:prstGeom prst="rect">
            <a:avLst/>
          </a:prstGeom>
          <a:solidFill>
            <a:srgbClr val="7C8299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37" name="Shape 37"/>
          <p:cNvSpPr/>
          <p:nvPr/>
        </p:nvSpPr>
        <p:spPr>
          <a:xfrm>
            <a:off x="7248525" y="6043613"/>
            <a:ext cx="3324225" cy="28575"/>
          </a:xfrm>
          <a:prstGeom prst="rect">
            <a:avLst/>
          </a:prstGeom>
          <a:solidFill>
            <a:srgbClr val="8E7CFF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38" name="Shape 38"/>
          <p:cNvSpPr/>
          <p:nvPr/>
        </p:nvSpPr>
        <p:spPr>
          <a:xfrm>
            <a:off x="10744200" y="6043613"/>
            <a:ext cx="3305175" cy="28575"/>
          </a:xfrm>
          <a:prstGeom prst="rect">
            <a:avLst/>
          </a:prstGeom>
          <a:solidFill>
            <a:srgbClr val="3CCFB4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39" name="Shape 39"/>
          <p:cNvSpPr/>
          <p:nvPr/>
        </p:nvSpPr>
        <p:spPr>
          <a:xfrm>
            <a:off x="3619500" y="5972175"/>
            <a:ext cx="171450" cy="171450"/>
          </a:xfrm>
          <a:prstGeom prst="ellipse">
            <a:avLst/>
          </a:prstGeom>
          <a:solidFill>
            <a:srgbClr val="0A0D1A"/>
          </a:solidFill>
          <a:ln w="19050">
            <a:solidFill>
              <a:srgbClr val="A3A8BF"/>
            </a:solidFill>
            <a:prstDash val="solid"/>
          </a:ln>
        </p:spPr>
        <p:txBody>
          <a:bodyPr wrap="none"/>
          <a:lstStyle/>
          <a:p>
            <a:endParaRPr lang="pt-BR"/>
          </a:p>
        </p:txBody>
      </p:sp>
      <p:sp>
        <p:nvSpPr>
          <p:cNvPr id="40" name="Shape 40"/>
          <p:cNvSpPr/>
          <p:nvPr/>
        </p:nvSpPr>
        <p:spPr>
          <a:xfrm>
            <a:off x="7096125" y="5981700"/>
            <a:ext cx="152400" cy="152400"/>
          </a:xfrm>
          <a:prstGeom prst="rect">
            <a:avLst/>
          </a:prstGeom>
          <a:solidFill>
            <a:srgbClr val="8E7CFF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41" name="Shape 41"/>
          <p:cNvSpPr/>
          <p:nvPr/>
        </p:nvSpPr>
        <p:spPr>
          <a:xfrm rot="2700000">
            <a:off x="10553700" y="5953125"/>
            <a:ext cx="209550" cy="209550"/>
          </a:xfrm>
          <a:prstGeom prst="rect">
            <a:avLst/>
          </a:prstGeom>
          <a:solidFill>
            <a:srgbClr val="8E7CFF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42" name="Shape 42"/>
          <p:cNvSpPr/>
          <p:nvPr/>
        </p:nvSpPr>
        <p:spPr>
          <a:xfrm>
            <a:off x="14049375" y="5972175"/>
            <a:ext cx="171450" cy="171450"/>
          </a:xfrm>
          <a:prstGeom prst="ellipse">
            <a:avLst/>
          </a:prstGeom>
          <a:solidFill>
            <a:srgbClr val="3CCFB4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43" name="Text 43"/>
          <p:cNvSpPr/>
          <p:nvPr/>
        </p:nvSpPr>
        <p:spPr>
          <a:xfrm>
            <a:off x="3905250" y="6229350"/>
            <a:ext cx="3095625" cy="762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10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Avaliação de 1 a 3 estrelas</a:t>
            </a:r>
            <a:endParaRPr lang="pt-BR" sz="2100" dirty="0"/>
          </a:p>
        </p:txBody>
      </p:sp>
      <p:sp>
        <p:nvSpPr>
          <p:cNvPr id="44" name="Text 44"/>
          <p:cNvSpPr/>
          <p:nvPr/>
        </p:nvSpPr>
        <p:spPr>
          <a:xfrm>
            <a:off x="7381875" y="6229350"/>
            <a:ext cx="3095625" cy="762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100" dirty="0">
                <a:solidFill>
                  <a:srgbClr val="A3A8B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Texto + pedido; sem texto: OUTROS</a:t>
            </a:r>
            <a:endParaRPr lang="pt-BR" sz="2100" dirty="0"/>
          </a:p>
        </p:txBody>
      </p:sp>
      <p:sp>
        <p:nvSpPr>
          <p:cNvPr id="45" name="Text 45"/>
          <p:cNvSpPr/>
          <p:nvPr/>
        </p:nvSpPr>
        <p:spPr>
          <a:xfrm>
            <a:off x="10858500" y="6229350"/>
            <a:ext cx="3095625" cy="762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100" b="1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Revisão necessária?</a:t>
            </a:r>
            <a:endParaRPr lang="pt-BR" sz="2100" dirty="0"/>
          </a:p>
        </p:txBody>
      </p:sp>
      <p:sp>
        <p:nvSpPr>
          <p:cNvPr id="46" name="Text 46"/>
          <p:cNvSpPr/>
          <p:nvPr/>
        </p:nvSpPr>
        <p:spPr>
          <a:xfrm>
            <a:off x="14335125" y="6229350"/>
            <a:ext cx="3095625" cy="762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10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Rascunho; execução confirmada</a:t>
            </a:r>
            <a:endParaRPr lang="pt-BR" sz="2100" dirty="0"/>
          </a:p>
        </p:txBody>
      </p:sp>
      <p:sp>
        <p:nvSpPr>
          <p:cNvPr id="47" name="Shape 47"/>
          <p:cNvSpPr/>
          <p:nvPr/>
        </p:nvSpPr>
        <p:spPr>
          <a:xfrm>
            <a:off x="10648950" y="6172200"/>
            <a:ext cx="28575" cy="1038225"/>
          </a:xfrm>
          <a:prstGeom prst="rect">
            <a:avLst/>
          </a:prstGeom>
          <a:solidFill>
            <a:srgbClr val="F3F4F8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48" name="Shape 48"/>
          <p:cNvSpPr/>
          <p:nvPr/>
        </p:nvSpPr>
        <p:spPr>
          <a:xfrm>
            <a:off x="10648950" y="7200900"/>
            <a:ext cx="209550" cy="28575"/>
          </a:xfrm>
          <a:prstGeom prst="rect">
            <a:avLst/>
          </a:prstGeom>
          <a:solidFill>
            <a:srgbClr val="F3F4F8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49" name="Shape 49"/>
          <p:cNvSpPr/>
          <p:nvPr/>
        </p:nvSpPr>
        <p:spPr>
          <a:xfrm>
            <a:off x="10877550" y="7134225"/>
            <a:ext cx="152400" cy="152400"/>
          </a:xfrm>
          <a:prstGeom prst="ellipse">
            <a:avLst/>
          </a:prstGeom>
          <a:solidFill>
            <a:srgbClr val="0A0D1A"/>
          </a:solidFill>
          <a:ln w="19050">
            <a:solidFill>
              <a:srgbClr val="F3F4F8"/>
            </a:solidFill>
            <a:prstDash val="solid"/>
          </a:ln>
        </p:spPr>
        <p:txBody>
          <a:bodyPr wrap="none"/>
          <a:lstStyle/>
          <a:p>
            <a:endParaRPr lang="pt-BR"/>
          </a:p>
        </p:txBody>
      </p:sp>
      <p:sp>
        <p:nvSpPr>
          <p:cNvPr id="50" name="Text 50"/>
          <p:cNvSpPr/>
          <p:nvPr/>
        </p:nvSpPr>
        <p:spPr>
          <a:xfrm>
            <a:off x="11106150" y="7048500"/>
            <a:ext cx="1047750" cy="3333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F3F4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HUMANO</a:t>
            </a:r>
            <a:endParaRPr lang="pt-BR" sz="1800" dirty="0"/>
          </a:p>
        </p:txBody>
      </p:sp>
      <p:sp>
        <p:nvSpPr>
          <p:cNvPr id="51" name="Text 51"/>
          <p:cNvSpPr/>
          <p:nvPr/>
        </p:nvSpPr>
        <p:spPr>
          <a:xfrm>
            <a:off x="12153900" y="7019925"/>
            <a:ext cx="5219700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10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Crítica / incerta / &gt; R$500: revisão</a:t>
            </a:r>
            <a:endParaRPr lang="pt-BR" sz="2100" dirty="0"/>
          </a:p>
        </p:txBody>
      </p:sp>
      <p:sp>
        <p:nvSpPr>
          <p:cNvPr id="52" name="Shape 52"/>
          <p:cNvSpPr/>
          <p:nvPr/>
        </p:nvSpPr>
        <p:spPr>
          <a:xfrm>
            <a:off x="952500" y="7410450"/>
            <a:ext cx="16383000" cy="9525"/>
          </a:xfrm>
          <a:prstGeom prst="rect">
            <a:avLst/>
          </a:prstGeom>
          <a:solidFill>
            <a:srgbClr val="2A3050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53" name="Text 53"/>
          <p:cNvSpPr/>
          <p:nvPr/>
        </p:nvSpPr>
        <p:spPr>
          <a:xfrm>
            <a:off x="952500" y="7543800"/>
            <a:ext cx="24765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550" b="1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WinBack</a:t>
            </a:r>
            <a:endParaRPr lang="pt-BR" sz="2550" dirty="0"/>
          </a:p>
        </p:txBody>
      </p:sp>
      <p:sp>
        <p:nvSpPr>
          <p:cNvPr id="54" name="Text 54"/>
          <p:cNvSpPr/>
          <p:nvPr/>
        </p:nvSpPr>
        <p:spPr>
          <a:xfrm>
            <a:off x="952500" y="8001000"/>
            <a:ext cx="2571750" cy="3333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EXPANSÃO FUTURA</a:t>
            </a:r>
            <a:endParaRPr lang="pt-BR" sz="1800" dirty="0"/>
          </a:p>
        </p:txBody>
      </p:sp>
      <p:sp>
        <p:nvSpPr>
          <p:cNvPr id="55" name="Shape 55"/>
          <p:cNvSpPr/>
          <p:nvPr/>
        </p:nvSpPr>
        <p:spPr>
          <a:xfrm>
            <a:off x="3790950" y="7743825"/>
            <a:ext cx="3305175" cy="19050"/>
          </a:xfrm>
          <a:prstGeom prst="rect">
            <a:avLst/>
          </a:prstGeom>
          <a:solidFill>
            <a:srgbClr val="7C8299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56" name="Shape 56"/>
          <p:cNvSpPr/>
          <p:nvPr/>
        </p:nvSpPr>
        <p:spPr>
          <a:xfrm>
            <a:off x="7248525" y="7739063"/>
            <a:ext cx="3324225" cy="28575"/>
          </a:xfrm>
          <a:prstGeom prst="rect">
            <a:avLst/>
          </a:prstGeom>
          <a:solidFill>
            <a:srgbClr val="8E7CFF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57" name="Shape 57"/>
          <p:cNvSpPr/>
          <p:nvPr/>
        </p:nvSpPr>
        <p:spPr>
          <a:xfrm>
            <a:off x="10744200" y="7739063"/>
            <a:ext cx="3305175" cy="28575"/>
          </a:xfrm>
          <a:prstGeom prst="rect">
            <a:avLst/>
          </a:prstGeom>
          <a:solidFill>
            <a:srgbClr val="3CCFB4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58" name="Shape 58"/>
          <p:cNvSpPr/>
          <p:nvPr/>
        </p:nvSpPr>
        <p:spPr>
          <a:xfrm>
            <a:off x="3619500" y="7667625"/>
            <a:ext cx="171450" cy="171450"/>
          </a:xfrm>
          <a:prstGeom prst="ellipse">
            <a:avLst/>
          </a:prstGeom>
          <a:solidFill>
            <a:srgbClr val="0A0D1A"/>
          </a:solidFill>
          <a:ln w="19050">
            <a:solidFill>
              <a:srgbClr val="A3A8BF"/>
            </a:solidFill>
            <a:prstDash val="solid"/>
          </a:ln>
        </p:spPr>
        <p:txBody>
          <a:bodyPr wrap="none"/>
          <a:lstStyle/>
          <a:p>
            <a:endParaRPr lang="pt-BR"/>
          </a:p>
        </p:txBody>
      </p:sp>
      <p:sp>
        <p:nvSpPr>
          <p:cNvPr id="59" name="Shape 59"/>
          <p:cNvSpPr/>
          <p:nvPr/>
        </p:nvSpPr>
        <p:spPr>
          <a:xfrm>
            <a:off x="7096125" y="7677150"/>
            <a:ext cx="152400" cy="152400"/>
          </a:xfrm>
          <a:prstGeom prst="rect">
            <a:avLst/>
          </a:prstGeom>
          <a:solidFill>
            <a:srgbClr val="8E7CFF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60" name="Shape 60"/>
          <p:cNvSpPr/>
          <p:nvPr/>
        </p:nvSpPr>
        <p:spPr>
          <a:xfrm rot="2700000">
            <a:off x="10553700" y="7648575"/>
            <a:ext cx="209550" cy="209550"/>
          </a:xfrm>
          <a:prstGeom prst="rect">
            <a:avLst/>
          </a:prstGeom>
          <a:solidFill>
            <a:srgbClr val="8E7CFF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61" name="Shape 61"/>
          <p:cNvSpPr/>
          <p:nvPr/>
        </p:nvSpPr>
        <p:spPr>
          <a:xfrm>
            <a:off x="14049375" y="7667625"/>
            <a:ext cx="171450" cy="171450"/>
          </a:xfrm>
          <a:prstGeom prst="ellipse">
            <a:avLst/>
          </a:prstGeom>
          <a:solidFill>
            <a:srgbClr val="3CCFB4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62" name="Text 62"/>
          <p:cNvSpPr/>
          <p:nvPr/>
        </p:nvSpPr>
        <p:spPr>
          <a:xfrm>
            <a:off x="3905250" y="7924800"/>
            <a:ext cx="3095625" cy="762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10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Cliente elegível entre D+7 e D+90</a:t>
            </a:r>
            <a:endParaRPr lang="pt-BR" sz="2100" dirty="0"/>
          </a:p>
        </p:txBody>
      </p:sp>
      <p:sp>
        <p:nvSpPr>
          <p:cNvPr id="63" name="Text 63"/>
          <p:cNvSpPr/>
          <p:nvPr/>
        </p:nvSpPr>
        <p:spPr>
          <a:xfrm>
            <a:off x="7381875" y="7924800"/>
            <a:ext cx="3095625" cy="762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100" dirty="0">
                <a:solidFill>
                  <a:srgbClr val="A3A8B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Consentimento, 2ª compra e pendências</a:t>
            </a:r>
            <a:endParaRPr lang="pt-BR" sz="2100" dirty="0"/>
          </a:p>
        </p:txBody>
      </p:sp>
      <p:sp>
        <p:nvSpPr>
          <p:cNvPr id="64" name="Text 64"/>
          <p:cNvSpPr/>
          <p:nvPr/>
        </p:nvSpPr>
        <p:spPr>
          <a:xfrm>
            <a:off x="10858500" y="7924800"/>
            <a:ext cx="3095625" cy="762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100" b="1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Controle ou bloqueio? Pausar?</a:t>
            </a:r>
            <a:endParaRPr lang="pt-BR" sz="2100" dirty="0"/>
          </a:p>
        </p:txBody>
      </p:sp>
      <p:sp>
        <p:nvSpPr>
          <p:cNvPr id="65" name="Text 65"/>
          <p:cNvSpPr/>
          <p:nvPr/>
        </p:nvSpPr>
        <p:spPr>
          <a:xfrm>
            <a:off x="14335125" y="7924800"/>
            <a:ext cx="3095625" cy="762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10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Resolução permite reavaliar</a:t>
            </a:r>
            <a:endParaRPr lang="pt-BR" sz="2100" dirty="0"/>
          </a:p>
        </p:txBody>
      </p:sp>
      <p:sp>
        <p:nvSpPr>
          <p:cNvPr id="66" name="Shape 66"/>
          <p:cNvSpPr/>
          <p:nvPr/>
        </p:nvSpPr>
        <p:spPr>
          <a:xfrm>
            <a:off x="10648950" y="7867650"/>
            <a:ext cx="28575" cy="1038225"/>
          </a:xfrm>
          <a:prstGeom prst="rect">
            <a:avLst/>
          </a:prstGeom>
          <a:solidFill>
            <a:srgbClr val="F3F4F8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67" name="Shape 67"/>
          <p:cNvSpPr/>
          <p:nvPr/>
        </p:nvSpPr>
        <p:spPr>
          <a:xfrm>
            <a:off x="10648950" y="8896350"/>
            <a:ext cx="209550" cy="28575"/>
          </a:xfrm>
          <a:prstGeom prst="rect">
            <a:avLst/>
          </a:prstGeom>
          <a:solidFill>
            <a:srgbClr val="F3F4F8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68" name="Shape 68"/>
          <p:cNvSpPr/>
          <p:nvPr/>
        </p:nvSpPr>
        <p:spPr>
          <a:xfrm>
            <a:off x="10877550" y="8829675"/>
            <a:ext cx="152400" cy="152400"/>
          </a:xfrm>
          <a:prstGeom prst="ellipse">
            <a:avLst/>
          </a:prstGeom>
          <a:solidFill>
            <a:srgbClr val="0A0D1A"/>
          </a:solidFill>
          <a:ln w="19050">
            <a:solidFill>
              <a:srgbClr val="F3F4F8"/>
            </a:solidFill>
            <a:prstDash val="solid"/>
          </a:ln>
        </p:spPr>
        <p:txBody>
          <a:bodyPr wrap="none"/>
          <a:lstStyle/>
          <a:p>
            <a:endParaRPr lang="pt-BR"/>
          </a:p>
        </p:txBody>
      </p:sp>
      <p:sp>
        <p:nvSpPr>
          <p:cNvPr id="69" name="Text 69"/>
          <p:cNvSpPr/>
          <p:nvPr/>
        </p:nvSpPr>
        <p:spPr>
          <a:xfrm>
            <a:off x="11106150" y="8743950"/>
            <a:ext cx="1047750" cy="3333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F3F4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HUMANO</a:t>
            </a:r>
            <a:endParaRPr lang="pt-BR" sz="1800" dirty="0"/>
          </a:p>
        </p:txBody>
      </p:sp>
      <p:sp>
        <p:nvSpPr>
          <p:cNvPr id="70" name="Text 70"/>
          <p:cNvSpPr/>
          <p:nvPr/>
        </p:nvSpPr>
        <p:spPr>
          <a:xfrm>
            <a:off x="12153900" y="8715375"/>
            <a:ext cx="5219700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10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Incentivo &gt; 10%: aprovação do gestor</a:t>
            </a:r>
            <a:endParaRPr lang="pt-BR" sz="2100" dirty="0"/>
          </a:p>
        </p:txBody>
      </p:sp>
      <p:sp>
        <p:nvSpPr>
          <p:cNvPr id="71" name="Shape 71"/>
          <p:cNvSpPr/>
          <p:nvPr/>
        </p:nvSpPr>
        <p:spPr>
          <a:xfrm>
            <a:off x="952500" y="9286875"/>
            <a:ext cx="16383000" cy="9525"/>
          </a:xfrm>
          <a:prstGeom prst="rect">
            <a:avLst/>
          </a:prstGeom>
          <a:solidFill>
            <a:srgbClr val="2A3050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72" name="Text 72"/>
          <p:cNvSpPr/>
          <p:nvPr/>
        </p:nvSpPr>
        <p:spPr>
          <a:xfrm>
            <a:off x="952500" y="9477375"/>
            <a:ext cx="866775" cy="3333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dirty="0">
                <a:solidFill>
                  <a:srgbClr val="F0B54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DADOS</a:t>
            </a:r>
            <a:endParaRPr lang="pt-BR" sz="1800" dirty="0"/>
          </a:p>
        </p:txBody>
      </p:sp>
      <p:sp>
        <p:nvSpPr>
          <p:cNvPr id="73" name="Text 73"/>
          <p:cNvSpPr/>
          <p:nvPr/>
        </p:nvSpPr>
        <p:spPr>
          <a:xfrm>
            <a:off x="1876425" y="9477375"/>
            <a:ext cx="323850" cy="3333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→</a:t>
            </a:r>
            <a:endParaRPr lang="pt-BR" sz="1800" dirty="0"/>
          </a:p>
        </p:txBody>
      </p:sp>
      <p:sp>
        <p:nvSpPr>
          <p:cNvPr id="74" name="Text 74"/>
          <p:cNvSpPr/>
          <p:nvPr/>
        </p:nvSpPr>
        <p:spPr>
          <a:xfrm>
            <a:off x="2200275" y="9477375"/>
            <a:ext cx="3091815" cy="3333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dirty="0">
                <a:solidFill>
                  <a:srgbClr val="8E7C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REGRAS E INTELIGÊNCIA</a:t>
            </a:r>
            <a:endParaRPr lang="pt-BR" sz="1800" dirty="0"/>
          </a:p>
        </p:txBody>
      </p:sp>
      <p:sp>
        <p:nvSpPr>
          <p:cNvPr id="75" name="Text 75"/>
          <p:cNvSpPr/>
          <p:nvPr/>
        </p:nvSpPr>
        <p:spPr>
          <a:xfrm>
            <a:off x="5349240" y="9477375"/>
            <a:ext cx="323850" cy="3333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→</a:t>
            </a:r>
            <a:endParaRPr lang="pt-BR" sz="1800" dirty="0"/>
          </a:p>
        </p:txBody>
      </p:sp>
      <p:sp>
        <p:nvSpPr>
          <p:cNvPr id="76" name="Text 76"/>
          <p:cNvSpPr/>
          <p:nvPr/>
        </p:nvSpPr>
        <p:spPr>
          <a:xfrm>
            <a:off x="5673090" y="9477375"/>
            <a:ext cx="1144905" cy="3333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dirty="0">
                <a:solidFill>
                  <a:srgbClr val="8E7C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AGENTES</a:t>
            </a:r>
            <a:endParaRPr lang="pt-BR" sz="1800" dirty="0"/>
          </a:p>
        </p:txBody>
      </p:sp>
      <p:sp>
        <p:nvSpPr>
          <p:cNvPr id="77" name="Text 77"/>
          <p:cNvSpPr/>
          <p:nvPr/>
        </p:nvSpPr>
        <p:spPr>
          <a:xfrm>
            <a:off x="6875145" y="9477375"/>
            <a:ext cx="323850" cy="3333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→</a:t>
            </a:r>
            <a:endParaRPr lang="pt-BR" sz="1800" dirty="0"/>
          </a:p>
        </p:txBody>
      </p:sp>
      <p:sp>
        <p:nvSpPr>
          <p:cNvPr id="78" name="Text 78"/>
          <p:cNvSpPr/>
          <p:nvPr/>
        </p:nvSpPr>
        <p:spPr>
          <a:xfrm>
            <a:off x="7198995" y="9477375"/>
            <a:ext cx="866775" cy="3333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dirty="0">
                <a:solidFill>
                  <a:srgbClr val="3CCFB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AÇÕES</a:t>
            </a:r>
            <a:endParaRPr lang="pt-BR" sz="1800" dirty="0"/>
          </a:p>
        </p:txBody>
      </p:sp>
      <p:sp>
        <p:nvSpPr>
          <p:cNvPr id="79" name="Text 79"/>
          <p:cNvSpPr/>
          <p:nvPr/>
        </p:nvSpPr>
        <p:spPr>
          <a:xfrm>
            <a:off x="8122920" y="9477375"/>
            <a:ext cx="323850" cy="3333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→</a:t>
            </a:r>
            <a:endParaRPr lang="pt-BR" sz="1800" dirty="0"/>
          </a:p>
        </p:txBody>
      </p:sp>
      <p:sp>
        <p:nvSpPr>
          <p:cNvPr id="80" name="Text 80"/>
          <p:cNvSpPr/>
          <p:nvPr/>
        </p:nvSpPr>
        <p:spPr>
          <a:xfrm>
            <a:off x="8446770" y="9477375"/>
            <a:ext cx="1144905" cy="3333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dirty="0">
                <a:solidFill>
                  <a:srgbClr val="F3F4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PESSOAS</a:t>
            </a:r>
            <a:endParaRPr lang="pt-BR" sz="1800" dirty="0"/>
          </a:p>
        </p:txBody>
      </p:sp>
      <p:sp>
        <p:nvSpPr>
          <p:cNvPr id="81" name="Text 81"/>
          <p:cNvSpPr/>
          <p:nvPr/>
        </p:nvSpPr>
        <p:spPr>
          <a:xfrm>
            <a:off x="9801225" y="9467850"/>
            <a:ext cx="753427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pt-BR" sz="1800" dirty="0">
                <a:solidFill>
                  <a:srgbClr val="A3A8B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Arquitetura conceitual. Não representa implementação concluída.</a:t>
            </a:r>
            <a:endParaRPr lang="pt-BR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>
  <p:cSld name="Slide 8">
    <p:bg>
      <p:bgPr>
        <a:solidFill>
          <a:srgbClr val="0A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952500" y="576263"/>
            <a:ext cx="5129828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OLIST · FROM INSIGHT TO IMPACT</a:t>
            </a:r>
            <a:endParaRPr lang="pt-BR" sz="1800" dirty="0"/>
          </a:p>
        </p:txBody>
      </p:sp>
      <p:sp>
        <p:nvSpPr>
          <p:cNvPr id="3" name="Text 3"/>
          <p:cNvSpPr/>
          <p:nvPr/>
        </p:nvSpPr>
        <p:spPr>
          <a:xfrm>
            <a:off x="11684298" y="533400"/>
            <a:ext cx="1703884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DESCOBRIR</a:t>
            </a:r>
            <a:endParaRPr lang="pt-BR" sz="1800" dirty="0"/>
          </a:p>
        </p:txBody>
      </p:sp>
      <p:sp>
        <p:nvSpPr>
          <p:cNvPr id="4" name="Shape 4"/>
          <p:cNvSpPr/>
          <p:nvPr/>
        </p:nvSpPr>
        <p:spPr>
          <a:xfrm>
            <a:off x="13464382" y="890587"/>
            <a:ext cx="1243608" cy="25400"/>
          </a:xfrm>
          <a:prstGeom prst="rect">
            <a:avLst/>
          </a:prstGeom>
          <a:solidFill>
            <a:srgbClr val="8E7CFF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5" name="Text 5"/>
          <p:cNvSpPr/>
          <p:nvPr/>
        </p:nvSpPr>
        <p:spPr>
          <a:xfrm>
            <a:off x="13464382" y="534988"/>
            <a:ext cx="1548408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F3F4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DESENHAR</a:t>
            </a:r>
            <a:endParaRPr lang="pt-BR" sz="1800" dirty="0"/>
          </a:p>
        </p:txBody>
      </p:sp>
      <p:sp>
        <p:nvSpPr>
          <p:cNvPr id="6" name="Text 6"/>
          <p:cNvSpPr/>
          <p:nvPr/>
        </p:nvSpPr>
        <p:spPr>
          <a:xfrm>
            <a:off x="15088989" y="533400"/>
            <a:ext cx="1393031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ESCALAR</a:t>
            </a:r>
            <a:endParaRPr lang="pt-BR" sz="1800" dirty="0"/>
          </a:p>
        </p:txBody>
      </p:sp>
      <p:sp>
        <p:nvSpPr>
          <p:cNvPr id="7" name="Text 7"/>
          <p:cNvSpPr/>
          <p:nvPr/>
        </p:nvSpPr>
        <p:spPr>
          <a:xfrm>
            <a:off x="16558221" y="533400"/>
            <a:ext cx="853480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08/12</a:t>
            </a:r>
            <a:endParaRPr lang="pt-BR" sz="1800" dirty="0"/>
          </a:p>
        </p:txBody>
      </p:sp>
      <p:sp>
        <p:nvSpPr>
          <p:cNvPr id="8" name="Text 8"/>
          <p:cNvSpPr/>
          <p:nvPr/>
        </p:nvSpPr>
        <p:spPr>
          <a:xfrm>
            <a:off x="952500" y="1428750"/>
            <a:ext cx="16383000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216" dirty="0">
                <a:solidFill>
                  <a:srgbClr val="8E7C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JORNADA MULTIAGENTE · CASO HISTÓRICO + SIMULAÇÃO</a:t>
            </a:r>
            <a:endParaRPr lang="pt-BR" sz="1800" dirty="0"/>
          </a:p>
        </p:txBody>
      </p:sp>
      <p:sp>
        <p:nvSpPr>
          <p:cNvPr id="9" name="Text 9"/>
          <p:cNvSpPr/>
          <p:nvPr/>
        </p:nvSpPr>
        <p:spPr>
          <a:xfrm>
            <a:off x="952500" y="1898650"/>
            <a:ext cx="14716125" cy="13182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1951"/>
              </a:lnSpc>
              <a:buNone/>
            </a:pPr>
            <a:r>
              <a:rPr lang="pt-BR" sz="4500" b="1" kern="0" spc="-9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Um pedido real mostra onde os agentes poderiam intervir.</a:t>
            </a:r>
            <a:endParaRPr lang="pt-BR" sz="4500" dirty="0"/>
          </a:p>
        </p:txBody>
      </p:sp>
      <p:sp>
        <p:nvSpPr>
          <p:cNvPr id="10" name="Text 10"/>
          <p:cNvSpPr/>
          <p:nvPr/>
        </p:nvSpPr>
        <p:spPr>
          <a:xfrm>
            <a:off x="952500" y="3597871"/>
            <a:ext cx="6880007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216" dirty="0">
                <a:solidFill>
                  <a:srgbClr val="F0B54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 QUE ACONTECEU · OBSERVADO NO DATASET</a:t>
            </a:r>
            <a:endParaRPr lang="pt-BR" sz="1800" dirty="0"/>
          </a:p>
        </p:txBody>
      </p:sp>
      <p:sp>
        <p:nvSpPr>
          <p:cNvPr id="11" name="Shape 11"/>
          <p:cNvSpPr/>
          <p:nvPr/>
        </p:nvSpPr>
        <p:spPr>
          <a:xfrm>
            <a:off x="952500" y="4238625"/>
            <a:ext cx="16383000" cy="19050"/>
          </a:xfrm>
          <a:prstGeom prst="rect">
            <a:avLst/>
          </a:prstGeom>
          <a:solidFill>
            <a:srgbClr val="F0B547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12" name="Shape 12"/>
          <p:cNvSpPr/>
          <p:nvPr/>
        </p:nvSpPr>
        <p:spPr>
          <a:xfrm>
            <a:off x="4949925" y="4226521"/>
            <a:ext cx="19050" cy="2466975"/>
          </a:xfrm>
          <a:prstGeom prst="rect">
            <a:avLst/>
          </a:prstGeom>
          <a:solidFill>
            <a:srgbClr val="2A3050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13" name="Shape 13"/>
          <p:cNvSpPr/>
          <p:nvPr/>
        </p:nvSpPr>
        <p:spPr>
          <a:xfrm>
            <a:off x="876300" y="4150321"/>
            <a:ext cx="171450" cy="171450"/>
          </a:xfrm>
          <a:prstGeom prst="ellipse">
            <a:avLst/>
          </a:prstGeom>
          <a:solidFill>
            <a:srgbClr val="F0B547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14" name="Shape 14"/>
          <p:cNvSpPr/>
          <p:nvPr/>
        </p:nvSpPr>
        <p:spPr>
          <a:xfrm>
            <a:off x="4873724" y="4150321"/>
            <a:ext cx="171450" cy="171450"/>
          </a:xfrm>
          <a:prstGeom prst="ellipse">
            <a:avLst/>
          </a:prstGeom>
          <a:solidFill>
            <a:srgbClr val="F0B547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15" name="Shape 15"/>
          <p:cNvSpPr/>
          <p:nvPr/>
        </p:nvSpPr>
        <p:spPr>
          <a:xfrm>
            <a:off x="11860907" y="4016971"/>
            <a:ext cx="38100" cy="438150"/>
          </a:xfrm>
          <a:prstGeom prst="rect">
            <a:avLst/>
          </a:prstGeom>
          <a:solidFill>
            <a:srgbClr val="F3F4F8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16" name="Shape 16"/>
          <p:cNvSpPr/>
          <p:nvPr/>
        </p:nvSpPr>
        <p:spPr>
          <a:xfrm>
            <a:off x="12201525" y="4150321"/>
            <a:ext cx="171450" cy="171450"/>
          </a:xfrm>
          <a:prstGeom prst="ellipse">
            <a:avLst/>
          </a:prstGeom>
          <a:solidFill>
            <a:srgbClr val="F0B547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17" name="Shape 17"/>
          <p:cNvSpPr/>
          <p:nvPr/>
        </p:nvSpPr>
        <p:spPr>
          <a:xfrm>
            <a:off x="14773275" y="4152900"/>
            <a:ext cx="171450" cy="171450"/>
          </a:xfrm>
          <a:prstGeom prst="ellipse">
            <a:avLst/>
          </a:prstGeom>
          <a:solidFill>
            <a:srgbClr val="F0B547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18" name="Text 18"/>
          <p:cNvSpPr/>
          <p:nvPr/>
        </p:nvSpPr>
        <p:spPr>
          <a:xfrm>
            <a:off x="952500" y="4512271"/>
            <a:ext cx="3981450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dirty="0">
                <a:solidFill>
                  <a:srgbClr val="A3A8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25/02 · D0</a:t>
            </a:r>
            <a:endParaRPr lang="pt-BR" sz="1800" dirty="0"/>
          </a:p>
        </p:txBody>
      </p:sp>
      <p:sp>
        <p:nvSpPr>
          <p:cNvPr id="19" name="Text 19"/>
          <p:cNvSpPr/>
          <p:nvPr/>
        </p:nvSpPr>
        <p:spPr>
          <a:xfrm>
            <a:off x="952500" y="4867870"/>
            <a:ext cx="3728085" cy="731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4138"/>
              </a:lnSpc>
              <a:buNone/>
            </a:pPr>
            <a:r>
              <a:rPr lang="pt-BR" sz="210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Compra, Minas Gerais → Maranhão</a:t>
            </a:r>
            <a:endParaRPr lang="pt-BR" sz="2100" dirty="0"/>
          </a:p>
        </p:txBody>
      </p:sp>
      <p:sp>
        <p:nvSpPr>
          <p:cNvPr id="20" name="Text 20"/>
          <p:cNvSpPr/>
          <p:nvPr/>
        </p:nvSpPr>
        <p:spPr>
          <a:xfrm>
            <a:off x="5140425" y="4512271"/>
            <a:ext cx="3981450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dirty="0">
                <a:solidFill>
                  <a:srgbClr val="A3A8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D+11</a:t>
            </a:r>
            <a:endParaRPr lang="pt-BR" sz="1800" dirty="0"/>
          </a:p>
        </p:txBody>
      </p:sp>
      <p:sp>
        <p:nvSpPr>
          <p:cNvPr id="21" name="Text 21"/>
          <p:cNvSpPr/>
          <p:nvPr/>
        </p:nvSpPr>
        <p:spPr>
          <a:xfrm>
            <a:off x="5140425" y="4867870"/>
            <a:ext cx="3728085" cy="731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4138"/>
              </a:lnSpc>
              <a:buNone/>
            </a:pPr>
            <a:r>
              <a:rPr lang="pt-BR" sz="210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Postagem quatro dias após o limite</a:t>
            </a:r>
            <a:endParaRPr lang="pt-BR" sz="2100" dirty="0"/>
          </a:p>
        </p:txBody>
      </p:sp>
      <p:sp>
        <p:nvSpPr>
          <p:cNvPr id="22" name="Text 22"/>
          <p:cNvSpPr/>
          <p:nvPr/>
        </p:nvSpPr>
        <p:spPr>
          <a:xfrm>
            <a:off x="9906000" y="4512271"/>
            <a:ext cx="1857375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pt-BR" sz="1800" dirty="0">
                <a:solidFill>
                  <a:srgbClr val="A3A8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27/03 · D+30</a:t>
            </a:r>
            <a:endParaRPr lang="pt-BR" sz="1800" dirty="0"/>
          </a:p>
        </p:txBody>
      </p:sp>
      <p:sp>
        <p:nvSpPr>
          <p:cNvPr id="23" name="Text 23"/>
          <p:cNvSpPr/>
          <p:nvPr/>
        </p:nvSpPr>
        <p:spPr>
          <a:xfrm>
            <a:off x="9525000" y="4867870"/>
            <a:ext cx="2238375" cy="3847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94138"/>
              </a:lnSpc>
              <a:buNone/>
            </a:pPr>
            <a:r>
              <a:rPr lang="pt-BR" sz="210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Prazo prometido</a:t>
            </a:r>
            <a:endParaRPr lang="pt-BR" sz="2100" dirty="0"/>
          </a:p>
        </p:txBody>
      </p:sp>
      <p:sp>
        <p:nvSpPr>
          <p:cNvPr id="24" name="Text 24"/>
          <p:cNvSpPr/>
          <p:nvPr/>
        </p:nvSpPr>
        <p:spPr>
          <a:xfrm>
            <a:off x="12382500" y="4512271"/>
            <a:ext cx="2286000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dirty="0">
                <a:solidFill>
                  <a:srgbClr val="A3A8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06/04 · D+40</a:t>
            </a:r>
            <a:endParaRPr lang="pt-BR" sz="1800" dirty="0"/>
          </a:p>
        </p:txBody>
      </p:sp>
      <p:sp>
        <p:nvSpPr>
          <p:cNvPr id="25" name="Text 25"/>
          <p:cNvSpPr/>
          <p:nvPr/>
        </p:nvSpPr>
        <p:spPr>
          <a:xfrm>
            <a:off x="12382500" y="4867870"/>
            <a:ext cx="2381250" cy="731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4138"/>
              </a:lnSpc>
              <a:buNone/>
            </a:pPr>
            <a:r>
              <a:rPr lang="pt-BR" sz="210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Entrega 10 dias após o prazo</a:t>
            </a:r>
            <a:endParaRPr lang="pt-BR" sz="2100" dirty="0"/>
          </a:p>
        </p:txBody>
      </p:sp>
      <p:sp>
        <p:nvSpPr>
          <p:cNvPr id="26" name="Shape 26"/>
          <p:cNvSpPr/>
          <p:nvPr/>
        </p:nvSpPr>
        <p:spPr>
          <a:xfrm>
            <a:off x="762000" y="6000750"/>
            <a:ext cx="16764000" cy="3028950"/>
          </a:xfrm>
          <a:prstGeom prst="rect">
            <a:avLst/>
          </a:prstGeom>
          <a:solidFill>
            <a:srgbClr val="13162B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27" name="Text 27"/>
          <p:cNvSpPr/>
          <p:nvPr/>
        </p:nvSpPr>
        <p:spPr>
          <a:xfrm>
            <a:off x="952500" y="6210300"/>
            <a:ext cx="7604155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216" dirty="0">
                <a:solidFill>
                  <a:srgbClr val="8E7C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COMO OS AGENTES PODERIAM ATUAR · SIMULAÇÃO</a:t>
            </a:r>
            <a:endParaRPr lang="pt-BR" sz="1800" dirty="0"/>
          </a:p>
        </p:txBody>
      </p:sp>
      <p:sp>
        <p:nvSpPr>
          <p:cNvPr id="28" name="Shape 28"/>
          <p:cNvSpPr/>
          <p:nvPr/>
        </p:nvSpPr>
        <p:spPr>
          <a:xfrm>
            <a:off x="952500" y="6772275"/>
            <a:ext cx="16383000" cy="38100"/>
          </a:xfrm>
          <a:prstGeom prst="rect">
            <a:avLst/>
          </a:prstGeom>
          <a:solidFill>
            <a:srgbClr val="8E7CFF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29" name="Shape 29"/>
          <p:cNvSpPr/>
          <p:nvPr/>
        </p:nvSpPr>
        <p:spPr>
          <a:xfrm>
            <a:off x="3045619" y="6696075"/>
            <a:ext cx="190500" cy="190500"/>
          </a:xfrm>
          <a:prstGeom prst="ellipse">
            <a:avLst/>
          </a:prstGeom>
          <a:solidFill>
            <a:srgbClr val="0A0D1A"/>
          </a:solidFill>
          <a:ln w="25400">
            <a:solidFill>
              <a:srgbClr val="8E7CFF"/>
            </a:solidFill>
            <a:prstDash val="solid"/>
          </a:ln>
        </p:spPr>
        <p:txBody>
          <a:bodyPr wrap="none"/>
          <a:lstStyle/>
          <a:p>
            <a:endParaRPr lang="pt-BR"/>
          </a:p>
        </p:txBody>
      </p:sp>
      <p:sp>
        <p:nvSpPr>
          <p:cNvPr id="30" name="Shape 30"/>
          <p:cNvSpPr/>
          <p:nvPr/>
        </p:nvSpPr>
        <p:spPr>
          <a:xfrm>
            <a:off x="4864199" y="6696075"/>
            <a:ext cx="190500" cy="190500"/>
          </a:xfrm>
          <a:prstGeom prst="ellipse">
            <a:avLst/>
          </a:prstGeom>
          <a:solidFill>
            <a:srgbClr val="8E7CFF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31" name="Shape 31"/>
          <p:cNvSpPr/>
          <p:nvPr/>
        </p:nvSpPr>
        <p:spPr>
          <a:xfrm>
            <a:off x="10696575" y="6696075"/>
            <a:ext cx="190500" cy="190500"/>
          </a:xfrm>
          <a:prstGeom prst="ellipse">
            <a:avLst/>
          </a:prstGeom>
          <a:solidFill>
            <a:srgbClr val="8E7CFF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32" name="Shape 32"/>
          <p:cNvSpPr/>
          <p:nvPr/>
        </p:nvSpPr>
        <p:spPr>
          <a:xfrm>
            <a:off x="14763750" y="6696075"/>
            <a:ext cx="190500" cy="190500"/>
          </a:xfrm>
          <a:prstGeom prst="ellipse">
            <a:avLst/>
          </a:prstGeom>
          <a:solidFill>
            <a:srgbClr val="8E7CFF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33" name="Text 33"/>
          <p:cNvSpPr/>
          <p:nvPr/>
        </p:nvSpPr>
        <p:spPr>
          <a:xfrm>
            <a:off x="3131344" y="7067550"/>
            <a:ext cx="5867400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dirty="0">
                <a:solidFill>
                  <a:srgbClr val="8E7C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D+6 → D+11 · LOGIPREDICT</a:t>
            </a:r>
            <a:endParaRPr lang="pt-BR" sz="1800" dirty="0"/>
          </a:p>
        </p:txBody>
      </p:sp>
      <p:sp>
        <p:nvSpPr>
          <p:cNvPr id="34" name="Text 34"/>
          <p:cNvSpPr/>
          <p:nvPr/>
        </p:nvSpPr>
        <p:spPr>
          <a:xfrm>
            <a:off x="3131344" y="7419975"/>
            <a:ext cx="533400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4138"/>
              </a:lnSpc>
              <a:buNone/>
            </a:pPr>
            <a:r>
              <a:rPr lang="pt-BR" sz="195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Lembrete ao seller. Na postagem atrasada: risco alto e alerta a operações, 19 dias antes do prazo</a:t>
            </a:r>
            <a:endParaRPr lang="pt-BR" sz="1950" dirty="0"/>
          </a:p>
        </p:txBody>
      </p:sp>
      <p:sp>
        <p:nvSpPr>
          <p:cNvPr id="35" name="Text 35"/>
          <p:cNvSpPr/>
          <p:nvPr/>
        </p:nvSpPr>
        <p:spPr>
          <a:xfrm>
            <a:off x="10782300" y="7067550"/>
            <a:ext cx="3143250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dirty="0">
                <a:solidFill>
                  <a:srgbClr val="8E7C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24/03 · D-3</a:t>
            </a:r>
            <a:endParaRPr lang="pt-BR" sz="1800" dirty="0"/>
          </a:p>
        </p:txBody>
      </p:sp>
      <p:sp>
        <p:nvSpPr>
          <p:cNvPr id="36" name="Text 36"/>
          <p:cNvSpPr/>
          <p:nvPr/>
        </p:nvSpPr>
        <p:spPr>
          <a:xfrm>
            <a:off x="10782300" y="7419975"/>
            <a:ext cx="3048000" cy="1524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4138"/>
              </a:lnSpc>
              <a:buNone/>
            </a:pPr>
            <a:r>
              <a:rPr lang="pt-BR" sz="195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 a projeção indicar atraso, recomendar comunicação ao cliente com estimativa validada.</a:t>
            </a:r>
            <a:endParaRPr lang="pt-BR" sz="1950" dirty="0"/>
          </a:p>
        </p:txBody>
      </p:sp>
      <p:sp>
        <p:nvSpPr>
          <p:cNvPr id="37" name="Text 37"/>
          <p:cNvSpPr/>
          <p:nvPr/>
        </p:nvSpPr>
        <p:spPr>
          <a:xfrm>
            <a:off x="14097000" y="7067550"/>
            <a:ext cx="323850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pt-BR" sz="1800" kern="0" spc="108" dirty="0">
                <a:solidFill>
                  <a:srgbClr val="8E7C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APÓS A AVALIAÇÃO</a:t>
            </a:r>
            <a:endParaRPr lang="pt-BR" sz="1800" dirty="0"/>
          </a:p>
          <a:p>
            <a:pPr marL="0" indent="0" algn="r">
              <a:buNone/>
            </a:pPr>
            <a:r>
              <a:rPr lang="pt-BR" sz="1800" kern="0" spc="108" dirty="0">
                <a:solidFill>
                  <a:srgbClr val="8E7C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SENTIMENTDESK</a:t>
            </a:r>
            <a:endParaRPr lang="pt-BR" sz="1800" dirty="0"/>
          </a:p>
        </p:txBody>
      </p:sp>
      <p:sp>
        <p:nvSpPr>
          <p:cNvPr id="38" name="Text 38"/>
          <p:cNvSpPr/>
          <p:nvPr/>
        </p:nvSpPr>
        <p:spPr>
          <a:xfrm>
            <a:off x="14097000" y="7762875"/>
            <a:ext cx="3238500" cy="1190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94138"/>
              </a:lnSpc>
              <a:buNone/>
            </a:pPr>
            <a:r>
              <a:rPr lang="pt-BR" sz="195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Sem texto: revisão humana e ticket proposto. WinBack pausa ofertas</a:t>
            </a:r>
            <a:endParaRPr lang="pt-BR" sz="1950" dirty="0"/>
          </a:p>
        </p:txBody>
      </p:sp>
      <p:sp>
        <p:nvSpPr>
          <p:cNvPr id="39" name="Shape 39"/>
          <p:cNvSpPr/>
          <p:nvPr/>
        </p:nvSpPr>
        <p:spPr>
          <a:xfrm>
            <a:off x="952500" y="9226550"/>
            <a:ext cx="16383000" cy="9525"/>
          </a:xfrm>
          <a:prstGeom prst="rect">
            <a:avLst/>
          </a:prstGeom>
          <a:solidFill>
            <a:srgbClr val="2A3050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40" name="Text 40"/>
          <p:cNvSpPr/>
          <p:nvPr/>
        </p:nvSpPr>
        <p:spPr>
          <a:xfrm>
            <a:off x="952500" y="9410700"/>
            <a:ext cx="1629470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216" dirty="0">
                <a:solidFill>
                  <a:srgbClr val="8E7C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SIMULAÇÃO</a:t>
            </a:r>
            <a:endParaRPr lang="pt-BR" sz="1800" dirty="0"/>
          </a:p>
        </p:txBody>
      </p:sp>
      <p:sp>
        <p:nvSpPr>
          <p:cNvPr id="41" name="Text 41"/>
          <p:cNvSpPr/>
          <p:nvPr/>
        </p:nvSpPr>
        <p:spPr>
          <a:xfrm>
            <a:off x="2662436" y="9404350"/>
            <a:ext cx="11131799" cy="349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dirty="0">
                <a:solidFill>
                  <a:srgbClr val="A3A8B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Intervenções hipotéticas sobre um caso histórico. Não afirmamos que o atraso teria sido evitado.</a:t>
            </a:r>
            <a:endParaRPr lang="pt-BR" sz="1800" dirty="0"/>
          </a:p>
        </p:txBody>
      </p:sp>
      <p:sp>
        <p:nvSpPr>
          <p:cNvPr id="42" name="Text 42"/>
          <p:cNvSpPr/>
          <p:nvPr/>
        </p:nvSpPr>
        <p:spPr>
          <a:xfrm>
            <a:off x="15049500" y="4514850"/>
            <a:ext cx="2286000" cy="3333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08" dirty="0">
                <a:solidFill>
                  <a:srgbClr val="A3A8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AVALIAÇÃO REGISTRADA</a:t>
            </a:r>
            <a:endParaRPr lang="pt-BR" sz="1800" dirty="0"/>
          </a:p>
        </p:txBody>
      </p:sp>
      <p:sp>
        <p:nvSpPr>
          <p:cNvPr id="43" name="Text 43"/>
          <p:cNvSpPr/>
          <p:nvPr/>
        </p:nvSpPr>
        <p:spPr>
          <a:xfrm>
            <a:off x="15049500" y="4867275"/>
            <a:ext cx="2286000" cy="733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10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Avaliação nota 1</a:t>
            </a:r>
            <a:endParaRPr lang="pt-BR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 name="Slide 9">
    <p:bg>
      <p:bgPr>
        <a:solidFill>
          <a:srgbClr val="0A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952500" y="576263"/>
            <a:ext cx="5129828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OLIST · FROM INSIGHT TO IMPACT</a:t>
            </a:r>
            <a:endParaRPr lang="pt-BR" sz="1800" dirty="0"/>
          </a:p>
        </p:txBody>
      </p:sp>
      <p:sp>
        <p:nvSpPr>
          <p:cNvPr id="3" name="Text 3"/>
          <p:cNvSpPr/>
          <p:nvPr/>
        </p:nvSpPr>
        <p:spPr>
          <a:xfrm>
            <a:off x="11684298" y="533400"/>
            <a:ext cx="1703884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DESCOBRIR</a:t>
            </a:r>
            <a:endParaRPr lang="pt-BR" sz="1800" dirty="0"/>
          </a:p>
        </p:txBody>
      </p:sp>
      <p:sp>
        <p:nvSpPr>
          <p:cNvPr id="4" name="Shape 4"/>
          <p:cNvSpPr/>
          <p:nvPr/>
        </p:nvSpPr>
        <p:spPr>
          <a:xfrm>
            <a:off x="13464382" y="890587"/>
            <a:ext cx="1243608" cy="25400"/>
          </a:xfrm>
          <a:prstGeom prst="rect">
            <a:avLst/>
          </a:prstGeom>
          <a:solidFill>
            <a:srgbClr val="8E7CFF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5" name="Text 5"/>
          <p:cNvSpPr/>
          <p:nvPr/>
        </p:nvSpPr>
        <p:spPr>
          <a:xfrm>
            <a:off x="13464382" y="534988"/>
            <a:ext cx="1548408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F3F4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DESENHAR</a:t>
            </a:r>
            <a:endParaRPr lang="pt-BR" sz="1800" dirty="0"/>
          </a:p>
        </p:txBody>
      </p:sp>
      <p:sp>
        <p:nvSpPr>
          <p:cNvPr id="6" name="Text 6"/>
          <p:cNvSpPr/>
          <p:nvPr/>
        </p:nvSpPr>
        <p:spPr>
          <a:xfrm>
            <a:off x="15088989" y="533400"/>
            <a:ext cx="1393031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ESCALAR</a:t>
            </a:r>
            <a:endParaRPr lang="pt-BR" sz="1800" dirty="0"/>
          </a:p>
        </p:txBody>
      </p:sp>
      <p:sp>
        <p:nvSpPr>
          <p:cNvPr id="7" name="Text 7"/>
          <p:cNvSpPr/>
          <p:nvPr/>
        </p:nvSpPr>
        <p:spPr>
          <a:xfrm>
            <a:off x="16558221" y="533400"/>
            <a:ext cx="853480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09/12</a:t>
            </a:r>
            <a:endParaRPr lang="pt-BR" sz="1800" dirty="0"/>
          </a:p>
        </p:txBody>
      </p:sp>
      <p:sp>
        <p:nvSpPr>
          <p:cNvPr id="8" name="Text 8"/>
          <p:cNvSpPr/>
          <p:nvPr/>
        </p:nvSpPr>
        <p:spPr>
          <a:xfrm>
            <a:off x="952500" y="1428750"/>
            <a:ext cx="16383000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216" dirty="0">
                <a:solidFill>
                  <a:srgbClr val="8E7C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INTELIGÊNCIA CONTEXTUAL · SENTIMENTDESK</a:t>
            </a:r>
            <a:endParaRPr lang="pt-BR" sz="1800" dirty="0"/>
          </a:p>
        </p:txBody>
      </p:sp>
      <p:sp>
        <p:nvSpPr>
          <p:cNvPr id="9" name="Text 9"/>
          <p:cNvSpPr/>
          <p:nvPr/>
        </p:nvSpPr>
        <p:spPr>
          <a:xfrm>
            <a:off x="952500" y="1898650"/>
            <a:ext cx="15716250" cy="678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1951"/>
              </a:lnSpc>
              <a:buNone/>
            </a:pPr>
            <a:r>
              <a:rPr lang="pt-BR" sz="4500" b="1" kern="0" spc="-9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Entender o contexto muda a decisão.</a:t>
            </a:r>
            <a:endParaRPr lang="pt-BR" sz="4500" dirty="0"/>
          </a:p>
        </p:txBody>
      </p:sp>
      <p:sp>
        <p:nvSpPr>
          <p:cNvPr id="10" name="Text 10"/>
          <p:cNvSpPr/>
          <p:nvPr/>
        </p:nvSpPr>
        <p:spPr>
          <a:xfrm>
            <a:off x="952500" y="2957810"/>
            <a:ext cx="16383000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AVALIAÇÃO NOTA 1 · CASO REAL DO DATASET</a:t>
            </a:r>
            <a:endParaRPr lang="pt-BR" sz="1800" dirty="0"/>
          </a:p>
        </p:txBody>
      </p:sp>
      <p:sp>
        <p:nvSpPr>
          <p:cNvPr id="11" name="Text 11"/>
          <p:cNvSpPr/>
          <p:nvPr/>
        </p:nvSpPr>
        <p:spPr>
          <a:xfrm>
            <a:off x="952500" y="3351510"/>
            <a:ext cx="15697200" cy="15277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3786"/>
              </a:lnSpc>
              <a:buNone/>
            </a:pPr>
            <a:r>
              <a:rPr lang="pt-BR" sz="5100" b="1" kern="0" spc="-102" dirty="0">
                <a:solidFill>
                  <a:srgbClr val="F0B54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“Só chegou a mochila, estou aguardando a lancheira.”</a:t>
            </a:r>
            <a:endParaRPr lang="pt-BR" sz="5100" dirty="0"/>
          </a:p>
        </p:txBody>
      </p:sp>
      <p:sp>
        <p:nvSpPr>
          <p:cNvPr id="12" name="Shape 12"/>
          <p:cNvSpPr/>
          <p:nvPr/>
        </p:nvSpPr>
        <p:spPr>
          <a:xfrm>
            <a:off x="952500" y="5295900"/>
            <a:ext cx="5905500" cy="19050"/>
          </a:xfrm>
          <a:prstGeom prst="rect">
            <a:avLst/>
          </a:prstGeom>
          <a:solidFill>
            <a:srgbClr val="2A3050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13" name="Text 13"/>
          <p:cNvSpPr/>
          <p:nvPr/>
        </p:nvSpPr>
        <p:spPr>
          <a:xfrm>
            <a:off x="952500" y="5524500"/>
            <a:ext cx="590550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80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EXEMPLO ILUSTRATIVO</a:t>
            </a:r>
            <a:endParaRPr lang="pt-BR" sz="1800" dirty="0"/>
          </a:p>
          <a:p>
            <a:pPr marL="0" indent="0" algn="l">
              <a:buNone/>
            </a:pPr>
            <a:r>
              <a:rPr lang="pt-BR" sz="1800" kern="0" spc="180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CLASSIFICAÇÃO SUPERFICIAL</a:t>
            </a:r>
            <a:endParaRPr lang="pt-BR" sz="1800" dirty="0"/>
          </a:p>
        </p:txBody>
      </p:sp>
      <p:sp>
        <p:nvSpPr>
          <p:cNvPr id="14" name="Text 14"/>
          <p:cNvSpPr/>
          <p:nvPr/>
        </p:nvSpPr>
        <p:spPr>
          <a:xfrm>
            <a:off x="952500" y="6400800"/>
            <a:ext cx="590550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3900" b="1" strike="sngStrike" dirty="0">
                <a:solidFill>
                  <a:srgbClr val="7C82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Pedido não recebido</a:t>
            </a:r>
            <a:endParaRPr lang="pt-BR" sz="3900" dirty="0"/>
          </a:p>
        </p:txBody>
      </p:sp>
      <p:sp>
        <p:nvSpPr>
          <p:cNvPr id="15" name="Text 15"/>
          <p:cNvSpPr/>
          <p:nvPr/>
        </p:nvSpPr>
        <p:spPr>
          <a:xfrm>
            <a:off x="952500" y="7239000"/>
            <a:ext cx="533400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100" dirty="0">
                <a:solidFill>
                  <a:srgbClr val="A3A8B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Lê apenas as palavras do texto e trataria o pedido inteiro como não recebido.</a:t>
            </a:r>
            <a:endParaRPr lang="pt-BR" sz="2100" dirty="0"/>
          </a:p>
        </p:txBody>
      </p:sp>
      <p:sp>
        <p:nvSpPr>
          <p:cNvPr id="16" name="Shape 16"/>
          <p:cNvSpPr/>
          <p:nvPr/>
        </p:nvSpPr>
        <p:spPr>
          <a:xfrm>
            <a:off x="7810500" y="5295900"/>
            <a:ext cx="9525000" cy="19050"/>
          </a:xfrm>
          <a:prstGeom prst="rect">
            <a:avLst/>
          </a:prstGeom>
          <a:solidFill>
            <a:srgbClr val="8E7CFF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17" name="Text 17"/>
          <p:cNvSpPr/>
          <p:nvPr/>
        </p:nvSpPr>
        <p:spPr>
          <a:xfrm>
            <a:off x="7810500" y="5524500"/>
            <a:ext cx="952500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80" dirty="0">
                <a:solidFill>
                  <a:srgbClr val="8E7C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SAÍDA CONTEXTUAL ESPERADA</a:t>
            </a:r>
            <a:endParaRPr lang="pt-BR" sz="1800" dirty="0"/>
          </a:p>
          <a:p>
            <a:pPr marL="0" indent="0" algn="l">
              <a:buNone/>
            </a:pPr>
            <a:r>
              <a:rPr lang="pt-BR" sz="1800" kern="0" spc="180" dirty="0">
                <a:solidFill>
                  <a:srgbClr val="8E7C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SENTIMENTDESK</a:t>
            </a:r>
            <a:endParaRPr lang="pt-BR" sz="1800" dirty="0"/>
          </a:p>
        </p:txBody>
      </p:sp>
      <p:sp>
        <p:nvSpPr>
          <p:cNvPr id="18" name="Shape 18"/>
          <p:cNvSpPr/>
          <p:nvPr/>
        </p:nvSpPr>
        <p:spPr>
          <a:xfrm>
            <a:off x="7886700" y="6572250"/>
            <a:ext cx="19050" cy="1828800"/>
          </a:xfrm>
          <a:prstGeom prst="rect">
            <a:avLst/>
          </a:prstGeom>
          <a:solidFill>
            <a:srgbClr val="2A3050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19" name="Shape 19"/>
          <p:cNvSpPr/>
          <p:nvPr/>
        </p:nvSpPr>
        <p:spPr>
          <a:xfrm>
            <a:off x="7820025" y="6496050"/>
            <a:ext cx="152400" cy="152400"/>
          </a:xfrm>
          <a:prstGeom prst="rect">
            <a:avLst/>
          </a:prstGeom>
          <a:solidFill>
            <a:srgbClr val="F0B547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20" name="Text 20"/>
          <p:cNvSpPr/>
          <p:nvPr/>
        </p:nvSpPr>
        <p:spPr>
          <a:xfrm>
            <a:off x="8191500" y="6410325"/>
            <a:ext cx="2476500" cy="3333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72" dirty="0">
                <a:solidFill>
                  <a:srgbClr val="F0B54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CONTEXTO</a:t>
            </a:r>
            <a:endParaRPr lang="pt-BR" sz="1800" dirty="0"/>
          </a:p>
        </p:txBody>
      </p:sp>
      <p:sp>
        <p:nvSpPr>
          <p:cNvPr id="21" name="Text 21"/>
          <p:cNvSpPr/>
          <p:nvPr/>
        </p:nvSpPr>
        <p:spPr>
          <a:xfrm>
            <a:off x="10953750" y="6391275"/>
            <a:ext cx="4191000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100" b="1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Pedido com dois itens</a:t>
            </a:r>
            <a:endParaRPr lang="pt-BR" sz="2100" dirty="0"/>
          </a:p>
        </p:txBody>
      </p:sp>
      <p:sp>
        <p:nvSpPr>
          <p:cNvPr id="22" name="Text 22"/>
          <p:cNvSpPr/>
          <p:nvPr/>
        </p:nvSpPr>
        <p:spPr>
          <a:xfrm>
            <a:off x="15240000" y="6410325"/>
            <a:ext cx="214312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dirty="0">
                <a:solidFill>
                  <a:srgbClr val="A3A8B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mochila + lancheira</a:t>
            </a:r>
            <a:endParaRPr lang="pt-BR" sz="1800" dirty="0"/>
          </a:p>
        </p:txBody>
      </p:sp>
      <p:sp>
        <p:nvSpPr>
          <p:cNvPr id="23" name="Shape 23"/>
          <p:cNvSpPr/>
          <p:nvPr/>
        </p:nvSpPr>
        <p:spPr>
          <a:xfrm>
            <a:off x="7820025" y="7105650"/>
            <a:ext cx="152400" cy="152400"/>
          </a:xfrm>
          <a:prstGeom prst="rect">
            <a:avLst/>
          </a:prstGeom>
          <a:solidFill>
            <a:srgbClr val="F0B547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24" name="Text 24"/>
          <p:cNvSpPr/>
          <p:nvPr/>
        </p:nvSpPr>
        <p:spPr>
          <a:xfrm>
            <a:off x="8191500" y="7019925"/>
            <a:ext cx="2476500" cy="3333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72" dirty="0">
                <a:solidFill>
                  <a:srgbClr val="F0B54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CONTEXTO</a:t>
            </a:r>
            <a:endParaRPr lang="pt-BR" sz="1800" dirty="0"/>
          </a:p>
        </p:txBody>
      </p:sp>
      <p:sp>
        <p:nvSpPr>
          <p:cNvPr id="25" name="Text 25"/>
          <p:cNvSpPr/>
          <p:nvPr/>
        </p:nvSpPr>
        <p:spPr>
          <a:xfrm>
            <a:off x="10953750" y="7000875"/>
            <a:ext cx="4191000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100" b="1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Status de entrega registrado</a:t>
            </a:r>
            <a:endParaRPr lang="pt-BR" sz="2100" dirty="0"/>
          </a:p>
        </p:txBody>
      </p:sp>
      <p:sp>
        <p:nvSpPr>
          <p:cNvPr id="26" name="Text 26"/>
          <p:cNvSpPr/>
          <p:nvPr/>
        </p:nvSpPr>
        <p:spPr>
          <a:xfrm>
            <a:off x="15240000" y="7019925"/>
            <a:ext cx="214312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dirty="0">
                <a:solidFill>
                  <a:srgbClr val="A3A8B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entregue no prazo</a:t>
            </a:r>
            <a:endParaRPr lang="pt-BR" sz="1800" dirty="0"/>
          </a:p>
        </p:txBody>
      </p:sp>
      <p:sp>
        <p:nvSpPr>
          <p:cNvPr id="27" name="Shape 27"/>
          <p:cNvSpPr/>
          <p:nvPr/>
        </p:nvSpPr>
        <p:spPr>
          <a:xfrm rot="2700000">
            <a:off x="7820025" y="7715250"/>
            <a:ext cx="152400" cy="152400"/>
          </a:xfrm>
          <a:prstGeom prst="rect">
            <a:avLst/>
          </a:prstGeom>
          <a:solidFill>
            <a:srgbClr val="8E7CFF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28" name="Text 28"/>
          <p:cNvSpPr/>
          <p:nvPr/>
        </p:nvSpPr>
        <p:spPr>
          <a:xfrm>
            <a:off x="8191500" y="7629525"/>
            <a:ext cx="2476500" cy="3333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72" dirty="0">
                <a:solidFill>
                  <a:srgbClr val="8E7C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INTERPRETAÇÃO</a:t>
            </a:r>
            <a:endParaRPr lang="pt-BR" sz="1800" dirty="0"/>
          </a:p>
        </p:txBody>
      </p:sp>
      <p:sp>
        <p:nvSpPr>
          <p:cNvPr id="29" name="Text 29"/>
          <p:cNvSpPr/>
          <p:nvPr/>
        </p:nvSpPr>
        <p:spPr>
          <a:xfrm>
            <a:off x="10953750" y="7610475"/>
            <a:ext cx="4191000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100" b="1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Item faltante identificado</a:t>
            </a:r>
            <a:endParaRPr lang="pt-BR" sz="2100" dirty="0"/>
          </a:p>
        </p:txBody>
      </p:sp>
      <p:sp>
        <p:nvSpPr>
          <p:cNvPr id="30" name="Text 30"/>
          <p:cNvSpPr/>
          <p:nvPr/>
        </p:nvSpPr>
        <p:spPr>
          <a:xfrm>
            <a:off x="15240000" y="7629525"/>
            <a:ext cx="214312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dirty="0">
                <a:solidFill>
                  <a:srgbClr val="A3A8B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severidade alta</a:t>
            </a:r>
            <a:endParaRPr lang="pt-BR" sz="1800" dirty="0"/>
          </a:p>
        </p:txBody>
      </p:sp>
      <p:sp>
        <p:nvSpPr>
          <p:cNvPr id="31" name="Shape 31"/>
          <p:cNvSpPr/>
          <p:nvPr/>
        </p:nvSpPr>
        <p:spPr>
          <a:xfrm>
            <a:off x="7810500" y="8315325"/>
            <a:ext cx="171450" cy="171450"/>
          </a:xfrm>
          <a:prstGeom prst="ellipse">
            <a:avLst/>
          </a:prstGeom>
          <a:solidFill>
            <a:srgbClr val="3CCFB4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32" name="Text 32"/>
          <p:cNvSpPr/>
          <p:nvPr/>
        </p:nvSpPr>
        <p:spPr>
          <a:xfrm>
            <a:off x="8191500" y="8239125"/>
            <a:ext cx="2476500" cy="3333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72" dirty="0">
                <a:solidFill>
                  <a:srgbClr val="3CCFB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PROPOSTA</a:t>
            </a:r>
            <a:endParaRPr lang="pt-BR" sz="1800" dirty="0"/>
          </a:p>
        </p:txBody>
      </p:sp>
      <p:sp>
        <p:nvSpPr>
          <p:cNvPr id="33" name="Text 33"/>
          <p:cNvSpPr/>
          <p:nvPr/>
        </p:nvSpPr>
        <p:spPr>
          <a:xfrm>
            <a:off x="10953750" y="8220075"/>
            <a:ext cx="4191000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100" b="1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Encaminhamento proposto</a:t>
            </a:r>
            <a:endParaRPr lang="pt-BR" sz="2100" dirty="0"/>
          </a:p>
        </p:txBody>
      </p:sp>
      <p:sp>
        <p:nvSpPr>
          <p:cNvPr id="34" name="Text 34"/>
          <p:cNvSpPr/>
          <p:nvPr/>
        </p:nvSpPr>
        <p:spPr>
          <a:xfrm>
            <a:off x="15240000" y="8239125"/>
            <a:ext cx="214312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dirty="0">
                <a:solidFill>
                  <a:srgbClr val="A3A8B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ticket a confirmar</a:t>
            </a:r>
            <a:endParaRPr lang="pt-BR" sz="1800" dirty="0"/>
          </a:p>
        </p:txBody>
      </p:sp>
      <p:sp>
        <p:nvSpPr>
          <p:cNvPr id="35" name="Shape 35"/>
          <p:cNvSpPr/>
          <p:nvPr/>
        </p:nvSpPr>
        <p:spPr>
          <a:xfrm>
            <a:off x="952500" y="9115425"/>
            <a:ext cx="16383000" cy="9525"/>
          </a:xfrm>
          <a:prstGeom prst="rect">
            <a:avLst/>
          </a:prstGeom>
          <a:solidFill>
            <a:srgbClr val="2A3050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36" name="Text 36"/>
          <p:cNvSpPr/>
          <p:nvPr/>
        </p:nvSpPr>
        <p:spPr>
          <a:xfrm>
            <a:off x="952500" y="9315450"/>
            <a:ext cx="2095500" cy="3333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8E7C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ILUSTRATIVO</a:t>
            </a:r>
            <a:endParaRPr lang="pt-BR" sz="1800" dirty="0"/>
          </a:p>
        </p:txBody>
      </p:sp>
      <p:sp>
        <p:nvSpPr>
          <p:cNvPr id="37" name="Text 37"/>
          <p:cNvSpPr/>
          <p:nvPr/>
        </p:nvSpPr>
        <p:spPr>
          <a:xfrm>
            <a:off x="2857500" y="9305925"/>
            <a:ext cx="1447800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dirty="0">
                <a:solidFill>
                  <a:srgbClr val="A3A8B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Texto real do dataset. As duas leituras são ilustrativas: a saída contextual é o comportamento esperado do prompt, não resultado de experimento.</a:t>
            </a:r>
            <a:endParaRPr lang="pt-BR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 name="Slide 10">
    <p:bg>
      <p:bgPr>
        <a:solidFill>
          <a:srgbClr val="0A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952500" y="576263"/>
            <a:ext cx="5129828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OLIST · FROM INSIGHT TO IMPACT</a:t>
            </a:r>
            <a:endParaRPr lang="pt-BR" sz="1800" dirty="0"/>
          </a:p>
        </p:txBody>
      </p:sp>
      <p:sp>
        <p:nvSpPr>
          <p:cNvPr id="3" name="Text 3"/>
          <p:cNvSpPr/>
          <p:nvPr/>
        </p:nvSpPr>
        <p:spPr>
          <a:xfrm>
            <a:off x="11684298" y="533400"/>
            <a:ext cx="1703884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DESCOBRIR</a:t>
            </a:r>
            <a:endParaRPr lang="pt-BR" sz="1800" dirty="0"/>
          </a:p>
        </p:txBody>
      </p:sp>
      <p:sp>
        <p:nvSpPr>
          <p:cNvPr id="4" name="Text 4"/>
          <p:cNvSpPr/>
          <p:nvPr/>
        </p:nvSpPr>
        <p:spPr>
          <a:xfrm>
            <a:off x="13464382" y="533400"/>
            <a:ext cx="1548408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DESENHAR</a:t>
            </a:r>
            <a:endParaRPr lang="pt-BR" sz="1800" dirty="0"/>
          </a:p>
        </p:txBody>
      </p:sp>
      <p:sp>
        <p:nvSpPr>
          <p:cNvPr id="5" name="Shape 5"/>
          <p:cNvSpPr/>
          <p:nvPr/>
        </p:nvSpPr>
        <p:spPr>
          <a:xfrm>
            <a:off x="15088989" y="890587"/>
            <a:ext cx="1088231" cy="25400"/>
          </a:xfrm>
          <a:prstGeom prst="rect">
            <a:avLst/>
          </a:prstGeom>
          <a:solidFill>
            <a:srgbClr val="3CCFB4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6" name="Text 6"/>
          <p:cNvSpPr/>
          <p:nvPr/>
        </p:nvSpPr>
        <p:spPr>
          <a:xfrm>
            <a:off x="15088989" y="534988"/>
            <a:ext cx="1393031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F3F4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ESCALAR</a:t>
            </a:r>
            <a:endParaRPr lang="pt-BR" sz="1800" dirty="0"/>
          </a:p>
        </p:txBody>
      </p:sp>
      <p:sp>
        <p:nvSpPr>
          <p:cNvPr id="7" name="Text 7"/>
          <p:cNvSpPr/>
          <p:nvPr/>
        </p:nvSpPr>
        <p:spPr>
          <a:xfrm>
            <a:off x="16558221" y="533400"/>
            <a:ext cx="853480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10/12</a:t>
            </a:r>
            <a:endParaRPr lang="pt-BR" sz="1800" dirty="0"/>
          </a:p>
        </p:txBody>
      </p:sp>
      <p:sp>
        <p:nvSpPr>
          <p:cNvPr id="8" name="Text 8"/>
          <p:cNvSpPr/>
          <p:nvPr/>
        </p:nvSpPr>
        <p:spPr>
          <a:xfrm>
            <a:off x="952500" y="1428750"/>
            <a:ext cx="16383000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216" dirty="0">
                <a:solidFill>
                  <a:srgbClr val="3CCFB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BUSINESS CASE · PROJEÇÃO, CENÁRIO BASE, ANUAL</a:t>
            </a:r>
            <a:endParaRPr lang="pt-BR" sz="1800" dirty="0"/>
          </a:p>
        </p:txBody>
      </p:sp>
      <p:sp>
        <p:nvSpPr>
          <p:cNvPr id="9" name="Text 9"/>
          <p:cNvSpPr/>
          <p:nvPr/>
        </p:nvSpPr>
        <p:spPr>
          <a:xfrm>
            <a:off x="952500" y="1898650"/>
            <a:ext cx="14716125" cy="13182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1951"/>
              </a:lnSpc>
              <a:buNone/>
            </a:pPr>
            <a:r>
              <a:rPr lang="pt-BR" sz="4500" b="1" kern="0" spc="-9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 potencial é relevante. O impacto precisa ser comprovado.</a:t>
            </a:r>
            <a:endParaRPr lang="pt-BR" sz="4500" dirty="0"/>
          </a:p>
        </p:txBody>
      </p:sp>
      <p:sp>
        <p:nvSpPr>
          <p:cNvPr id="10" name="Shape 10"/>
          <p:cNvSpPr/>
          <p:nvPr/>
        </p:nvSpPr>
        <p:spPr>
          <a:xfrm>
            <a:off x="952500" y="3674071"/>
            <a:ext cx="10566400" cy="25400"/>
          </a:xfrm>
          <a:prstGeom prst="rect">
            <a:avLst/>
          </a:prstGeom>
          <a:solidFill>
            <a:srgbClr val="3CCFB4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11" name="Text 11"/>
          <p:cNvSpPr/>
          <p:nvPr/>
        </p:nvSpPr>
        <p:spPr>
          <a:xfrm>
            <a:off x="952500" y="3909020"/>
            <a:ext cx="11623040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216" dirty="0">
                <a:solidFill>
                  <a:srgbClr val="3CCFB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PILOTO · VALOR OPERACIONAL</a:t>
            </a:r>
            <a:endParaRPr lang="pt-BR" sz="1800" dirty="0"/>
          </a:p>
        </p:txBody>
      </p:sp>
      <p:sp>
        <p:nvSpPr>
          <p:cNvPr id="12" name="Text 12"/>
          <p:cNvSpPr/>
          <p:nvPr/>
        </p:nvSpPr>
        <p:spPr>
          <a:xfrm>
            <a:off x="952500" y="4493221"/>
            <a:ext cx="5560060" cy="450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400" b="1" dirty="0">
                <a:solidFill>
                  <a:srgbClr val="8E7C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LogiPredict</a:t>
            </a:r>
            <a:endParaRPr lang="pt-BR" sz="2400" dirty="0"/>
          </a:p>
        </p:txBody>
      </p:sp>
      <p:sp>
        <p:nvSpPr>
          <p:cNvPr id="13" name="Text 13"/>
          <p:cNvSpPr/>
          <p:nvPr/>
        </p:nvSpPr>
        <p:spPr>
          <a:xfrm>
            <a:off x="952500" y="5115520"/>
            <a:ext cx="5560060" cy="11811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73171"/>
              </a:lnSpc>
              <a:buNone/>
            </a:pPr>
            <a:r>
              <a:rPr lang="pt-BR" sz="9000" b="1" kern="0" spc="-36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672</a:t>
            </a:r>
            <a:endParaRPr lang="pt-BR" sz="9000" dirty="0"/>
          </a:p>
        </p:txBody>
      </p:sp>
      <p:sp>
        <p:nvSpPr>
          <p:cNvPr id="14" name="Text 14"/>
          <p:cNvSpPr/>
          <p:nvPr/>
        </p:nvSpPr>
        <p:spPr>
          <a:xfrm>
            <a:off x="952500" y="6296620"/>
            <a:ext cx="5560060" cy="406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10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atrasos potencialmente evitados</a:t>
            </a:r>
            <a:endParaRPr lang="pt-BR" sz="2100" dirty="0"/>
          </a:p>
        </p:txBody>
      </p:sp>
      <p:sp>
        <p:nvSpPr>
          <p:cNvPr id="15" name="Text 15"/>
          <p:cNvSpPr/>
          <p:nvPr/>
        </p:nvSpPr>
        <p:spPr>
          <a:xfrm>
            <a:off x="952500" y="6703021"/>
            <a:ext cx="5560060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faixa: 336 a 1.008</a:t>
            </a:r>
            <a:endParaRPr lang="pt-BR" sz="1800" dirty="0"/>
          </a:p>
        </p:txBody>
      </p:sp>
      <p:sp>
        <p:nvSpPr>
          <p:cNvPr id="16" name="Text 16"/>
          <p:cNvSpPr/>
          <p:nvPr/>
        </p:nvSpPr>
        <p:spPr>
          <a:xfrm>
            <a:off x="952500" y="7211020"/>
            <a:ext cx="5560060" cy="7239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73469"/>
              </a:lnSpc>
              <a:buNone/>
            </a:pPr>
            <a:r>
              <a:rPr lang="pt-BR" sz="5400" b="1" kern="0" spc="-162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302</a:t>
            </a:r>
            <a:endParaRPr lang="pt-BR" sz="5400" dirty="0"/>
          </a:p>
        </p:txBody>
      </p:sp>
      <p:sp>
        <p:nvSpPr>
          <p:cNvPr id="17" name="Text 17"/>
          <p:cNvSpPr/>
          <p:nvPr/>
        </p:nvSpPr>
        <p:spPr>
          <a:xfrm>
            <a:off x="952500" y="7934920"/>
            <a:ext cx="5206238" cy="774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10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avaliações negativas potencialmente evitadas</a:t>
            </a:r>
            <a:endParaRPr lang="pt-BR" sz="2100" dirty="0"/>
          </a:p>
        </p:txBody>
      </p:sp>
      <p:sp>
        <p:nvSpPr>
          <p:cNvPr id="18" name="Shape 18"/>
          <p:cNvSpPr/>
          <p:nvPr/>
        </p:nvSpPr>
        <p:spPr>
          <a:xfrm>
            <a:off x="6464300" y="4493221"/>
            <a:ext cx="9525" cy="4191000"/>
          </a:xfrm>
          <a:prstGeom prst="rect">
            <a:avLst/>
          </a:prstGeom>
          <a:solidFill>
            <a:srgbClr val="2A3050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19" name="Text 19"/>
          <p:cNvSpPr/>
          <p:nvPr/>
        </p:nvSpPr>
        <p:spPr>
          <a:xfrm>
            <a:off x="6927850" y="4493221"/>
            <a:ext cx="5050155" cy="450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400" b="1" dirty="0">
                <a:solidFill>
                  <a:srgbClr val="8E7C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SentimentDesk</a:t>
            </a:r>
            <a:endParaRPr lang="pt-BR" sz="2400" dirty="0"/>
          </a:p>
        </p:txBody>
      </p:sp>
      <p:sp>
        <p:nvSpPr>
          <p:cNvPr id="20" name="Text 20"/>
          <p:cNvSpPr/>
          <p:nvPr/>
        </p:nvSpPr>
        <p:spPr>
          <a:xfrm>
            <a:off x="6927850" y="5115520"/>
            <a:ext cx="3021340" cy="11811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73171"/>
              </a:lnSpc>
              <a:buNone/>
            </a:pPr>
            <a:r>
              <a:rPr lang="pt-BR" sz="9000" b="1" kern="0" spc="-36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1.230</a:t>
            </a:r>
            <a:endParaRPr lang="pt-BR" sz="9000" dirty="0"/>
          </a:p>
        </p:txBody>
      </p:sp>
      <p:sp>
        <p:nvSpPr>
          <p:cNvPr id="21" name="Text 21"/>
          <p:cNvSpPr/>
          <p:nvPr/>
        </p:nvSpPr>
        <p:spPr>
          <a:xfrm>
            <a:off x="9788823" y="5598121"/>
            <a:ext cx="386060" cy="711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3900" b="1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</a:t>
            </a:r>
            <a:endParaRPr lang="pt-BR" sz="3900" dirty="0"/>
          </a:p>
        </p:txBody>
      </p:sp>
      <p:sp>
        <p:nvSpPr>
          <p:cNvPr id="22" name="Text 22"/>
          <p:cNvSpPr/>
          <p:nvPr/>
        </p:nvSpPr>
        <p:spPr>
          <a:xfrm>
            <a:off x="6927850" y="6309321"/>
            <a:ext cx="5050155" cy="406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10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 triagem potencialmente poupadas</a:t>
            </a:r>
            <a:endParaRPr lang="pt-BR" sz="2100" dirty="0"/>
          </a:p>
        </p:txBody>
      </p:sp>
      <p:sp>
        <p:nvSpPr>
          <p:cNvPr id="23" name="Text 23"/>
          <p:cNvSpPr/>
          <p:nvPr/>
        </p:nvSpPr>
        <p:spPr>
          <a:xfrm>
            <a:off x="6927850" y="6715720"/>
            <a:ext cx="5050155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faixa: 878 a 1.581 h</a:t>
            </a:r>
            <a:endParaRPr lang="pt-BR" sz="1800" dirty="0"/>
          </a:p>
        </p:txBody>
      </p:sp>
      <p:sp>
        <p:nvSpPr>
          <p:cNvPr id="24" name="Text 24"/>
          <p:cNvSpPr/>
          <p:nvPr/>
        </p:nvSpPr>
        <p:spPr>
          <a:xfrm>
            <a:off x="6927850" y="7223721"/>
            <a:ext cx="5050155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3469"/>
              </a:lnSpc>
              <a:buNone/>
            </a:pPr>
            <a:r>
              <a:rPr lang="pt-BR" sz="5400" b="1" kern="0" spc="-162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≈ R$ 55 mil</a:t>
            </a:r>
            <a:endParaRPr lang="pt-BR" sz="5400" dirty="0"/>
          </a:p>
        </p:txBody>
      </p:sp>
      <p:sp>
        <p:nvSpPr>
          <p:cNvPr id="25" name="Text 25"/>
          <p:cNvSpPr/>
          <p:nvPr/>
        </p:nvSpPr>
        <p:spPr>
          <a:xfrm>
            <a:off x="6927850" y="7947621"/>
            <a:ext cx="4728782" cy="774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10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em capacidade operacional, não em caixa</a:t>
            </a:r>
            <a:endParaRPr lang="pt-BR" sz="2100" dirty="0"/>
          </a:p>
        </p:txBody>
      </p:sp>
      <p:sp>
        <p:nvSpPr>
          <p:cNvPr id="26" name="Shape 26"/>
          <p:cNvSpPr/>
          <p:nvPr/>
        </p:nvSpPr>
        <p:spPr>
          <a:xfrm>
            <a:off x="12052300" y="3674071"/>
            <a:ext cx="5283200" cy="25400"/>
          </a:xfrm>
          <a:prstGeom prst="rect">
            <a:avLst/>
          </a:prstGeom>
          <a:solidFill>
            <a:srgbClr val="7C8299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27" name="Text 27"/>
          <p:cNvSpPr/>
          <p:nvPr/>
        </p:nvSpPr>
        <p:spPr>
          <a:xfrm>
            <a:off x="12052300" y="3909020"/>
            <a:ext cx="5811520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216" dirty="0">
                <a:solidFill>
                  <a:srgbClr val="A3A8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EXPANSÃO FUTURA · COMERCIAL</a:t>
            </a:r>
            <a:endParaRPr lang="pt-BR" sz="1800" dirty="0"/>
          </a:p>
        </p:txBody>
      </p:sp>
      <p:sp>
        <p:nvSpPr>
          <p:cNvPr id="28" name="Text 28"/>
          <p:cNvSpPr/>
          <p:nvPr/>
        </p:nvSpPr>
        <p:spPr>
          <a:xfrm>
            <a:off x="12052300" y="4493221"/>
            <a:ext cx="5811520" cy="450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400" b="1" dirty="0">
                <a:solidFill>
                  <a:srgbClr val="A3A8B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WinBack</a:t>
            </a:r>
            <a:endParaRPr lang="pt-BR" sz="2400" dirty="0"/>
          </a:p>
        </p:txBody>
      </p:sp>
      <p:sp>
        <p:nvSpPr>
          <p:cNvPr id="29" name="Text 29"/>
          <p:cNvSpPr/>
          <p:nvPr/>
        </p:nvSpPr>
        <p:spPr>
          <a:xfrm>
            <a:off x="12052300" y="5115520"/>
            <a:ext cx="5811520" cy="11811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73171"/>
              </a:lnSpc>
              <a:buNone/>
            </a:pPr>
            <a:r>
              <a:rPr lang="pt-BR" sz="9000" b="1" kern="0" spc="-360" dirty="0">
                <a:solidFill>
                  <a:srgbClr val="A3A8B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358</a:t>
            </a:r>
            <a:endParaRPr lang="pt-BR" sz="9000" dirty="0"/>
          </a:p>
        </p:txBody>
      </p:sp>
      <p:sp>
        <p:nvSpPr>
          <p:cNvPr id="30" name="Text 30"/>
          <p:cNvSpPr/>
          <p:nvPr/>
        </p:nvSpPr>
        <p:spPr>
          <a:xfrm>
            <a:off x="12052300" y="6296620"/>
            <a:ext cx="5811520" cy="406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100" dirty="0">
                <a:solidFill>
                  <a:srgbClr val="A3A8B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segundas compras adicionais</a:t>
            </a:r>
            <a:endParaRPr lang="pt-BR" sz="2100" dirty="0"/>
          </a:p>
        </p:txBody>
      </p:sp>
      <p:sp>
        <p:nvSpPr>
          <p:cNvPr id="31" name="Text 31"/>
          <p:cNvSpPr/>
          <p:nvPr/>
        </p:nvSpPr>
        <p:spPr>
          <a:xfrm>
            <a:off x="12052300" y="6703021"/>
            <a:ext cx="5811520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faixa: 179 a 717</a:t>
            </a:r>
            <a:endParaRPr lang="pt-BR" sz="1800" dirty="0"/>
          </a:p>
        </p:txBody>
      </p:sp>
      <p:sp>
        <p:nvSpPr>
          <p:cNvPr id="32" name="Text 32"/>
          <p:cNvSpPr/>
          <p:nvPr/>
        </p:nvSpPr>
        <p:spPr>
          <a:xfrm>
            <a:off x="12052300" y="7211020"/>
            <a:ext cx="581152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3469"/>
              </a:lnSpc>
              <a:buNone/>
            </a:pPr>
            <a:r>
              <a:rPr lang="pt-BR" sz="5400" b="1" kern="0" spc="-162" dirty="0">
                <a:solidFill>
                  <a:srgbClr val="A3A8B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≈ R$ 53 mil</a:t>
            </a:r>
            <a:endParaRPr lang="pt-BR" sz="5400" dirty="0"/>
          </a:p>
        </p:txBody>
      </p:sp>
      <p:sp>
        <p:nvSpPr>
          <p:cNvPr id="33" name="Text 33"/>
          <p:cNvSpPr/>
          <p:nvPr/>
        </p:nvSpPr>
        <p:spPr>
          <a:xfrm>
            <a:off x="12052300" y="7934920"/>
            <a:ext cx="5811520" cy="406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100" dirty="0">
                <a:solidFill>
                  <a:srgbClr val="A3A8B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receita bruta incremental, não margem</a:t>
            </a:r>
            <a:endParaRPr lang="pt-BR" sz="2100" dirty="0"/>
          </a:p>
        </p:txBody>
      </p:sp>
      <p:sp>
        <p:nvSpPr>
          <p:cNvPr id="34" name="Shape 34"/>
          <p:cNvSpPr/>
          <p:nvPr/>
        </p:nvSpPr>
        <p:spPr>
          <a:xfrm>
            <a:off x="952500" y="8915400"/>
            <a:ext cx="16383000" cy="9525"/>
          </a:xfrm>
          <a:prstGeom prst="rect">
            <a:avLst/>
          </a:prstGeom>
          <a:solidFill>
            <a:srgbClr val="2A3050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35" name="Text 35"/>
          <p:cNvSpPr/>
          <p:nvPr/>
        </p:nvSpPr>
        <p:spPr>
          <a:xfrm>
            <a:off x="952500" y="9099550"/>
            <a:ext cx="1448514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216" dirty="0">
                <a:solidFill>
                  <a:srgbClr val="F3F4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PROJEÇÃO</a:t>
            </a:r>
            <a:endParaRPr lang="pt-BR" sz="1800" dirty="0"/>
          </a:p>
        </p:txBody>
      </p:sp>
      <p:sp>
        <p:nvSpPr>
          <p:cNvPr id="36" name="Text 36"/>
          <p:cNvSpPr/>
          <p:nvPr/>
        </p:nvSpPr>
        <p:spPr>
          <a:xfrm>
            <a:off x="2497931" y="9093200"/>
            <a:ext cx="14839950" cy="660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dirty="0">
                <a:solidFill>
                  <a:srgbClr val="A3A8B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Cenário base anualizado sobre a amostra histórica (set/2017–ago/2018). Não são resultados observados, metas dos 90 dias nem ROI. Valores não somáveis. Premissas e memória de cálculo: Relatório Executivo, Seção 13.4.</a:t>
            </a:r>
            <a:endParaRPr lang="pt-BR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>
  <p:cSld name="Slide 11">
    <p:bg>
      <p:bgPr>
        <a:solidFill>
          <a:srgbClr val="0A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952500" y="576263"/>
            <a:ext cx="5129828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OLIST · FROM INSIGHT TO IMPACT</a:t>
            </a:r>
            <a:endParaRPr lang="pt-BR" sz="1800" dirty="0"/>
          </a:p>
        </p:txBody>
      </p:sp>
      <p:sp>
        <p:nvSpPr>
          <p:cNvPr id="3" name="Text 3"/>
          <p:cNvSpPr/>
          <p:nvPr/>
        </p:nvSpPr>
        <p:spPr>
          <a:xfrm>
            <a:off x="11684298" y="533400"/>
            <a:ext cx="1703884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DESCOBRIR</a:t>
            </a:r>
            <a:endParaRPr lang="pt-BR" sz="1800" dirty="0"/>
          </a:p>
        </p:txBody>
      </p:sp>
      <p:sp>
        <p:nvSpPr>
          <p:cNvPr id="4" name="Text 4"/>
          <p:cNvSpPr/>
          <p:nvPr/>
        </p:nvSpPr>
        <p:spPr>
          <a:xfrm>
            <a:off x="13464382" y="533400"/>
            <a:ext cx="1548408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DESENHAR</a:t>
            </a:r>
            <a:endParaRPr lang="pt-BR" sz="1800" dirty="0"/>
          </a:p>
        </p:txBody>
      </p:sp>
      <p:sp>
        <p:nvSpPr>
          <p:cNvPr id="5" name="Shape 5"/>
          <p:cNvSpPr/>
          <p:nvPr/>
        </p:nvSpPr>
        <p:spPr>
          <a:xfrm>
            <a:off x="15088989" y="890587"/>
            <a:ext cx="1088231" cy="25400"/>
          </a:xfrm>
          <a:prstGeom prst="rect">
            <a:avLst/>
          </a:prstGeom>
          <a:solidFill>
            <a:srgbClr val="3CCFB4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6" name="Text 6"/>
          <p:cNvSpPr/>
          <p:nvPr/>
        </p:nvSpPr>
        <p:spPr>
          <a:xfrm>
            <a:off x="15088989" y="534988"/>
            <a:ext cx="1393031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F3F4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ESCALAR</a:t>
            </a:r>
            <a:endParaRPr lang="pt-BR" sz="1800" dirty="0"/>
          </a:p>
        </p:txBody>
      </p:sp>
      <p:sp>
        <p:nvSpPr>
          <p:cNvPr id="7" name="Text 7"/>
          <p:cNvSpPr/>
          <p:nvPr/>
        </p:nvSpPr>
        <p:spPr>
          <a:xfrm>
            <a:off x="16558221" y="533400"/>
            <a:ext cx="853480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11/12</a:t>
            </a:r>
            <a:endParaRPr lang="pt-BR" sz="1800" dirty="0"/>
          </a:p>
        </p:txBody>
      </p:sp>
      <p:sp>
        <p:nvSpPr>
          <p:cNvPr id="8" name="Text 8"/>
          <p:cNvSpPr/>
          <p:nvPr/>
        </p:nvSpPr>
        <p:spPr>
          <a:xfrm>
            <a:off x="952500" y="1428750"/>
            <a:ext cx="16383000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216" dirty="0">
                <a:solidFill>
                  <a:srgbClr val="3CCFB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ROADMAP E CRITÉRIOS DE DECISÃO</a:t>
            </a:r>
            <a:endParaRPr lang="pt-BR" sz="1800" dirty="0"/>
          </a:p>
        </p:txBody>
      </p:sp>
      <p:sp>
        <p:nvSpPr>
          <p:cNvPr id="9" name="Text 9"/>
          <p:cNvSpPr/>
          <p:nvPr/>
        </p:nvSpPr>
        <p:spPr>
          <a:xfrm>
            <a:off x="952500" y="1898650"/>
            <a:ext cx="15716250" cy="678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1951"/>
              </a:lnSpc>
              <a:buNone/>
            </a:pPr>
            <a:r>
              <a:rPr lang="pt-BR" sz="4500" b="1" kern="0" spc="-9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Escalar somente depois de validar.</a:t>
            </a:r>
            <a:endParaRPr lang="pt-BR" sz="4500" dirty="0"/>
          </a:p>
        </p:txBody>
      </p:sp>
      <p:sp>
        <p:nvSpPr>
          <p:cNvPr id="10" name="Shape 10"/>
          <p:cNvSpPr/>
          <p:nvPr/>
        </p:nvSpPr>
        <p:spPr>
          <a:xfrm>
            <a:off x="952500" y="3110210"/>
            <a:ext cx="5795070" cy="4000500"/>
          </a:xfrm>
          <a:prstGeom prst="rect">
            <a:avLst/>
          </a:prstGeom>
          <a:solidFill>
            <a:srgbClr val="10213A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11" name="Shape 11"/>
          <p:cNvSpPr/>
          <p:nvPr/>
        </p:nvSpPr>
        <p:spPr>
          <a:xfrm>
            <a:off x="952500" y="3110210"/>
            <a:ext cx="5795070" cy="57150"/>
          </a:xfrm>
          <a:prstGeom prst="rect">
            <a:avLst/>
          </a:prstGeom>
          <a:solidFill>
            <a:srgbClr val="3CCFB4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12" name="Text 12"/>
          <p:cNvSpPr/>
          <p:nvPr/>
        </p:nvSpPr>
        <p:spPr>
          <a:xfrm>
            <a:off x="1257300" y="3434060"/>
            <a:ext cx="2715855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216" dirty="0">
                <a:solidFill>
                  <a:srgbClr val="3CCFB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WAVE 1 · PILOTO</a:t>
            </a:r>
            <a:endParaRPr lang="pt-BR" sz="1800" dirty="0"/>
          </a:p>
        </p:txBody>
      </p:sp>
      <p:sp>
        <p:nvSpPr>
          <p:cNvPr id="13" name="Text 13"/>
          <p:cNvSpPr/>
          <p:nvPr/>
        </p:nvSpPr>
        <p:spPr>
          <a:xfrm>
            <a:off x="5208290" y="3434060"/>
            <a:ext cx="1357928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dirty="0">
                <a:solidFill>
                  <a:srgbClr val="A3A8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MESES 1–3</a:t>
            </a:r>
            <a:endParaRPr lang="pt-BR" sz="1800" dirty="0"/>
          </a:p>
        </p:txBody>
      </p:sp>
      <p:sp>
        <p:nvSpPr>
          <p:cNvPr id="14" name="Text 14"/>
          <p:cNvSpPr/>
          <p:nvPr/>
        </p:nvSpPr>
        <p:spPr>
          <a:xfrm>
            <a:off x="1257300" y="3865860"/>
            <a:ext cx="5704016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3096"/>
              </a:lnSpc>
              <a:buNone/>
            </a:pPr>
            <a:r>
              <a:rPr lang="pt-BR" sz="7200" b="1" kern="0" spc="-288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90 dias</a:t>
            </a:r>
            <a:endParaRPr lang="pt-BR" sz="7200" dirty="0"/>
          </a:p>
        </p:txBody>
      </p:sp>
      <p:sp>
        <p:nvSpPr>
          <p:cNvPr id="15" name="Text 15"/>
          <p:cNvSpPr/>
          <p:nvPr/>
        </p:nvSpPr>
        <p:spPr>
          <a:xfrm>
            <a:off x="1257300" y="4913611"/>
            <a:ext cx="5704016" cy="450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400" b="1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LogiPredict + SentimentDesk</a:t>
            </a:r>
            <a:endParaRPr lang="pt-BR" sz="2400" dirty="0"/>
          </a:p>
        </p:txBody>
      </p:sp>
      <p:sp>
        <p:nvSpPr>
          <p:cNvPr id="16" name="Text 16"/>
          <p:cNvSpPr/>
          <p:nvPr/>
        </p:nvSpPr>
        <p:spPr>
          <a:xfrm>
            <a:off x="1257300" y="5562600"/>
            <a:ext cx="5341034" cy="3333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102857"/>
              </a:lnSpc>
              <a:buNone/>
            </a:pPr>
            <a:r>
              <a:rPr lang="pt-BR" sz="1800" kern="0" spc="144" dirty="0">
                <a:solidFill>
                  <a:srgbClr val="3CCFB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METAS TÉCNICAS</a:t>
            </a:r>
            <a:endParaRPr lang="pt-BR" sz="1800" dirty="0"/>
          </a:p>
        </p:txBody>
      </p:sp>
      <p:sp>
        <p:nvSpPr>
          <p:cNvPr id="17" name="Shape 17"/>
          <p:cNvSpPr/>
          <p:nvPr/>
        </p:nvSpPr>
        <p:spPr>
          <a:xfrm rot="2700000">
            <a:off x="7696200" y="3352800"/>
            <a:ext cx="800100" cy="800100"/>
          </a:xfrm>
          <a:prstGeom prst="rect">
            <a:avLst/>
          </a:prstGeom>
          <a:solidFill>
            <a:srgbClr val="10213A"/>
          </a:solidFill>
          <a:ln w="28575">
            <a:solidFill>
              <a:srgbClr val="3CCFB4"/>
            </a:solidFill>
            <a:prstDash val="solid"/>
          </a:ln>
        </p:spPr>
        <p:txBody>
          <a:bodyPr wrap="none"/>
          <a:lstStyle/>
          <a:p>
            <a:endParaRPr lang="pt-BR"/>
          </a:p>
        </p:txBody>
      </p:sp>
      <p:sp>
        <p:nvSpPr>
          <p:cNvPr id="18" name="Text 18"/>
          <p:cNvSpPr/>
          <p:nvPr/>
        </p:nvSpPr>
        <p:spPr>
          <a:xfrm>
            <a:off x="6781800" y="4400550"/>
            <a:ext cx="2533650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pt-BR" sz="1800" kern="0" spc="72" dirty="0">
                <a:solidFill>
                  <a:srgbClr val="F3F4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DECISÃO · DIA 90</a:t>
            </a:r>
            <a:endParaRPr lang="pt-BR" sz="1800" dirty="0"/>
          </a:p>
        </p:txBody>
      </p:sp>
      <p:sp>
        <p:nvSpPr>
          <p:cNvPr id="19" name="Text 19"/>
          <p:cNvSpPr/>
          <p:nvPr/>
        </p:nvSpPr>
        <p:spPr>
          <a:xfrm>
            <a:off x="7048500" y="4838700"/>
            <a:ext cx="2324100" cy="4064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pt-BR" sz="2400" b="1" dirty="0">
                <a:solidFill>
                  <a:srgbClr val="3CCFB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ESCALAR</a:t>
            </a:r>
            <a:endParaRPr lang="pt-BR" sz="2400" dirty="0"/>
          </a:p>
        </p:txBody>
      </p:sp>
      <p:sp>
        <p:nvSpPr>
          <p:cNvPr id="20" name="Text 20"/>
          <p:cNvSpPr/>
          <p:nvPr/>
        </p:nvSpPr>
        <p:spPr>
          <a:xfrm>
            <a:off x="7048500" y="5295900"/>
            <a:ext cx="2095500" cy="4064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pt-BR" sz="2400" b="1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AJUSTAR</a:t>
            </a:r>
            <a:endParaRPr lang="pt-BR" sz="2400" dirty="0"/>
          </a:p>
        </p:txBody>
      </p:sp>
      <p:sp>
        <p:nvSpPr>
          <p:cNvPr id="21" name="Text 21"/>
          <p:cNvSpPr/>
          <p:nvPr/>
        </p:nvSpPr>
        <p:spPr>
          <a:xfrm>
            <a:off x="7048500" y="5753100"/>
            <a:ext cx="2095500" cy="4064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pt-BR" sz="2400" b="1" dirty="0">
                <a:solidFill>
                  <a:srgbClr val="A3A8B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ENCERRAR</a:t>
            </a:r>
            <a:endParaRPr lang="pt-BR" sz="2400" dirty="0"/>
          </a:p>
        </p:txBody>
      </p:sp>
      <p:sp>
        <p:nvSpPr>
          <p:cNvPr id="22" name="Shape 22"/>
          <p:cNvSpPr/>
          <p:nvPr/>
        </p:nvSpPr>
        <p:spPr>
          <a:xfrm>
            <a:off x="9357420" y="3110210"/>
            <a:ext cx="2519660" cy="4000500"/>
          </a:xfrm>
          <a:prstGeom prst="rect">
            <a:avLst/>
          </a:prstGeom>
          <a:noFill/>
          <a:ln w="19050">
            <a:solidFill>
              <a:srgbClr val="2A3050"/>
            </a:solidFill>
            <a:prstDash val="solid"/>
          </a:ln>
        </p:spPr>
        <p:txBody>
          <a:bodyPr wrap="none"/>
          <a:lstStyle/>
          <a:p>
            <a:endParaRPr lang="pt-BR"/>
          </a:p>
        </p:txBody>
      </p:sp>
      <p:sp>
        <p:nvSpPr>
          <p:cNvPr id="23" name="Text 23"/>
          <p:cNvSpPr/>
          <p:nvPr/>
        </p:nvSpPr>
        <p:spPr>
          <a:xfrm>
            <a:off x="9605070" y="3357860"/>
            <a:ext cx="2226796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80" dirty="0">
                <a:solidFill>
                  <a:srgbClr val="A3A8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WAVE 2</a:t>
            </a:r>
            <a:endParaRPr lang="pt-BR" sz="1800" dirty="0"/>
          </a:p>
        </p:txBody>
      </p:sp>
      <p:sp>
        <p:nvSpPr>
          <p:cNvPr id="24" name="Text 24"/>
          <p:cNvSpPr/>
          <p:nvPr/>
        </p:nvSpPr>
        <p:spPr>
          <a:xfrm>
            <a:off x="9605070" y="3770610"/>
            <a:ext cx="2226796" cy="450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400" b="1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WinBack</a:t>
            </a:r>
            <a:endParaRPr lang="pt-BR" sz="2400" dirty="0"/>
          </a:p>
        </p:txBody>
      </p:sp>
      <p:sp>
        <p:nvSpPr>
          <p:cNvPr id="25" name="Text 25"/>
          <p:cNvSpPr/>
          <p:nvPr/>
        </p:nvSpPr>
        <p:spPr>
          <a:xfrm>
            <a:off x="9605070" y="4297660"/>
            <a:ext cx="2190750" cy="1047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184"/>
              </a:lnSpc>
              <a:buNone/>
            </a:pPr>
            <a:r>
              <a:rPr lang="pt-BR" sz="1950" dirty="0">
                <a:solidFill>
                  <a:srgbClr val="A3A8B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Condicionada aos resultados da Wave 1</a:t>
            </a:r>
            <a:endParaRPr lang="pt-BR" sz="1950" dirty="0"/>
          </a:p>
        </p:txBody>
      </p:sp>
      <p:sp>
        <p:nvSpPr>
          <p:cNvPr id="26" name="Shape 26"/>
          <p:cNvSpPr/>
          <p:nvPr/>
        </p:nvSpPr>
        <p:spPr>
          <a:xfrm>
            <a:off x="12086630" y="3110210"/>
            <a:ext cx="2519660" cy="4000500"/>
          </a:xfrm>
          <a:prstGeom prst="rect">
            <a:avLst/>
          </a:prstGeom>
          <a:noFill/>
          <a:ln w="19050">
            <a:solidFill>
              <a:srgbClr val="2A3050"/>
            </a:solidFill>
            <a:prstDash val="solid"/>
          </a:ln>
        </p:spPr>
        <p:txBody>
          <a:bodyPr wrap="none"/>
          <a:lstStyle/>
          <a:p>
            <a:endParaRPr lang="pt-BR"/>
          </a:p>
        </p:txBody>
      </p:sp>
      <p:sp>
        <p:nvSpPr>
          <p:cNvPr id="27" name="Text 27"/>
          <p:cNvSpPr/>
          <p:nvPr/>
        </p:nvSpPr>
        <p:spPr>
          <a:xfrm>
            <a:off x="12334280" y="3357860"/>
            <a:ext cx="2226796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80" dirty="0">
                <a:solidFill>
                  <a:srgbClr val="A3A8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WAVE 3</a:t>
            </a:r>
            <a:endParaRPr lang="pt-BR" sz="1800" dirty="0"/>
          </a:p>
        </p:txBody>
      </p:sp>
      <p:sp>
        <p:nvSpPr>
          <p:cNvPr id="28" name="Text 28"/>
          <p:cNvSpPr/>
          <p:nvPr/>
        </p:nvSpPr>
        <p:spPr>
          <a:xfrm>
            <a:off x="12334280" y="3770610"/>
            <a:ext cx="2100560" cy="863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400" b="1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SellerCare + SmartFreight</a:t>
            </a:r>
            <a:endParaRPr lang="pt-BR" sz="2400" dirty="0"/>
          </a:p>
        </p:txBody>
      </p:sp>
      <p:sp>
        <p:nvSpPr>
          <p:cNvPr id="29" name="Text 29"/>
          <p:cNvSpPr/>
          <p:nvPr/>
        </p:nvSpPr>
        <p:spPr>
          <a:xfrm>
            <a:off x="12334280" y="4710410"/>
            <a:ext cx="2190750" cy="1047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184"/>
              </a:lnSpc>
              <a:buNone/>
            </a:pPr>
            <a:r>
              <a:rPr lang="pt-BR" sz="1950" dirty="0">
                <a:solidFill>
                  <a:srgbClr val="A3A8B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Condicionada a uplift comprovado</a:t>
            </a:r>
            <a:endParaRPr lang="pt-BR" sz="1950" dirty="0"/>
          </a:p>
        </p:txBody>
      </p:sp>
      <p:sp>
        <p:nvSpPr>
          <p:cNvPr id="30" name="Shape 30"/>
          <p:cNvSpPr/>
          <p:nvPr/>
        </p:nvSpPr>
        <p:spPr>
          <a:xfrm>
            <a:off x="14815840" y="3110210"/>
            <a:ext cx="2519561" cy="4000500"/>
          </a:xfrm>
          <a:prstGeom prst="rect">
            <a:avLst/>
          </a:prstGeom>
          <a:noFill/>
          <a:ln w="19050">
            <a:solidFill>
              <a:srgbClr val="2A3050"/>
            </a:solidFill>
            <a:prstDash val="solid"/>
          </a:ln>
        </p:spPr>
        <p:txBody>
          <a:bodyPr wrap="none"/>
          <a:lstStyle/>
          <a:p>
            <a:endParaRPr lang="pt-BR"/>
          </a:p>
        </p:txBody>
      </p:sp>
      <p:sp>
        <p:nvSpPr>
          <p:cNvPr id="31" name="Text 31"/>
          <p:cNvSpPr/>
          <p:nvPr/>
        </p:nvSpPr>
        <p:spPr>
          <a:xfrm>
            <a:off x="15063490" y="3357860"/>
            <a:ext cx="2226687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80" dirty="0">
                <a:solidFill>
                  <a:srgbClr val="A3A8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FASE FUTURA</a:t>
            </a:r>
            <a:endParaRPr lang="pt-BR" sz="1800" dirty="0"/>
          </a:p>
        </p:txBody>
      </p:sp>
      <p:sp>
        <p:nvSpPr>
          <p:cNvPr id="32" name="Text 32"/>
          <p:cNvSpPr/>
          <p:nvPr/>
        </p:nvSpPr>
        <p:spPr>
          <a:xfrm>
            <a:off x="15063490" y="3770610"/>
            <a:ext cx="2226687" cy="450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400" b="1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Maestro</a:t>
            </a:r>
            <a:endParaRPr lang="pt-BR" sz="2400" dirty="0"/>
          </a:p>
        </p:txBody>
      </p:sp>
      <p:sp>
        <p:nvSpPr>
          <p:cNvPr id="33" name="Text 33"/>
          <p:cNvSpPr/>
          <p:nvPr/>
        </p:nvSpPr>
        <p:spPr>
          <a:xfrm>
            <a:off x="15063490" y="4297660"/>
            <a:ext cx="2190750" cy="1047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184"/>
              </a:lnSpc>
              <a:buNone/>
            </a:pPr>
            <a:r>
              <a:rPr lang="pt-BR" sz="1950" dirty="0">
                <a:solidFill>
                  <a:srgbClr val="A3A8B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Orquestração ampliada</a:t>
            </a:r>
            <a:endParaRPr lang="pt-BR" sz="1950" dirty="0"/>
          </a:p>
        </p:txBody>
      </p:sp>
      <p:sp>
        <p:nvSpPr>
          <p:cNvPr id="34" name="Shape 34"/>
          <p:cNvSpPr/>
          <p:nvPr/>
        </p:nvSpPr>
        <p:spPr>
          <a:xfrm>
            <a:off x="952500" y="7872710"/>
            <a:ext cx="16383000" cy="9525"/>
          </a:xfrm>
          <a:prstGeom prst="rect">
            <a:avLst/>
          </a:prstGeom>
          <a:solidFill>
            <a:srgbClr val="2A3050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35" name="Text 35"/>
          <p:cNvSpPr/>
          <p:nvPr/>
        </p:nvSpPr>
        <p:spPr>
          <a:xfrm>
            <a:off x="952500" y="8183860"/>
            <a:ext cx="2943225" cy="6350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216" dirty="0">
                <a:solidFill>
                  <a:srgbClr val="3CCFB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CRITÉRIOS DE AVANÇO</a:t>
            </a:r>
            <a:endParaRPr lang="pt-BR" sz="1800" dirty="0"/>
          </a:p>
        </p:txBody>
      </p:sp>
      <p:sp>
        <p:nvSpPr>
          <p:cNvPr id="36" name="Text 36"/>
          <p:cNvSpPr/>
          <p:nvPr/>
        </p:nvSpPr>
        <p:spPr>
          <a:xfrm>
            <a:off x="4191000" y="8183860"/>
            <a:ext cx="213420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pt-BR" sz="1800" dirty="0"/>
          </a:p>
        </p:txBody>
      </p:sp>
      <p:sp>
        <p:nvSpPr>
          <p:cNvPr id="37" name="Text 37"/>
          <p:cNvSpPr/>
          <p:nvPr/>
        </p:nvSpPr>
        <p:spPr>
          <a:xfrm>
            <a:off x="4480620" y="8126710"/>
            <a:ext cx="3416647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4355"/>
              </a:lnSpc>
              <a:buNone/>
            </a:pPr>
            <a:r>
              <a:rPr lang="pt-BR" sz="2250" b="1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Qualidade e segurança</a:t>
            </a:r>
            <a:endParaRPr lang="pt-BR" sz="2250" dirty="0"/>
          </a:p>
        </p:txBody>
      </p:sp>
      <p:sp>
        <p:nvSpPr>
          <p:cNvPr id="38" name="Text 38"/>
          <p:cNvSpPr/>
          <p:nvPr/>
        </p:nvSpPr>
        <p:spPr>
          <a:xfrm>
            <a:off x="8699500" y="8183860"/>
            <a:ext cx="213420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pt-BR" sz="1800" dirty="0"/>
          </a:p>
        </p:txBody>
      </p:sp>
      <p:sp>
        <p:nvSpPr>
          <p:cNvPr id="39" name="Text 39"/>
          <p:cNvSpPr/>
          <p:nvPr/>
        </p:nvSpPr>
        <p:spPr>
          <a:xfrm>
            <a:off x="8989120" y="8126710"/>
            <a:ext cx="3953017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4355"/>
              </a:lnSpc>
              <a:buNone/>
            </a:pPr>
            <a:r>
              <a:rPr lang="pt-BR" sz="2250" b="1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Benefício incremental frente ao controle</a:t>
            </a:r>
            <a:endParaRPr lang="pt-BR" sz="2250" dirty="0"/>
          </a:p>
        </p:txBody>
      </p:sp>
      <p:sp>
        <p:nvSpPr>
          <p:cNvPr id="40" name="Text 40"/>
          <p:cNvSpPr/>
          <p:nvPr/>
        </p:nvSpPr>
        <p:spPr>
          <a:xfrm>
            <a:off x="13208001" y="8183860"/>
            <a:ext cx="213420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pt-BR" sz="1800" dirty="0"/>
          </a:p>
        </p:txBody>
      </p:sp>
      <p:sp>
        <p:nvSpPr>
          <p:cNvPr id="41" name="Text 41"/>
          <p:cNvSpPr/>
          <p:nvPr/>
        </p:nvSpPr>
        <p:spPr>
          <a:xfrm>
            <a:off x="13497620" y="8126710"/>
            <a:ext cx="3953017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4355"/>
              </a:lnSpc>
              <a:buNone/>
            </a:pPr>
            <a:r>
              <a:rPr lang="pt-BR" sz="2250" b="1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Viabilidade econômica e operacional</a:t>
            </a:r>
            <a:endParaRPr lang="pt-BR" sz="2250" dirty="0"/>
          </a:p>
        </p:txBody>
      </p:sp>
      <p:sp>
        <p:nvSpPr>
          <p:cNvPr id="42" name="Text 42"/>
          <p:cNvSpPr/>
          <p:nvPr/>
        </p:nvSpPr>
        <p:spPr>
          <a:xfrm>
            <a:off x="1257300" y="5905500"/>
            <a:ext cx="53340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10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Falso positivo ≤ 20%</a:t>
            </a:r>
            <a:endParaRPr lang="pt-BR" sz="2100" dirty="0"/>
          </a:p>
        </p:txBody>
      </p:sp>
      <p:sp>
        <p:nvSpPr>
          <p:cNvPr id="43" name="Text 43"/>
          <p:cNvSpPr/>
          <p:nvPr/>
        </p:nvSpPr>
        <p:spPr>
          <a:xfrm>
            <a:off x="1257300" y="6248400"/>
            <a:ext cx="53340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10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Classificação correta ≥ 85%</a:t>
            </a:r>
            <a:endParaRPr lang="pt-BR" sz="2100" dirty="0"/>
          </a:p>
        </p:txBody>
      </p:sp>
      <p:sp>
        <p:nvSpPr>
          <p:cNvPr id="44" name="Text 44"/>
          <p:cNvSpPr/>
          <p:nvPr/>
        </p:nvSpPr>
        <p:spPr>
          <a:xfrm>
            <a:off x="1257300" y="6591300"/>
            <a:ext cx="53340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210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90% respostas &lt; 24 h · SLA humano 4 h</a:t>
            </a:r>
            <a:endParaRPr lang="pt-BR" sz="2100" dirty="0"/>
          </a:p>
        </p:txBody>
      </p:sp>
      <p:sp>
        <p:nvSpPr>
          <p:cNvPr id="45" name="Shape 45"/>
          <p:cNvSpPr/>
          <p:nvPr/>
        </p:nvSpPr>
        <p:spPr>
          <a:xfrm>
            <a:off x="6743700" y="3743325"/>
            <a:ext cx="876300" cy="19050"/>
          </a:xfrm>
          <a:prstGeom prst="rect">
            <a:avLst/>
          </a:prstGeom>
          <a:solidFill>
            <a:srgbClr val="2A3050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46" name="Shape 46"/>
          <p:cNvSpPr/>
          <p:nvPr/>
        </p:nvSpPr>
        <p:spPr>
          <a:xfrm>
            <a:off x="8572500" y="3743325"/>
            <a:ext cx="781050" cy="19050"/>
          </a:xfrm>
          <a:prstGeom prst="rect">
            <a:avLst/>
          </a:prstGeom>
          <a:solidFill>
            <a:srgbClr val="2A3050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47" name="Shape 47"/>
          <p:cNvSpPr/>
          <p:nvPr/>
        </p:nvSpPr>
        <p:spPr>
          <a:xfrm>
            <a:off x="952500" y="9163050"/>
            <a:ext cx="16383000" cy="9525"/>
          </a:xfrm>
          <a:prstGeom prst="rect">
            <a:avLst/>
          </a:prstGeom>
          <a:solidFill>
            <a:srgbClr val="2A3050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48" name="Text 48"/>
          <p:cNvSpPr/>
          <p:nvPr/>
        </p:nvSpPr>
        <p:spPr>
          <a:xfrm>
            <a:off x="952500" y="9382125"/>
            <a:ext cx="4000500" cy="3333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kern="0" spc="144" dirty="0">
                <a:solidFill>
                  <a:srgbClr val="8E7C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PRÓXIMA ETAPA ACADÊMICA</a:t>
            </a:r>
            <a:endParaRPr lang="pt-BR" sz="1800" dirty="0"/>
          </a:p>
        </p:txBody>
      </p:sp>
      <p:sp>
        <p:nvSpPr>
          <p:cNvPr id="49" name="Text 49"/>
          <p:cNvSpPr/>
          <p:nvPr/>
        </p:nvSpPr>
        <p:spPr>
          <a:xfrm>
            <a:off x="4953000" y="9382125"/>
            <a:ext cx="1238250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pt-BR" sz="1800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Fase 3 do Tech Challenge: protótipo low-code do LogiPredict e do SentimentDesk com os casos reais.</a:t>
            </a:r>
            <a:endParaRPr lang="pt-BR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>
  <p:cSld name="Slide 12">
    <p:bg>
      <p:bgPr>
        <a:solidFill>
          <a:srgbClr val="0A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76263"/>
            <a:ext cx="5129828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OLIST · FROM INSIGHT TO IMPACT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684298" y="533400"/>
            <a:ext cx="1703884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DESCOBRIR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464382" y="533400"/>
            <a:ext cx="1548408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DESENHAR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5088989" y="890587"/>
            <a:ext cx="1088231" cy="25400"/>
          </a:xfrm>
          <a:prstGeom prst="rect">
            <a:avLst/>
          </a:prstGeom>
          <a:solidFill>
            <a:srgbClr val="3CCFB4"/>
          </a:solidFill>
          <a:ln/>
        </p:spPr>
        <p:txBody>
          <a:bodyPr wrap="none"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5088989" y="534988"/>
            <a:ext cx="1393031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F3F4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ESCALAR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558221" y="533400"/>
            <a:ext cx="853480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12/12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52500" y="2095500"/>
            <a:ext cx="10791825" cy="205878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4704"/>
              </a:lnSpc>
              <a:buNone/>
            </a:pPr>
            <a:r>
              <a:rPr lang="en-US" sz="7800" b="1" kern="0" spc="-273" dirty="0">
                <a:solidFill>
                  <a:srgbClr val="A3A8B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Não propomos mais agentes.</a:t>
            </a:r>
            <a:endParaRPr lang="en-US" sz="7800" dirty="0"/>
          </a:p>
        </p:txBody>
      </p:sp>
      <p:sp>
        <p:nvSpPr>
          <p:cNvPr id="9" name="Text 7"/>
          <p:cNvSpPr/>
          <p:nvPr/>
        </p:nvSpPr>
        <p:spPr>
          <a:xfrm>
            <a:off x="952500" y="4173339"/>
            <a:ext cx="10791825" cy="205878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4704"/>
              </a:lnSpc>
              <a:buNone/>
            </a:pPr>
            <a:r>
              <a:rPr lang="en-US" sz="7800" b="1" kern="0" spc="-273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Propomos agentes melhores.</a:t>
            </a:r>
            <a:endParaRPr lang="en-US" sz="7800" dirty="0"/>
          </a:p>
        </p:txBody>
      </p:sp>
      <p:sp>
        <p:nvSpPr>
          <p:cNvPr id="10" name="Text 8"/>
          <p:cNvSpPr/>
          <p:nvPr/>
        </p:nvSpPr>
        <p:spPr>
          <a:xfrm>
            <a:off x="12763500" y="2209800"/>
            <a:ext cx="4709160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216" dirty="0">
                <a:solidFill>
                  <a:srgbClr val="3CCFB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DECISÃO AGORA É VALIDAR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2763500" y="2698750"/>
            <a:ext cx="4572000" cy="9525"/>
          </a:xfrm>
          <a:prstGeom prst="rect">
            <a:avLst/>
          </a:prstGeom>
          <a:solidFill>
            <a:srgbClr val="2A3050"/>
          </a:solidFill>
          <a:ln/>
        </p:spPr>
        <p:txBody>
          <a:bodyPr wrap="none"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2763500" y="2914650"/>
            <a:ext cx="4709160" cy="711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900" b="1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90 dias</a:t>
            </a:r>
            <a:endParaRPr lang="en-US" sz="3900" dirty="0"/>
          </a:p>
        </p:txBody>
      </p:sp>
      <p:sp>
        <p:nvSpPr>
          <p:cNvPr id="13" name="Shape 11"/>
          <p:cNvSpPr/>
          <p:nvPr/>
        </p:nvSpPr>
        <p:spPr>
          <a:xfrm>
            <a:off x="12763500" y="3797300"/>
            <a:ext cx="4572000" cy="9525"/>
          </a:xfrm>
          <a:prstGeom prst="rect">
            <a:avLst/>
          </a:prstGeom>
          <a:solidFill>
            <a:srgbClr val="2A3050"/>
          </a:solidFill>
          <a:ln/>
        </p:spPr>
        <p:txBody>
          <a:bodyPr wrap="none"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2763500" y="4013200"/>
            <a:ext cx="4709160" cy="711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900" b="1" dirty="0">
                <a:solidFill>
                  <a:srgbClr val="F3F4F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Dois agentes</a:t>
            </a:r>
            <a:endParaRPr lang="en-US" sz="3900" dirty="0"/>
          </a:p>
        </p:txBody>
      </p:sp>
      <p:sp>
        <p:nvSpPr>
          <p:cNvPr id="15" name="Shape 13"/>
          <p:cNvSpPr/>
          <p:nvPr/>
        </p:nvSpPr>
        <p:spPr>
          <a:xfrm>
            <a:off x="12763500" y="6667500"/>
            <a:ext cx="4572000" cy="9525"/>
          </a:xfrm>
          <a:prstGeom prst="rect">
            <a:avLst/>
          </a:prstGeom>
          <a:solidFill>
            <a:srgbClr val="2A3050"/>
          </a:solidFill>
          <a:ln/>
        </p:spPr>
        <p:txBody>
          <a:bodyPr wrap="none"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2763500" y="4895850"/>
            <a:ext cx="4572000" cy="9525"/>
          </a:xfrm>
          <a:prstGeom prst="rect">
            <a:avLst/>
          </a:prstGeom>
          <a:solidFill>
            <a:srgbClr val="2A3050"/>
          </a:solidFill>
          <a:ln/>
        </p:spPr>
        <p:txBody>
          <a:bodyPr wrap="none"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2763500" y="5111750"/>
            <a:ext cx="4709160" cy="1384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900" b="1" dirty="0">
                <a:solidFill>
                  <a:srgbClr val="3CCFB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Impacto mensurável</a:t>
            </a:r>
            <a:endParaRPr lang="en-US" sz="3900" dirty="0"/>
          </a:p>
        </p:txBody>
      </p:sp>
      <p:sp>
        <p:nvSpPr>
          <p:cNvPr id="18" name="Shape 16"/>
          <p:cNvSpPr/>
          <p:nvPr/>
        </p:nvSpPr>
        <p:spPr>
          <a:xfrm>
            <a:off x="952500" y="8382000"/>
            <a:ext cx="16383000" cy="19050"/>
          </a:xfrm>
          <a:prstGeom prst="rect">
            <a:avLst/>
          </a:prstGeom>
          <a:solidFill>
            <a:srgbClr val="2A3050"/>
          </a:solidFill>
          <a:ln/>
        </p:spPr>
        <p:txBody>
          <a:bodyPr wrap="none"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096125" y="7810500"/>
            <a:ext cx="19050" cy="571500"/>
          </a:xfrm>
          <a:prstGeom prst="rect">
            <a:avLst/>
          </a:prstGeom>
          <a:solidFill>
            <a:srgbClr val="8E7CFF"/>
          </a:solidFill>
          <a:ln/>
        </p:spPr>
        <p:txBody>
          <a:bodyPr wrap="none"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3239750" y="7810500"/>
            <a:ext cx="19050" cy="571500"/>
          </a:xfrm>
          <a:prstGeom prst="rect">
            <a:avLst/>
          </a:prstGeom>
          <a:solidFill>
            <a:srgbClr val="8E7CFF"/>
          </a:solidFill>
          <a:ln/>
        </p:spPr>
        <p:txBody>
          <a:bodyPr wrap="none"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5287625" y="7810500"/>
            <a:ext cx="19050" cy="571500"/>
          </a:xfrm>
          <a:prstGeom prst="rect">
            <a:avLst/>
          </a:prstGeom>
          <a:solidFill>
            <a:srgbClr val="2A3050"/>
          </a:solidFill>
          <a:ln/>
        </p:spPr>
        <p:txBody>
          <a:bodyPr wrap="none"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000875" y="7715250"/>
            <a:ext cx="209550" cy="209550"/>
          </a:xfrm>
          <a:prstGeom prst="ellipse">
            <a:avLst/>
          </a:prstGeom>
          <a:solidFill>
            <a:srgbClr val="8E7CFF"/>
          </a:solidFill>
          <a:ln/>
        </p:spPr>
        <p:txBody>
          <a:bodyPr wrap="none"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3144500" y="7715250"/>
            <a:ext cx="209550" cy="209550"/>
          </a:xfrm>
          <a:prstGeom prst="ellipse">
            <a:avLst/>
          </a:prstGeom>
          <a:solidFill>
            <a:srgbClr val="8E7CFF"/>
          </a:solidFill>
          <a:ln/>
        </p:spPr>
        <p:txBody>
          <a:bodyPr wrap="none"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15192375" y="7715250"/>
            <a:ext cx="209550" cy="209550"/>
          </a:xfrm>
          <a:prstGeom prst="ellipse">
            <a:avLst/>
          </a:prstGeom>
          <a:solidFill>
            <a:srgbClr val="0A0D1A"/>
          </a:solidFill>
          <a:ln w="19050">
            <a:solidFill>
              <a:srgbClr val="7C8299"/>
            </a:solidFill>
            <a:prstDash val="dash"/>
          </a:ln>
        </p:spPr>
        <p:txBody>
          <a:bodyPr wrap="none"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885825" y="8324850"/>
            <a:ext cx="133350" cy="133350"/>
          </a:xfrm>
          <a:prstGeom prst="ellipse">
            <a:avLst/>
          </a:prstGeom>
          <a:solidFill>
            <a:srgbClr val="F3F4F8"/>
          </a:solidFill>
          <a:ln/>
        </p:spPr>
        <p:txBody>
          <a:bodyPr wrap="none"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981575" y="8324850"/>
            <a:ext cx="133350" cy="133350"/>
          </a:xfrm>
          <a:prstGeom prst="ellipse">
            <a:avLst/>
          </a:prstGeom>
          <a:solidFill>
            <a:srgbClr val="F3F4F8"/>
          </a:solidFill>
          <a:ln/>
        </p:spPr>
        <p:txBody>
          <a:bodyPr wrap="none"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9077325" y="8324850"/>
            <a:ext cx="133350" cy="133350"/>
          </a:xfrm>
          <a:prstGeom prst="ellipse">
            <a:avLst/>
          </a:prstGeom>
          <a:solidFill>
            <a:srgbClr val="F3F4F8"/>
          </a:solidFill>
          <a:ln/>
        </p:spPr>
        <p:txBody>
          <a:bodyPr wrap="none"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13173075" y="8324850"/>
            <a:ext cx="133350" cy="133350"/>
          </a:xfrm>
          <a:prstGeom prst="ellipse">
            <a:avLst/>
          </a:prstGeom>
          <a:solidFill>
            <a:srgbClr val="F3F4F8"/>
          </a:solidFill>
          <a:ln/>
        </p:spPr>
        <p:txBody>
          <a:bodyPr wrap="none"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17268825" y="8324850"/>
            <a:ext cx="133350" cy="133350"/>
          </a:xfrm>
          <a:prstGeom prst="ellipse">
            <a:avLst/>
          </a:prstGeom>
          <a:solidFill>
            <a:srgbClr val="3CCFB4"/>
          </a:solidFill>
          <a:ln/>
        </p:spPr>
        <p:txBody>
          <a:bodyPr wrap="none"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952500" y="8648700"/>
            <a:ext cx="1008955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COMPRA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4426446" y="8648700"/>
            <a:ext cx="1367969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POSTAGEM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599884" y="8648700"/>
            <a:ext cx="1164431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ENTREGA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2540209" y="8648700"/>
            <a:ext cx="1538992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AVALIAÇÃO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6091892" y="8648700"/>
            <a:ext cx="1367969" cy="336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7C82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RECOMPRA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952500" y="9556750"/>
            <a:ext cx="13290927" cy="349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7C829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FIAP · Tech Challenge · Fase 2 — Leonardo Granjeiro · Jorge Leandro Piva · Caio Sousa · Lucas Vinicius Oliveira Mendes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2138</Words>
  <Application>Microsoft Office PowerPoint</Application>
  <PresentationFormat>Custom</PresentationFormat>
  <Paragraphs>352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IBM Plex Mono</vt:lpstr>
      <vt:lpstr>Manrope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Olist · From Insight to Impact · Fase 2 · V5 final</dc:title>
  <dc:subject>PptxGenJS Presentation</dc:subject>
  <dc:creator>PptxGenJS</dc:creator>
  <cp:lastModifiedBy>Leonardo Granjeiro</cp:lastModifiedBy>
  <cp:revision>1</cp:revision>
  <dcterms:created xsi:type="dcterms:W3CDTF">2026-10-19T18:32:45Z</dcterms:created>
  <dcterms:modified xsi:type="dcterms:W3CDTF">2026-10-19T22:49:31Z</dcterms:modified>
</cp:coreProperties>
</file>