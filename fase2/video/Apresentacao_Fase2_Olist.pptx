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0:00–0:20] Na Fase 1 mostramos onde a Olist perde valor. A diretoria aprovou a continuidade, e hoje respondemos à pergunta seguinte: como os agentes vão funcionar dentro da operação e gerar valor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0:20–0:50] Ouvimos a avaliação da Fase 1: faltava mostrar de onde vinham os achados, os agentes estavam amplos demais e havia objetivos demais. Respondemos com três mudanças: cada achado agora tem uma cadeia de evidência, priorizamos três agentes e cada agente ganhou um objetivo único, gatilhos e uma lista fechada de 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[Leonardo · 0:50–1:20] Os dados mostram por onde começar. Quando o pedido atrasa, 54% dos clientes dão nota 1 ou 2, contra 9% no prazo. E um quarto dos atrasos começa antes da transportadora, com o seller postando depois do limite: aí o atraso sobe de 6,5% para 24,4%. Quem teve a primeira compra atrasada volta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[Leonardo · 1:20–1:40] Pontuamos os seis agentes em impacto, proximidade do core, evidência, viabilidade e risco. Três ficaram claramente à frente, e os três atuam em sequência na mesma jornada. SellerCare foi absorvido, SmartFreight foi para o backlog e o Maestro fica para a fase de orquestração.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[Caio · 1:40–2:10] O LogiPredict é o guardião do prazo: age no limite de postagem, na postagem e no D-3. O SentimentDesk faz a triagem de toda avaliação 1 a 3, responde e leva o problema a quem resolve. O WinBack trabalha só a janela da segunda compra, de 7 a 90 dias. Nenhum deles concede reembolso, troca transportadora ou dá incentivo alto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[Caio · 2:10–2:35] No LogiPredict, três decisões: o seller vai estourar o limite? O risco passou do limiar? A nova data passa do prazo? Só a última autoriza falar com o cliente; o analista de operações decide a tratativa.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[Lucas · 2:35–2:55] No SentimentDesk, o agente classifica com texto e dados do pedido. Confiança baixa ou caso crítico vai para o analista antes da resposta; motivo de entrega vira sinal para o LogiPredict.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[Lucas · 2:55–3:10] O WinBack checa consentimento e intervalo e pausa a oferta se a primeira experiência foi ruim. Incentivo acima de 10% precisa de aprovação, e 10% dos clientes ficam como grupo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[Lucas · 3:10–3:40] Um caso real. O cliente deu nota 1: "Só chegou a mochila, estou aguardando a lancheira". Uma regra de palavras-chave classificaria como "não recebido". O agente cruza com o pedido: 2 itens, entregue no prazo. Classifica como item faltando, responsabiliza o seller, abre ticket e responde ao cliente sem prometer o que não pode cumprir.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[Leonardo · 3:40–4:10] Juntando tudo num pedido real: o LogiPredict lembra o seller, detecta o risco 19 dias antes do prazo e avisa o cliente com nova data. Na avaliação nota 1, o SentimentDesk responde e o WinBack pausa a oferta. Resolvido o caso, a oferta de segunda compra volta, no momento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4:10–4:35] No cenário base: 672 atrasos evitados e 302 avaliações negativas a menos, 1.230 horas de triagem poupadas e 358 segundas compras adicionais. O ganho maior vem da combinação: menos atraso gera menos detrator e preserva a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4:35–5:00] Pedimos a aprovação de um piloto de 90 dias com LogiPredict e SentimentDesk, focado nas rotas do Nordeste, com grupo controle e as metas que mostramos. Não propomos mais agentes; propomos agentes melhores, começando pela origem do problema.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886"/>
                </a:solidFill>
                <a:latin typeface="Calibri"/>
              </a:rPr>
              <a:t>TECH CHALLENGE ·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Do diagnóstico à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BE8F9"/>
                </a:solidFill>
                <a:latin typeface="Calibri"/>
              </a:rPr>
              <a:t>Como três agentes de IA vão proteger a jornada do pedido na Olist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BE8F9"/>
                </a:solidFill>
                <a:latin typeface="Calibri"/>
              </a:rPr>
              <a:t>Leonardo Granjeiro · Jorge Leandro Piva · Caio Sousa · Lucas Vinicius Oliveira Mendes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BE8F9"/>
                </a:solidFill>
                <a:latin typeface="Calibri"/>
              </a:rPr>
              <a:t>Pós-graduação em IA Agêntica · FIAP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O que mudou da Fase 1 para a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De seis ideias de agentes para três agentes especializados, com operação desenhada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6F6F4"/>
          </a:solidFill>
          <a:ln w="19050">
            <a:solidFill>
              <a:srgbClr val="525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52514E"/>
                </a:solidFill>
                <a:latin typeface="Calibri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6 agentes, objetivos amplos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Achados sem caminho explícito até a decisão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Prompts genéricos com exemplos inventados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DF0EA"/>
          </a:solidFill>
          <a:ln w="3175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8288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6834"/>
                </a:solidFill>
                <a:latin typeface="Calibri"/>
              </a:rPr>
              <a:t>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65176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3 agentes na jornada do pedido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Cadeia de evidência: dado → método → decisão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Prompts com ações fechadas e casos reais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O problema nasce na jornada do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2_evidencia_atra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863840" cy="2829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4630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B6834"/>
                </a:solidFill>
                <a:latin typeface="Calibri"/>
              </a:rPr>
              <a:t>54% vs 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24028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notas 1–2 com atraso vs no prazo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0175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B6834"/>
                </a:solidFill>
                <a:latin typeface="Calibri"/>
              </a:rPr>
              <a:t>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dos atrasos começam na postagem do 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5720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349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das 2ªs compras acontecem em até 90 dias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Priorização: menos agentes, mais perto do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2_prioriz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950936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291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Detalhados na Fase 2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LogiPredict · 4,75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SentimentDesk · 4,60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WinBack · 4,20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Fora do escopo agora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SellerCare → absorvido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SmartFreight → backlog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Maestro → Fase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Três agentes, um papel 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Cada um com gatilho, lista fechada de ações e humano nas decisões de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57600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78D6"/>
                </a:solidFill>
                <a:latin typeface="Calibri"/>
              </a:rPr>
              <a:t>LogiPredict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Guardião do prazo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Gatilho: limite de postagem, postagem, D-3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Ações: lembrete, escalar, avisar cliente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Humano: tratativa com transportadora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KPI: atraso (8,11%)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 w="25400">
            <a:solidFill>
              <a:srgbClr val="62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3657600" cy="109728"/>
          </a:xfrm>
          <a:prstGeom prst="rect">
            <a:avLst/>
          </a:prstGeom>
          <a:solidFill>
            <a:srgbClr val="62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250D6"/>
                </a:solidFill>
                <a:latin typeface="Calibri"/>
              </a:rPr>
              <a:t>SentimentDesk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Triagem de avaliações 1–3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Gatilho: avaliação publicada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Ações: classificar, responder, rotear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Humano: casos críticos e compensação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KPI: tempo até 1ª resposta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002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 w="25400">
            <a:solidFill>
              <a:srgbClr val="00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600200"/>
            <a:ext cx="3657600" cy="10972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288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8300"/>
                </a:solidFill>
                <a:latin typeface="Calibri"/>
              </a:rPr>
              <a:t>WinBack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2316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Segunda compra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Gatilho: D+7 após a 1ª entrega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Ações: pausar, mensagem, incentivo ≤ 10%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Humano: incentivo &gt; 10%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KPI: conversão 90d (1,13%)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Como opera: LogiPredict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luxo_logi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11247120" cy="5880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Como opera: SentimentDesk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luxo_sentimentde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11247120" cy="51207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Como opera: WinBack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luxo_win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11247120" cy="5868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Exemplo de interação real: SentimentDesk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Avaliação real do dataset processada pelo prompt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514E"/>
                </a:solidFill>
                <a:latin typeface="Calibri"/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Nota </a:t>
            </a:r>
            <a:r>
              <a:rPr sz="1700" b="1">
                <a:solidFill>
                  <a:srgbClr val="0B0B0B"/>
                </a:solidFill>
                <a:latin typeface="Calibri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"Só chegou a mochila, estou aguardando a lancheira... Quando chegar a lancheira dou mais estrelas."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Pedido: </a:t>
            </a:r>
            <a:r>
              <a:rPr sz="1700" b="1">
                <a:solidFill>
                  <a:srgbClr val="0B0B0B"/>
                </a:solidFill>
                <a:latin typeface="Calibri"/>
              </a:rPr>
              <a:t>2 itens</a:t>
            </a:r>
            <a:r>
              <a:rPr sz="1700" b="0">
                <a:solidFill>
                  <a:srgbClr val="0B0B0B"/>
                </a:solidFill>
                <a:latin typeface="Calibri"/>
              </a:rPr>
              <a:t>, 1 seller, papelaria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Prazo 12/01 · entregue </a:t>
            </a:r>
            <a:r>
              <a:rPr sz="1700" b="1">
                <a:solidFill>
                  <a:srgbClr val="0B0B0B"/>
                </a:solidFill>
                <a:latin typeface="Calibri"/>
              </a:rPr>
              <a:t>03/01 (no prazo)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Calibri"/>
              </a:rPr>
              <a:t>SAÍDA DO AGENTE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Motivo: </a:t>
            </a:r>
            <a:r>
              <a:rPr sz="1700" b="1">
                <a:solidFill>
                  <a:srgbClr val="0B0B0B"/>
                </a:solidFill>
                <a:latin typeface="Calibri"/>
              </a:rPr>
              <a:t>PEDIDO_ITEM_FALTANDO</a:t>
            </a:r>
            <a:r>
              <a:rPr sz="1700" b="0">
                <a:solidFill>
                  <a:srgbClr val="0B0B0B"/>
                </a:solidFill>
                <a:latin typeface="Calibri"/>
              </a:rPr>
              <a:t> (0,90)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Severidade: ALTA · Responsável: </a:t>
            </a:r>
            <a:r>
              <a:rPr sz="1700" b="1">
                <a:solidFill>
                  <a:srgbClr val="0B0B0B"/>
                </a:solidFill>
                <a:latin typeface="Calibri"/>
              </a:rPr>
              <a:t>SELLER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Roteamento: ticket ao seller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"Sentimos muito: seu pedido deveria ter chegado completo. Já abrimos uma solicitação para localizar a lancheira. Em até 2 dias úteis você recebe nosso retorno."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Os três juntos: o pedido que ia atrasar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Pedido real: MG → MA, postado 4 dias após o limite, entregue 10 dias depois do prazo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jornada_multiag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11247120" cy="47608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Valor esperado (cenário base, 12 meses, escala do 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Premissas conservadoras; validação com grupo controle no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atrasos evitados · 302 notas 1–2 a menos (LogiPredict)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6250D6"/>
                </a:solidFill>
                <a:latin typeface="Calibri"/>
              </a:rPr>
              <a:t>1.230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de triagem poupadas · R$ 55 mil (SentimentDesk)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8300"/>
                </a:solidFill>
                <a:latin typeface="Calibri"/>
              </a:rPr>
              <a:t>358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2ªs compras adicionais · R$ 53 mil (WinBack)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6.689 postagens atrasadas × 20,1 p.p. de atraso × 50% eliminado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11.711 avaliações 1–2 × 70% × 9 min poupados ÷ 60 × R$ 45/h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4612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71.693 novos clientes × +0,5 p.p. de conversão × R$ 148,35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Metas do piloto (90 dias):</a:t>
            </a:r>
            <a:r>
              <a:rPr sz="1600" b="0">
                <a:solidFill>
                  <a:srgbClr val="0B0B0B"/>
                </a:solidFill>
                <a:latin typeface="Calibri"/>
              </a:rPr>
              <a:t> −1 p.p. de atraso nas rotas do Nordeste · 90% das avaliações respondidas em &lt; 24h · ≥ 85% de classificação correta · falso positivo do aviso ≤ 20%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Governança:</a:t>
            </a:r>
            <a:r>
              <a:rPr sz="1600" b="0">
                <a:solidFill>
                  <a:srgbClr val="0B0B0B"/>
                </a:solidFill>
                <a:latin typeface="Calibri"/>
              </a:rPr>
              <a:t> agente executa o que é reversível; pessoas decidem compensação, transportadora e incentivo acima do teto.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Memória de cálculo completa (entradas, premissas e contas): Seção 13.4 do relatório.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Nossa recomendação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>
                <a:solidFill>
                  <a:srgbClr val="1F3A5F"/>
                </a:solidFill>
                <a:latin typeface="Calibri"/>
              </a:rPr>
              <a:t>Aprovar o piloto da </a:t>
            </a:r>
            <a:r>
              <a:rPr sz="3200" b="1">
                <a:solidFill>
                  <a:srgbClr val="1F3A5F"/>
                </a:solidFill>
                <a:latin typeface="Calibri"/>
              </a:rPr>
              <a:t>Wave 1 (LogiPredict + SentimentDesk)</a:t>
            </a:r>
            <a:r>
              <a:rPr sz="3200" b="0">
                <a:solidFill>
                  <a:srgbClr val="1F3A5F"/>
                </a:solidFill>
                <a:latin typeface="Calibri"/>
              </a:rPr>
              <a:t> por 90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Dados que a Olist já possui; nenhuma ação irreversível automática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Foco nas rotas do Nordeste (15–24% de atraso), com grupo controle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Wave 2: WinBack · Wave 3: SellerCare e SmartFreight · Fase 4: orquestração (Maestro)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Próximo passo (Fase 3): protótipo low-code com os casos reais deste estudo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B6834"/>
                </a:solidFill>
                <a:latin typeface="Calibri"/>
              </a:rPr>
              <a:t>"Não propomos mais agentes; propomos agentes melhores."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