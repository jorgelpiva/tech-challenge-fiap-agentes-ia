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0" d="100"/>
          <a:sy n="50" d="100"/>
        </p:scale>
        <p:origin x="300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0754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LEONARDO · ~13s — Na primeira fase, identificamos onde a jornada de compra da Olist perde valor. Agora mostramos como transformar esses achados em agentes de inteligência artificial com responsabilidades e decisões bem definidas.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LEONARDO · ~16s — Nossa recomendação é objetiva: aprovar um piloto controlado de 90 dias com LogiPredict e SentimentDesk, em rotas selecionadas do Nordeste, com grupo de controle e supervisão humana. O WinBack fica para uma expansão futura, condicionada aos resultados.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LEONARDO · ~20s — Na Fase 1, mapeamos seis oportunidades de IA e diagnosticamos as fricções da jornada. Nesta fase, priorizamos três agentes e descemos ao nível operacional: dados rastreáveis, prompts desenhados com contexto e ações delimitadas. Saímos das possibilidades para uma solução que pode ser testada com responsabilidade.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JORGE · ~34s — Começamos pela jornada do pedido. 8,11% das entregas atrasaram, e cerca de 27% desses atrasos estão associados à postagem tardia do vendedor. Com atraso, 54% das avaliações são de uma ou duas estrelas, contra 9% no prazo. E quem teve a primeira compra atrasada recompra menos: 1,56% contra 2,13%. São associações históricas, não prova de causa.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JORGE · ~24s — Pontuamos os seis agentes em cinco critérios ponderados. Os três primeiros atuam em sequência na mesma jornada: o LogiPredict antes da entrega, o SentimentDesk depois da avaliação e o WinBack na segunda compra. E foram desenhados para se integrar: o risco de atraso dá contexto à triagem, e um problema em aberto suspende qualquer oferta.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JORGE · ~23s — Cada agente tem uma missão, uma decisão e um limite. O LogiPredict antecipa riscos de atraso, mas não troca transportadora nem concede compensação. O SentimentDesk interpreta a avaliação e define o tratamento; casos críticos vão para uma pessoa. O WinBack decide se e quando abordar o cliente, respeitando consentimento e experiência anterior.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CAIO · ~31s — Todos seguem o mesmo fluxo: gatilho, análise, decisão e ação permitida. O LogiPredict atua em três momentos: limite de postagem, postagem efetiva e três dias antes do prazo; só recomenda comunicar o cliente quando a projeção indica atraso. No SentimentDesk, se a confiança fica abaixo de 0,8 ou o caso é crítico, um analista assume. O WinBack verifica consentimento e pendências antes de qualquer contato. As decisões sensíveis continuam com pessoas.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CAIO · ~30s — Um pedido real, de Minas Gerais para o Maranhão: postado quatro dias após o limite e entregue dez dias depois do prazo; depois, o cliente avaliou com nota um. Na simulação, o LogiPredict alertaria operações já na postagem, dezenove dias antes do prazo, e recomendaria avisar o cliente se a projeção indicasse atraso. O SentimentDesk trataria a avaliação e o WinBack suspenderia a oferta. Não afirmamos que o atraso seria evitado.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CAIO · ~23s — O diferencial está na interpretação. O cliente escreveu: “Só chegou a mochila, estou aguardando a lancheira.” Uma leitura superficial trataria o pedido como não recebido. Considerando os dois itens e o status de entrega, o SentimentDesk deve identificar um item faltante e encaminhar o caso ao responsável, sem prometer o que não pode autorizar.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LUCAS · ~30s — Na escala anual da amostra histórica, o cenário base projeta 672 atrasos e 302 avaliações negativas potencialmente evitados, além de 1.230 horas de triagem poupadas, cerca de 55 mil reais em capacidade operacional, não em caixa. Na expansão futura, o WinBack projeta 358 segundas compras adicionais. São projeções, não resultados nem metas dos 90 dias.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LUCAS · ~23s — Por isso, começamos com dois agentes, por 90 dias, com grupo de controle. No dia 90, a decisão considera qualidade e segurança, benefício incremental e viabilidade econômica: escalar, ajustar ou encerrar. Só depois avançam o WinBack, as demais capacidades e o Maestro. No curso, a próxima etapa é prototipar os dois agentes em low-code.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LUCAS · ~9s — Não propomos mais agentes. Propomos agentes melhores, com propósito, limites e impacto mensurável. A decisão agora é validar. Obrigado.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6263"/>
            <a:ext cx="512982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FIAP · TECH CHALLENGE · FASE 2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1684298" y="890587"/>
            <a:ext cx="1399084" cy="25400"/>
          </a:xfrm>
          <a:prstGeom prst="rect">
            <a:avLst/>
          </a:prstGeom>
          <a:solidFill>
            <a:srgbClr val="F0B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684298" y="534988"/>
            <a:ext cx="147528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F3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DESCOBRIR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464382" y="533400"/>
            <a:ext cx="131980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DESENHAR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088989" y="533400"/>
            <a:ext cx="1164431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ESCALAR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558221" y="533400"/>
            <a:ext cx="85348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01/12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52500" y="2190750"/>
            <a:ext cx="4938395" cy="16138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8933"/>
              </a:lnSpc>
              <a:buNone/>
            </a:pPr>
            <a:r>
              <a:rPr lang="en-US" sz="13200" b="1" kern="0" spc="-462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FROM</a:t>
            </a:r>
            <a:endParaRPr lang="en-US" sz="13200" dirty="0"/>
          </a:p>
        </p:txBody>
      </p:sp>
      <p:sp>
        <p:nvSpPr>
          <p:cNvPr id="9" name="Text 7"/>
          <p:cNvSpPr/>
          <p:nvPr/>
        </p:nvSpPr>
        <p:spPr>
          <a:xfrm>
            <a:off x="5861050" y="2190750"/>
            <a:ext cx="7066419" cy="16138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8933"/>
              </a:lnSpc>
              <a:buNone/>
            </a:pPr>
            <a:r>
              <a:rPr lang="en-US" sz="13200" b="1" kern="0" spc="-462" dirty="0">
                <a:solidFill>
                  <a:srgbClr val="F0B5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INSIGHT</a:t>
            </a:r>
            <a:endParaRPr lang="en-US" sz="13200" dirty="0"/>
          </a:p>
        </p:txBody>
      </p:sp>
      <p:sp>
        <p:nvSpPr>
          <p:cNvPr id="10" name="Text 8"/>
          <p:cNvSpPr/>
          <p:nvPr/>
        </p:nvSpPr>
        <p:spPr>
          <a:xfrm>
            <a:off x="952500" y="3766542"/>
            <a:ext cx="2393672" cy="16138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8933"/>
              </a:lnSpc>
              <a:buNone/>
            </a:pPr>
            <a:r>
              <a:rPr lang="en-US" sz="13200" b="1" kern="0" spc="-462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</a:t>
            </a:r>
            <a:endParaRPr lang="en-US" sz="13200" dirty="0"/>
          </a:p>
        </p:txBody>
      </p:sp>
      <p:sp>
        <p:nvSpPr>
          <p:cNvPr id="11" name="Text 9"/>
          <p:cNvSpPr/>
          <p:nvPr/>
        </p:nvSpPr>
        <p:spPr>
          <a:xfrm>
            <a:off x="3547666" y="3766542"/>
            <a:ext cx="6574086" cy="16138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8933"/>
              </a:lnSpc>
              <a:buNone/>
            </a:pPr>
            <a:r>
              <a:rPr lang="en-US" sz="13200" b="1" kern="0" spc="-462" dirty="0">
                <a:solidFill>
                  <a:srgbClr val="3CCFB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IMPACT</a:t>
            </a:r>
            <a:endParaRPr lang="en-US" sz="13200" dirty="0"/>
          </a:p>
        </p:txBody>
      </p:sp>
      <p:sp>
        <p:nvSpPr>
          <p:cNvPr id="12" name="Text 10"/>
          <p:cNvSpPr/>
          <p:nvPr/>
        </p:nvSpPr>
        <p:spPr>
          <a:xfrm>
            <a:off x="952500" y="5761434"/>
            <a:ext cx="14650929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463"/>
              </a:lnSpc>
              <a:buNone/>
            </a:pPr>
            <a:r>
              <a:rPr lang="en-US" sz="3000" b="1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Olist Intelligent Marketplace | Agentes de IA aplicados à jornada do pedido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952500" y="6371034"/>
            <a:ext cx="14650929" cy="44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692"/>
              </a:lnSpc>
              <a:buNone/>
            </a:pPr>
            <a:r>
              <a:rPr lang="en-US" sz="2400" dirty="0">
                <a:solidFill>
                  <a:srgbClr val="A3A8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 identificação dos problemas ao desenho de agentes capazes de atuar sobre eles.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52500" y="8382000"/>
            <a:ext cx="16383000" cy="19050"/>
          </a:xfrm>
          <a:prstGeom prst="rect">
            <a:avLst/>
          </a:prstGeom>
          <a:solidFill>
            <a:srgbClr val="2A3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096125" y="7810500"/>
            <a:ext cx="19050" cy="571500"/>
          </a:xfrm>
          <a:prstGeom prst="rect">
            <a:avLst/>
          </a:prstGeom>
          <a:solidFill>
            <a:srgbClr val="8E7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3239750" y="7810500"/>
            <a:ext cx="19050" cy="571500"/>
          </a:xfrm>
          <a:prstGeom prst="rect">
            <a:avLst/>
          </a:prstGeom>
          <a:solidFill>
            <a:srgbClr val="8E7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5287625" y="7810500"/>
            <a:ext cx="19050" cy="571500"/>
          </a:xfrm>
          <a:prstGeom prst="rect">
            <a:avLst/>
          </a:prstGeom>
          <a:solidFill>
            <a:srgbClr val="8E7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000875" y="7715250"/>
            <a:ext cx="209550" cy="209550"/>
          </a:xfrm>
          <a:prstGeom prst="ellipse">
            <a:avLst/>
          </a:prstGeom>
          <a:solidFill>
            <a:srgbClr val="8E7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3144500" y="7715250"/>
            <a:ext cx="209550" cy="209550"/>
          </a:xfrm>
          <a:prstGeom prst="ellipse">
            <a:avLst/>
          </a:prstGeom>
          <a:solidFill>
            <a:srgbClr val="8E7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5192375" y="7715250"/>
            <a:ext cx="209550" cy="209550"/>
          </a:xfrm>
          <a:prstGeom prst="ellipse">
            <a:avLst/>
          </a:prstGeom>
          <a:solidFill>
            <a:srgbClr val="8E7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85825" y="8324850"/>
            <a:ext cx="133350" cy="133350"/>
          </a:xfrm>
          <a:prstGeom prst="ellipse">
            <a:avLst/>
          </a:prstGeom>
          <a:solidFill>
            <a:srgbClr val="F3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981575" y="8324850"/>
            <a:ext cx="133350" cy="133350"/>
          </a:xfrm>
          <a:prstGeom prst="ellipse">
            <a:avLst/>
          </a:prstGeom>
          <a:solidFill>
            <a:srgbClr val="F3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077325" y="8324850"/>
            <a:ext cx="133350" cy="133350"/>
          </a:xfrm>
          <a:prstGeom prst="ellipse">
            <a:avLst/>
          </a:prstGeom>
          <a:solidFill>
            <a:srgbClr val="F3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3173075" y="8324850"/>
            <a:ext cx="133350" cy="133350"/>
          </a:xfrm>
          <a:prstGeom prst="ellipse">
            <a:avLst/>
          </a:prstGeom>
          <a:solidFill>
            <a:srgbClr val="F3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7268825" y="8324850"/>
            <a:ext cx="133350" cy="133350"/>
          </a:xfrm>
          <a:prstGeom prst="ellipse">
            <a:avLst/>
          </a:prstGeom>
          <a:solidFill>
            <a:srgbClr val="3CCF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52500" y="8648700"/>
            <a:ext cx="1008955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COMPRA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426446" y="8648700"/>
            <a:ext cx="1367969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POSTAGEM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599884" y="8648700"/>
            <a:ext cx="1164431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ENTREGA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2540209" y="8648700"/>
            <a:ext cx="1538992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AVALIAÇÃO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6091892" y="8648700"/>
            <a:ext cx="1367969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RECOMPRA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52500" y="9556750"/>
            <a:ext cx="13018731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C82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Leonardo Granjeiro · Jorge Leandro Piva · Caio Sousa · Lucas Vinicius Oliveira Mendes — Pós-graduação em IA, FIAP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6263"/>
            <a:ext cx="512982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OLIST · FROM INSIGHT TO IMPACT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1684298" y="890587"/>
            <a:ext cx="1399084" cy="25400"/>
          </a:xfrm>
          <a:prstGeom prst="rect">
            <a:avLst/>
          </a:prstGeom>
          <a:solidFill>
            <a:srgbClr val="F0B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684298" y="534988"/>
            <a:ext cx="147528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F3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DESCOBRIR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464382" y="533400"/>
            <a:ext cx="131980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DESENHAR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088989" y="533400"/>
            <a:ext cx="1164431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ESCALAR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558221" y="533400"/>
            <a:ext cx="85348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02/12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52500" y="1428750"/>
            <a:ext cx="163830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F0B54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DECISÃO SOLICITADA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52500" y="1898650"/>
            <a:ext cx="14716125" cy="131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951"/>
              </a:lnSpc>
              <a:buNone/>
            </a:pPr>
            <a:r>
              <a:rPr lang="en-US" sz="4500" b="1" kern="0" spc="-90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Nossa recomendação: validar dois agentes em 90 dias.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952500" y="3712171"/>
            <a:ext cx="6496050" cy="3162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0000"/>
              </a:lnSpc>
              <a:buNone/>
            </a:pPr>
            <a:r>
              <a:rPr lang="en-US" sz="30000" b="1" kern="0" spc="-1500" dirty="0">
                <a:solidFill>
                  <a:srgbClr val="3CCFB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90</a:t>
            </a:r>
            <a:endParaRPr lang="en-US" sz="30000" dirty="0"/>
          </a:p>
        </p:txBody>
      </p:sp>
      <p:sp>
        <p:nvSpPr>
          <p:cNvPr id="11" name="Text 9"/>
          <p:cNvSpPr/>
          <p:nvPr/>
        </p:nvSpPr>
        <p:spPr>
          <a:xfrm>
            <a:off x="952500" y="7122121"/>
            <a:ext cx="649605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52" dirty="0">
                <a:solidFill>
                  <a:srgbClr val="F3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DIAS DE PILOTO CONTROLADO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620000" y="3883621"/>
            <a:ext cx="3371790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90" dirty="0">
                <a:solidFill>
                  <a:srgbClr val="8E7C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LogiPredict</a:t>
            </a:r>
            <a:endParaRPr lang="en-US" sz="4500" dirty="0"/>
          </a:p>
        </p:txBody>
      </p:sp>
      <p:sp>
        <p:nvSpPr>
          <p:cNvPr id="13" name="Text 11"/>
          <p:cNvSpPr/>
          <p:nvPr/>
        </p:nvSpPr>
        <p:spPr>
          <a:xfrm>
            <a:off x="10951964" y="3966170"/>
            <a:ext cx="361752" cy="711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dirty="0">
                <a:solidFill>
                  <a:srgbClr val="7C82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11504216" y="3883621"/>
            <a:ext cx="4552583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90" dirty="0">
                <a:solidFill>
                  <a:srgbClr val="8E7C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SentimentDesk</a:t>
            </a:r>
            <a:endParaRPr lang="en-US" sz="4500" dirty="0"/>
          </a:p>
        </p:txBody>
      </p:sp>
      <p:sp>
        <p:nvSpPr>
          <p:cNvPr id="15" name="Shape 13"/>
          <p:cNvSpPr/>
          <p:nvPr/>
        </p:nvSpPr>
        <p:spPr>
          <a:xfrm>
            <a:off x="7620000" y="4836121"/>
            <a:ext cx="9715500" cy="19050"/>
          </a:xfrm>
          <a:prstGeom prst="rect">
            <a:avLst/>
          </a:prstGeom>
          <a:solidFill>
            <a:srgbClr val="2A3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20000" y="5026621"/>
            <a:ext cx="1000696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984"/>
              </a:lnSpc>
              <a:buNone/>
            </a:pPr>
            <a:r>
              <a:rPr lang="en-US" sz="2250" dirty="0">
                <a:solidFill>
                  <a:srgbClr val="A3A8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Prevenção de atrasos antes da entrega e triagem das avaliações negativas depois dela: dois elos da mesma jornada.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7620000" y="6328371"/>
            <a:ext cx="114300" cy="114300"/>
          </a:xfrm>
          <a:prstGeom prst="rect">
            <a:avLst/>
          </a:prstGeom>
          <a:solidFill>
            <a:srgbClr val="3CCF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905750" y="6179146"/>
            <a:ext cx="4993729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Rotas selecionadas do Nordeste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7620000" y="6893521"/>
            <a:ext cx="114300" cy="114300"/>
          </a:xfrm>
          <a:prstGeom prst="rect">
            <a:avLst/>
          </a:prstGeom>
          <a:solidFill>
            <a:srgbClr val="3CCF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905750" y="6744295"/>
            <a:ext cx="4630946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Grupo de controle comparável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7620000" y="7458670"/>
            <a:ext cx="114300" cy="114300"/>
          </a:xfrm>
          <a:prstGeom prst="rect">
            <a:avLst/>
          </a:prstGeom>
          <a:solidFill>
            <a:srgbClr val="3CCF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905750" y="7309446"/>
            <a:ext cx="10055453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Supervisão humana e avaliação técnica, operacional e econômica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952500" y="8166100"/>
            <a:ext cx="16383000" cy="19050"/>
          </a:xfrm>
          <a:prstGeom prst="rect">
            <a:avLst/>
          </a:prstGeom>
          <a:solidFill>
            <a:srgbClr val="2A3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52500" y="8394700"/>
            <a:ext cx="859155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3CCFB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PILOTO AGORA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52500" y="8769350"/>
            <a:ext cx="859155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Prevenção de atrasos e triagem de avaliações.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144000" y="8185150"/>
            <a:ext cx="19050" cy="952500"/>
          </a:xfrm>
          <a:prstGeom prst="rect">
            <a:avLst/>
          </a:prstGeom>
          <a:solidFill>
            <a:srgbClr val="2A3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544050" y="8394700"/>
            <a:ext cx="8570595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EXPANSÃO FUTURA · CONDICIONADA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544050" y="8769350"/>
            <a:ext cx="8570595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A3A8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Conversão em segunda compra com WinBack.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952500" y="9309100"/>
            <a:ext cx="16383000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C82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Rotas finais sujeitas à confirmação de volume elegível e viabilidade operacional.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952500" y="576263"/>
            <a:ext cx="512982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144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OLIST · FROM INSIGHT TO IMPACT</a:t>
            </a:r>
            <a:endParaRPr lang="pt-BR" sz="1800" dirty="0"/>
          </a:p>
        </p:txBody>
      </p:sp>
      <p:sp>
        <p:nvSpPr>
          <p:cNvPr id="3" name="Shape 3"/>
          <p:cNvSpPr/>
          <p:nvPr/>
        </p:nvSpPr>
        <p:spPr>
          <a:xfrm>
            <a:off x="11684298" y="890587"/>
            <a:ext cx="1399084" cy="25400"/>
          </a:xfrm>
          <a:prstGeom prst="rect">
            <a:avLst/>
          </a:prstGeom>
          <a:solidFill>
            <a:srgbClr val="F0B54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4"/>
          <p:cNvSpPr/>
          <p:nvPr/>
        </p:nvSpPr>
        <p:spPr>
          <a:xfrm>
            <a:off x="11684298" y="534988"/>
            <a:ext cx="147528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144" dirty="0">
                <a:solidFill>
                  <a:srgbClr val="F3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DESCOBRIR</a:t>
            </a:r>
            <a:endParaRPr lang="pt-BR" sz="1800" dirty="0"/>
          </a:p>
        </p:txBody>
      </p:sp>
      <p:sp>
        <p:nvSpPr>
          <p:cNvPr id="5" name="Text 5"/>
          <p:cNvSpPr/>
          <p:nvPr/>
        </p:nvSpPr>
        <p:spPr>
          <a:xfrm>
            <a:off x="13464382" y="533400"/>
            <a:ext cx="131980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144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DESENHAR</a:t>
            </a:r>
            <a:endParaRPr lang="pt-BR" sz="1800" dirty="0"/>
          </a:p>
        </p:txBody>
      </p:sp>
      <p:sp>
        <p:nvSpPr>
          <p:cNvPr id="6" name="Text 6"/>
          <p:cNvSpPr/>
          <p:nvPr/>
        </p:nvSpPr>
        <p:spPr>
          <a:xfrm>
            <a:off x="15088989" y="533400"/>
            <a:ext cx="1164431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144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ESCALAR</a:t>
            </a:r>
            <a:endParaRPr lang="pt-BR" sz="1800" dirty="0"/>
          </a:p>
        </p:txBody>
      </p:sp>
      <p:sp>
        <p:nvSpPr>
          <p:cNvPr id="7" name="Text 7"/>
          <p:cNvSpPr/>
          <p:nvPr/>
        </p:nvSpPr>
        <p:spPr>
          <a:xfrm>
            <a:off x="16558221" y="533400"/>
            <a:ext cx="85348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144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03/12</a:t>
            </a:r>
            <a:endParaRPr lang="pt-BR" sz="1800" dirty="0"/>
          </a:p>
        </p:txBody>
      </p:sp>
      <p:sp>
        <p:nvSpPr>
          <p:cNvPr id="8" name="Text 8"/>
          <p:cNvSpPr/>
          <p:nvPr/>
        </p:nvSpPr>
        <p:spPr>
          <a:xfrm>
            <a:off x="952500" y="1428750"/>
            <a:ext cx="163830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216" dirty="0">
                <a:solidFill>
                  <a:srgbClr val="F0B54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 FASE 1 PARA A FASE 2</a:t>
            </a:r>
            <a:endParaRPr lang="pt-BR" sz="1800" dirty="0"/>
          </a:p>
        </p:txBody>
      </p:sp>
      <p:sp>
        <p:nvSpPr>
          <p:cNvPr id="9" name="Text 9"/>
          <p:cNvSpPr/>
          <p:nvPr/>
        </p:nvSpPr>
        <p:spPr>
          <a:xfrm>
            <a:off x="952500" y="1898650"/>
            <a:ext cx="13735050" cy="131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951"/>
              </a:lnSpc>
              <a:buNone/>
            </a:pPr>
            <a:r>
              <a:rPr lang="pt-BR" sz="4500" b="1" kern="0" spc="-90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 seis oportunidades a três agentes com decisões definidas.</a:t>
            </a:r>
            <a:endParaRPr lang="pt-BR" sz="4500" dirty="0"/>
          </a:p>
        </p:txBody>
      </p:sp>
      <p:sp>
        <p:nvSpPr>
          <p:cNvPr id="10" name="Text 10"/>
          <p:cNvSpPr/>
          <p:nvPr/>
        </p:nvSpPr>
        <p:spPr>
          <a:xfrm>
            <a:off x="952500" y="3667125"/>
            <a:ext cx="76200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216" dirty="0">
                <a:solidFill>
                  <a:srgbClr val="F0B54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FASE 1 · IDENTIFICAR</a:t>
            </a:r>
            <a:endParaRPr lang="pt-BR" sz="1800" dirty="0"/>
          </a:p>
        </p:txBody>
      </p:sp>
      <p:sp>
        <p:nvSpPr>
          <p:cNvPr id="11" name="Text 11"/>
          <p:cNvSpPr/>
          <p:nvPr/>
        </p:nvSpPr>
        <p:spPr>
          <a:xfrm>
            <a:off x="952500" y="4076700"/>
            <a:ext cx="78105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2100" dirty="0">
                <a:solidFill>
                  <a:srgbClr val="A3A8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Seis oportunidades de IA · diagnóstico das fricções da jornada · proposta conceitual</a:t>
            </a:r>
            <a:endParaRPr lang="pt-BR" sz="2100" dirty="0"/>
          </a:p>
        </p:txBody>
      </p:sp>
      <p:sp>
        <p:nvSpPr>
          <p:cNvPr id="12" name="Text 12"/>
          <p:cNvSpPr/>
          <p:nvPr/>
        </p:nvSpPr>
        <p:spPr>
          <a:xfrm>
            <a:off x="10668000" y="3667125"/>
            <a:ext cx="66675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216" dirty="0">
                <a:solidFill>
                  <a:srgbClr val="8E7C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FASE 2 · OPERACIONALIZAR</a:t>
            </a:r>
            <a:endParaRPr lang="pt-BR" sz="1800" dirty="0"/>
          </a:p>
        </p:txBody>
      </p:sp>
      <p:sp>
        <p:nvSpPr>
          <p:cNvPr id="13" name="Text 13"/>
          <p:cNvSpPr/>
          <p:nvPr/>
        </p:nvSpPr>
        <p:spPr>
          <a:xfrm>
            <a:off x="10668000" y="4076700"/>
            <a:ext cx="66675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2100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Três agentes priorizados · jornadas e decisões detalhadas · limites de autonomia · indicadores e validação</a:t>
            </a:r>
            <a:endParaRPr lang="pt-BR" sz="2100" dirty="0"/>
          </a:p>
        </p:txBody>
      </p:sp>
      <p:sp>
        <p:nvSpPr>
          <p:cNvPr id="14" name="Text 14"/>
          <p:cNvSpPr/>
          <p:nvPr/>
        </p:nvSpPr>
        <p:spPr>
          <a:xfrm>
            <a:off x="4476750" y="5219700"/>
            <a:ext cx="53340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180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PRIORIZAÇÃO PONDERADA</a:t>
            </a:r>
            <a:endParaRPr lang="pt-BR" sz="1800" dirty="0"/>
          </a:p>
        </p:txBody>
      </p:sp>
      <p:sp>
        <p:nvSpPr>
          <p:cNvPr id="15" name="Text 15"/>
          <p:cNvSpPr/>
          <p:nvPr/>
        </p:nvSpPr>
        <p:spPr>
          <a:xfrm>
            <a:off x="952500" y="5686425"/>
            <a:ext cx="30480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2400" b="1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LogiPredict</a:t>
            </a:r>
            <a:endParaRPr lang="pt-BR" sz="2400" dirty="0"/>
          </a:p>
        </p:txBody>
      </p:sp>
      <p:sp>
        <p:nvSpPr>
          <p:cNvPr id="16" name="Shape 16"/>
          <p:cNvSpPr/>
          <p:nvPr/>
        </p:nvSpPr>
        <p:spPr>
          <a:xfrm>
            <a:off x="4057650" y="5829300"/>
            <a:ext cx="152400" cy="152400"/>
          </a:xfrm>
          <a:prstGeom prst="ellipse">
            <a:avLst/>
          </a:prstGeom>
          <a:solidFill>
            <a:srgbClr val="8E7C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7"/>
          <p:cNvSpPr/>
          <p:nvPr/>
        </p:nvSpPr>
        <p:spPr>
          <a:xfrm>
            <a:off x="4210050" y="5891213"/>
            <a:ext cx="5905500" cy="28575"/>
          </a:xfrm>
          <a:prstGeom prst="rect">
            <a:avLst/>
          </a:prstGeom>
          <a:solidFill>
            <a:srgbClr val="8E7C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8"/>
          <p:cNvSpPr/>
          <p:nvPr/>
        </p:nvSpPr>
        <p:spPr>
          <a:xfrm>
            <a:off x="952500" y="6219825"/>
            <a:ext cx="30480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2400" b="1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SentimentDesk</a:t>
            </a:r>
            <a:endParaRPr lang="pt-BR" sz="2400" dirty="0"/>
          </a:p>
        </p:txBody>
      </p:sp>
      <p:sp>
        <p:nvSpPr>
          <p:cNvPr id="19" name="Shape 19"/>
          <p:cNvSpPr/>
          <p:nvPr/>
        </p:nvSpPr>
        <p:spPr>
          <a:xfrm>
            <a:off x="4057650" y="6362700"/>
            <a:ext cx="152400" cy="152400"/>
          </a:xfrm>
          <a:prstGeom prst="ellipse">
            <a:avLst/>
          </a:prstGeom>
          <a:solidFill>
            <a:srgbClr val="8E7C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20"/>
          <p:cNvSpPr/>
          <p:nvPr/>
        </p:nvSpPr>
        <p:spPr>
          <a:xfrm>
            <a:off x="4210050" y="6424613"/>
            <a:ext cx="5905500" cy="28575"/>
          </a:xfrm>
          <a:prstGeom prst="rect">
            <a:avLst/>
          </a:prstGeom>
          <a:solidFill>
            <a:srgbClr val="8E7C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21"/>
          <p:cNvSpPr/>
          <p:nvPr/>
        </p:nvSpPr>
        <p:spPr>
          <a:xfrm>
            <a:off x="952500" y="6753225"/>
            <a:ext cx="30480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2400" b="1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WinBack</a:t>
            </a:r>
            <a:endParaRPr lang="pt-BR" sz="2400" dirty="0"/>
          </a:p>
        </p:txBody>
      </p:sp>
      <p:sp>
        <p:nvSpPr>
          <p:cNvPr id="22" name="Shape 22"/>
          <p:cNvSpPr/>
          <p:nvPr/>
        </p:nvSpPr>
        <p:spPr>
          <a:xfrm>
            <a:off x="4057650" y="6896100"/>
            <a:ext cx="152400" cy="152400"/>
          </a:xfrm>
          <a:prstGeom prst="ellipse">
            <a:avLst/>
          </a:prstGeom>
          <a:solidFill>
            <a:srgbClr val="8E7C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23"/>
          <p:cNvSpPr/>
          <p:nvPr/>
        </p:nvSpPr>
        <p:spPr>
          <a:xfrm>
            <a:off x="4210050" y="6958013"/>
            <a:ext cx="5905500" cy="28575"/>
          </a:xfrm>
          <a:prstGeom prst="rect">
            <a:avLst/>
          </a:prstGeom>
          <a:solidFill>
            <a:srgbClr val="8E7C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4"/>
          <p:cNvSpPr/>
          <p:nvPr/>
        </p:nvSpPr>
        <p:spPr>
          <a:xfrm>
            <a:off x="952500" y="7286625"/>
            <a:ext cx="30480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2400" dirty="0">
                <a:solidFill>
                  <a:srgbClr val="7C82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SellerCare</a:t>
            </a:r>
            <a:endParaRPr lang="pt-BR" sz="2400" dirty="0"/>
          </a:p>
        </p:txBody>
      </p:sp>
      <p:sp>
        <p:nvSpPr>
          <p:cNvPr id="25" name="Shape 25"/>
          <p:cNvSpPr/>
          <p:nvPr/>
        </p:nvSpPr>
        <p:spPr>
          <a:xfrm>
            <a:off x="4067175" y="7439025"/>
            <a:ext cx="133350" cy="133350"/>
          </a:xfrm>
          <a:prstGeom prst="ellipse">
            <a:avLst/>
          </a:prstGeom>
          <a:solidFill>
            <a:srgbClr val="0A0D1A"/>
          </a:solidFill>
          <a:ln w="14288">
            <a:solidFill>
              <a:srgbClr val="7C829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6"/>
          <p:cNvSpPr/>
          <p:nvPr/>
        </p:nvSpPr>
        <p:spPr>
          <a:xfrm>
            <a:off x="4238625" y="7496175"/>
            <a:ext cx="666750" cy="19050"/>
          </a:xfrm>
          <a:prstGeom prst="rect">
            <a:avLst/>
          </a:prstGeom>
          <a:solidFill>
            <a:srgbClr val="2A30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7"/>
          <p:cNvSpPr/>
          <p:nvPr/>
        </p:nvSpPr>
        <p:spPr>
          <a:xfrm>
            <a:off x="5095875" y="7343314"/>
            <a:ext cx="47625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72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absorvido pelos dois primeiros</a:t>
            </a:r>
            <a:endParaRPr lang="pt-BR" sz="1800" dirty="0"/>
          </a:p>
        </p:txBody>
      </p:sp>
      <p:sp>
        <p:nvSpPr>
          <p:cNvPr id="28" name="Text 28"/>
          <p:cNvSpPr/>
          <p:nvPr/>
        </p:nvSpPr>
        <p:spPr>
          <a:xfrm>
            <a:off x="952500" y="7820025"/>
            <a:ext cx="30480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2400" dirty="0">
                <a:solidFill>
                  <a:srgbClr val="7C82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SmartFreight</a:t>
            </a:r>
            <a:endParaRPr lang="pt-BR" sz="2400" dirty="0"/>
          </a:p>
        </p:txBody>
      </p:sp>
      <p:sp>
        <p:nvSpPr>
          <p:cNvPr id="29" name="Shape 29"/>
          <p:cNvSpPr/>
          <p:nvPr/>
        </p:nvSpPr>
        <p:spPr>
          <a:xfrm>
            <a:off x="4067175" y="7972425"/>
            <a:ext cx="133350" cy="133350"/>
          </a:xfrm>
          <a:prstGeom prst="ellipse">
            <a:avLst/>
          </a:prstGeom>
          <a:solidFill>
            <a:srgbClr val="0A0D1A"/>
          </a:solidFill>
          <a:ln w="14288">
            <a:solidFill>
              <a:srgbClr val="7C829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30"/>
          <p:cNvSpPr/>
          <p:nvPr/>
        </p:nvSpPr>
        <p:spPr>
          <a:xfrm>
            <a:off x="4238625" y="8029575"/>
            <a:ext cx="666750" cy="19050"/>
          </a:xfrm>
          <a:prstGeom prst="rect">
            <a:avLst/>
          </a:prstGeom>
          <a:solidFill>
            <a:srgbClr val="2A30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31"/>
          <p:cNvSpPr/>
          <p:nvPr/>
        </p:nvSpPr>
        <p:spPr>
          <a:xfrm>
            <a:off x="5095875" y="7876714"/>
            <a:ext cx="47625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72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backlog</a:t>
            </a:r>
            <a:endParaRPr lang="pt-BR" sz="1800" dirty="0"/>
          </a:p>
        </p:txBody>
      </p:sp>
      <p:sp>
        <p:nvSpPr>
          <p:cNvPr id="32" name="Text 32"/>
          <p:cNvSpPr/>
          <p:nvPr/>
        </p:nvSpPr>
        <p:spPr>
          <a:xfrm>
            <a:off x="952500" y="8353425"/>
            <a:ext cx="30480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2400" dirty="0">
                <a:solidFill>
                  <a:srgbClr val="7C82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Maestro</a:t>
            </a:r>
            <a:endParaRPr lang="pt-BR" sz="2400" dirty="0"/>
          </a:p>
        </p:txBody>
      </p:sp>
      <p:sp>
        <p:nvSpPr>
          <p:cNvPr id="33" name="Shape 33"/>
          <p:cNvSpPr/>
          <p:nvPr/>
        </p:nvSpPr>
        <p:spPr>
          <a:xfrm>
            <a:off x="4067175" y="8505825"/>
            <a:ext cx="133350" cy="133350"/>
          </a:xfrm>
          <a:prstGeom prst="ellipse">
            <a:avLst/>
          </a:prstGeom>
          <a:solidFill>
            <a:srgbClr val="0A0D1A"/>
          </a:solidFill>
          <a:ln w="14288">
            <a:solidFill>
              <a:srgbClr val="7C829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34"/>
          <p:cNvSpPr/>
          <p:nvPr/>
        </p:nvSpPr>
        <p:spPr>
          <a:xfrm>
            <a:off x="4238625" y="8562975"/>
            <a:ext cx="666750" cy="19050"/>
          </a:xfrm>
          <a:prstGeom prst="rect">
            <a:avLst/>
          </a:prstGeom>
          <a:solidFill>
            <a:srgbClr val="2A30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5"/>
          <p:cNvSpPr/>
          <p:nvPr/>
        </p:nvSpPr>
        <p:spPr>
          <a:xfrm>
            <a:off x="5095875" y="8410114"/>
            <a:ext cx="47625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72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orquestração na Fase 4</a:t>
            </a:r>
            <a:endParaRPr lang="pt-BR" sz="1800" dirty="0"/>
          </a:p>
        </p:txBody>
      </p:sp>
      <p:sp>
        <p:nvSpPr>
          <p:cNvPr id="36" name="Shape 36"/>
          <p:cNvSpPr/>
          <p:nvPr/>
        </p:nvSpPr>
        <p:spPr>
          <a:xfrm>
            <a:off x="10096500" y="5891213"/>
            <a:ext cx="38100" cy="1095375"/>
          </a:xfrm>
          <a:prstGeom prst="rect">
            <a:avLst/>
          </a:prstGeom>
          <a:solidFill>
            <a:srgbClr val="8E7C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Shape 37"/>
          <p:cNvSpPr/>
          <p:nvPr/>
        </p:nvSpPr>
        <p:spPr>
          <a:xfrm>
            <a:off x="10134600" y="6424613"/>
            <a:ext cx="381000" cy="28575"/>
          </a:xfrm>
          <a:prstGeom prst="rect">
            <a:avLst/>
          </a:prstGeom>
          <a:solidFill>
            <a:srgbClr val="8E7C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38"/>
          <p:cNvSpPr/>
          <p:nvPr/>
        </p:nvSpPr>
        <p:spPr>
          <a:xfrm>
            <a:off x="10648950" y="5581650"/>
            <a:ext cx="1809750" cy="171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pt-BR" sz="12000" b="1" kern="0" spc="-240" dirty="0">
                <a:solidFill>
                  <a:srgbClr val="8E7C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pt-BR" sz="12000" dirty="0"/>
          </a:p>
        </p:txBody>
      </p:sp>
      <p:sp>
        <p:nvSpPr>
          <p:cNvPr id="39" name="Text 39"/>
          <p:cNvSpPr/>
          <p:nvPr/>
        </p:nvSpPr>
        <p:spPr>
          <a:xfrm>
            <a:off x="12287250" y="5945444"/>
            <a:ext cx="504825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pt-BR" sz="2550" b="1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agentes especializados na jornada do pedido</a:t>
            </a:r>
            <a:endParaRPr lang="pt-BR" sz="2550" dirty="0"/>
          </a:p>
        </p:txBody>
      </p:sp>
      <p:sp>
        <p:nvSpPr>
          <p:cNvPr id="40" name="Shape 40"/>
          <p:cNvSpPr/>
          <p:nvPr/>
        </p:nvSpPr>
        <p:spPr>
          <a:xfrm>
            <a:off x="952500" y="9048750"/>
            <a:ext cx="16383000" cy="9525"/>
          </a:xfrm>
          <a:prstGeom prst="rect">
            <a:avLst/>
          </a:prstGeom>
          <a:solidFill>
            <a:srgbClr val="2A30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Text 41"/>
          <p:cNvSpPr/>
          <p:nvPr/>
        </p:nvSpPr>
        <p:spPr>
          <a:xfrm>
            <a:off x="952500" y="9286875"/>
            <a:ext cx="40005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144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 EVIDÊNCIA À DECISÃO</a:t>
            </a:r>
            <a:endParaRPr lang="pt-BR" sz="1800" dirty="0"/>
          </a:p>
        </p:txBody>
      </p:sp>
      <p:sp>
        <p:nvSpPr>
          <p:cNvPr id="42" name="Text 42"/>
          <p:cNvSpPr/>
          <p:nvPr/>
        </p:nvSpPr>
        <p:spPr>
          <a:xfrm>
            <a:off x="4953000" y="9239250"/>
            <a:ext cx="276987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2100" b="1" dirty="0">
                <a:solidFill>
                  <a:srgbClr val="F0B5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Dados rastreáveis</a:t>
            </a:r>
            <a:endParaRPr lang="pt-BR" sz="2100" dirty="0"/>
          </a:p>
        </p:txBody>
      </p:sp>
      <p:sp>
        <p:nvSpPr>
          <p:cNvPr id="43" name="Text 43"/>
          <p:cNvSpPr/>
          <p:nvPr/>
        </p:nvSpPr>
        <p:spPr>
          <a:xfrm>
            <a:off x="7818120" y="9239250"/>
            <a:ext cx="2857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2100" dirty="0">
                <a:solidFill>
                  <a:srgbClr val="7C82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</a:t>
            </a:r>
            <a:endParaRPr lang="pt-BR" sz="2100" dirty="0"/>
          </a:p>
        </p:txBody>
      </p:sp>
      <p:sp>
        <p:nvSpPr>
          <p:cNvPr id="44" name="Text 44"/>
          <p:cNvSpPr/>
          <p:nvPr/>
        </p:nvSpPr>
        <p:spPr>
          <a:xfrm>
            <a:off x="8199120" y="9239250"/>
            <a:ext cx="495681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2100" b="1" dirty="0">
                <a:solidFill>
                  <a:srgbClr val="8E7C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Prompts desenhados com contexto</a:t>
            </a:r>
            <a:endParaRPr lang="pt-BR" sz="2100" dirty="0"/>
          </a:p>
        </p:txBody>
      </p:sp>
      <p:sp>
        <p:nvSpPr>
          <p:cNvPr id="45" name="Text 45"/>
          <p:cNvSpPr/>
          <p:nvPr/>
        </p:nvSpPr>
        <p:spPr>
          <a:xfrm>
            <a:off x="13251180" y="9239250"/>
            <a:ext cx="2857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2100" dirty="0">
                <a:solidFill>
                  <a:srgbClr val="7C82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</a:t>
            </a:r>
            <a:endParaRPr lang="pt-BR" sz="2100" dirty="0"/>
          </a:p>
        </p:txBody>
      </p:sp>
      <p:sp>
        <p:nvSpPr>
          <p:cNvPr id="46" name="Text 46"/>
          <p:cNvSpPr/>
          <p:nvPr/>
        </p:nvSpPr>
        <p:spPr>
          <a:xfrm>
            <a:off x="13632180" y="9239250"/>
            <a:ext cx="276987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2100" b="1" dirty="0">
                <a:solidFill>
                  <a:srgbClr val="3CCFB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Ações delimitadas</a:t>
            </a:r>
            <a:endParaRPr lang="pt-BR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952500" y="576263"/>
            <a:ext cx="512982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144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OLIST · FROM INSIGHT TO IMPACT</a:t>
            </a:r>
            <a:endParaRPr lang="pt-BR" sz="1800" dirty="0"/>
          </a:p>
        </p:txBody>
      </p:sp>
      <p:sp>
        <p:nvSpPr>
          <p:cNvPr id="3" name="Shape 3"/>
          <p:cNvSpPr/>
          <p:nvPr/>
        </p:nvSpPr>
        <p:spPr>
          <a:xfrm>
            <a:off x="11684298" y="890587"/>
            <a:ext cx="1399084" cy="25400"/>
          </a:xfrm>
          <a:prstGeom prst="rect">
            <a:avLst/>
          </a:prstGeom>
          <a:solidFill>
            <a:srgbClr val="F0B54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4"/>
          <p:cNvSpPr/>
          <p:nvPr/>
        </p:nvSpPr>
        <p:spPr>
          <a:xfrm>
            <a:off x="11684298" y="534988"/>
            <a:ext cx="147528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144" dirty="0">
                <a:solidFill>
                  <a:srgbClr val="F3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DESCOBRIR</a:t>
            </a:r>
            <a:endParaRPr lang="pt-BR" sz="1800" dirty="0"/>
          </a:p>
        </p:txBody>
      </p:sp>
      <p:sp>
        <p:nvSpPr>
          <p:cNvPr id="5" name="Text 5"/>
          <p:cNvSpPr/>
          <p:nvPr/>
        </p:nvSpPr>
        <p:spPr>
          <a:xfrm>
            <a:off x="13464382" y="533400"/>
            <a:ext cx="131980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144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DESENHAR</a:t>
            </a:r>
            <a:endParaRPr lang="pt-BR" sz="1800" dirty="0"/>
          </a:p>
        </p:txBody>
      </p:sp>
      <p:sp>
        <p:nvSpPr>
          <p:cNvPr id="6" name="Text 6"/>
          <p:cNvSpPr/>
          <p:nvPr/>
        </p:nvSpPr>
        <p:spPr>
          <a:xfrm>
            <a:off x="15088989" y="533400"/>
            <a:ext cx="1164431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144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ESCALAR</a:t>
            </a:r>
            <a:endParaRPr lang="pt-BR" sz="1800" dirty="0"/>
          </a:p>
        </p:txBody>
      </p:sp>
      <p:sp>
        <p:nvSpPr>
          <p:cNvPr id="7" name="Text 7"/>
          <p:cNvSpPr/>
          <p:nvPr/>
        </p:nvSpPr>
        <p:spPr>
          <a:xfrm>
            <a:off x="16558221" y="533400"/>
            <a:ext cx="85348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144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04/12</a:t>
            </a:r>
            <a:endParaRPr lang="pt-BR" sz="1800" dirty="0"/>
          </a:p>
        </p:txBody>
      </p:sp>
      <p:sp>
        <p:nvSpPr>
          <p:cNvPr id="8" name="Text 8"/>
          <p:cNvSpPr/>
          <p:nvPr/>
        </p:nvSpPr>
        <p:spPr>
          <a:xfrm>
            <a:off x="952500" y="1428750"/>
            <a:ext cx="163830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216" dirty="0">
                <a:solidFill>
                  <a:srgbClr val="F0B54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 PROBLEMA DE NEGÓCIO · OBSERVADO</a:t>
            </a:r>
            <a:endParaRPr lang="pt-BR" sz="1800" dirty="0"/>
          </a:p>
        </p:txBody>
      </p:sp>
      <p:sp>
        <p:nvSpPr>
          <p:cNvPr id="9" name="Text 9"/>
          <p:cNvSpPr/>
          <p:nvPr/>
        </p:nvSpPr>
        <p:spPr>
          <a:xfrm>
            <a:off x="952500" y="1898650"/>
            <a:ext cx="14716125" cy="131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951"/>
              </a:lnSpc>
              <a:buNone/>
            </a:pPr>
            <a:r>
              <a:rPr lang="pt-BR" sz="4500" b="1" kern="0" spc="-90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atraso não termina na entrega. Ele compromete a relação com o cliente.</a:t>
            </a:r>
            <a:endParaRPr lang="pt-BR" sz="4500" dirty="0"/>
          </a:p>
        </p:txBody>
      </p:sp>
      <p:sp>
        <p:nvSpPr>
          <p:cNvPr id="10" name="Shape 10"/>
          <p:cNvSpPr/>
          <p:nvPr/>
        </p:nvSpPr>
        <p:spPr>
          <a:xfrm>
            <a:off x="952500" y="3931246"/>
            <a:ext cx="16383000" cy="19050"/>
          </a:xfrm>
          <a:prstGeom prst="rect">
            <a:avLst/>
          </a:prstGeom>
          <a:solidFill>
            <a:srgbClr val="2A30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11"/>
          <p:cNvSpPr/>
          <p:nvPr/>
        </p:nvSpPr>
        <p:spPr>
          <a:xfrm>
            <a:off x="1019175" y="3857625"/>
            <a:ext cx="171450" cy="171450"/>
          </a:xfrm>
          <a:prstGeom prst="ellipse">
            <a:avLst/>
          </a:prstGeom>
          <a:solidFill>
            <a:srgbClr val="F0B54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2"/>
          <p:cNvSpPr/>
          <p:nvPr/>
        </p:nvSpPr>
        <p:spPr>
          <a:xfrm>
            <a:off x="952500" y="4283671"/>
            <a:ext cx="378161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216" dirty="0">
                <a:solidFill>
                  <a:srgbClr val="A3A8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POSTAGEM</a:t>
            </a:r>
            <a:endParaRPr lang="pt-BR" sz="1800" dirty="0"/>
          </a:p>
        </p:txBody>
      </p:sp>
      <p:sp>
        <p:nvSpPr>
          <p:cNvPr id="13" name="Text 13"/>
          <p:cNvSpPr/>
          <p:nvPr/>
        </p:nvSpPr>
        <p:spPr>
          <a:xfrm>
            <a:off x="952500" y="4829175"/>
            <a:ext cx="378161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3009"/>
              </a:lnSpc>
              <a:buNone/>
            </a:pPr>
            <a:r>
              <a:rPr lang="pt-BR" sz="7200" b="1" kern="0" spc="-247" dirty="0">
                <a:solidFill>
                  <a:srgbClr val="F0B5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27%</a:t>
            </a:r>
            <a:endParaRPr lang="pt-BR" sz="7200" dirty="0"/>
          </a:p>
        </p:txBody>
      </p:sp>
      <p:sp>
        <p:nvSpPr>
          <p:cNvPr id="14" name="Text 14"/>
          <p:cNvSpPr/>
          <p:nvPr/>
        </p:nvSpPr>
        <p:spPr>
          <a:xfrm>
            <a:off x="952500" y="6010870"/>
            <a:ext cx="3540965" cy="11179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759"/>
              </a:lnSpc>
              <a:buNone/>
            </a:pPr>
            <a:r>
              <a:rPr lang="pt-BR" sz="2100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dos atrasos começam com o seller postando após o limite</a:t>
            </a:r>
            <a:endParaRPr lang="pt-BR" sz="2100" dirty="0"/>
          </a:p>
        </p:txBody>
      </p:sp>
      <p:sp>
        <p:nvSpPr>
          <p:cNvPr id="15" name="Text 15"/>
          <p:cNvSpPr/>
          <p:nvPr/>
        </p:nvSpPr>
        <p:spPr>
          <a:xfrm>
            <a:off x="952500" y="7281267"/>
            <a:ext cx="3540965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pt-BR" sz="1800" dirty="0">
                <a:solidFill>
                  <a:srgbClr val="A3A8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Nesses pedidos, o atraso sobe para 24,4%, contra 6,5% quando a postagem é feita no prazo</a:t>
            </a:r>
            <a:endParaRPr lang="pt-BR" sz="1800" dirty="0"/>
          </a:p>
        </p:txBody>
      </p:sp>
      <p:sp>
        <p:nvSpPr>
          <p:cNvPr id="16" name="Shape 16"/>
          <p:cNvSpPr/>
          <p:nvPr/>
        </p:nvSpPr>
        <p:spPr>
          <a:xfrm>
            <a:off x="4990406" y="3857625"/>
            <a:ext cx="171450" cy="171450"/>
          </a:xfrm>
          <a:prstGeom prst="ellipse">
            <a:avLst/>
          </a:prstGeom>
          <a:solidFill>
            <a:srgbClr val="F0B54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7"/>
          <p:cNvSpPr/>
          <p:nvPr/>
        </p:nvSpPr>
        <p:spPr>
          <a:xfrm>
            <a:off x="4923731" y="4283671"/>
            <a:ext cx="3025269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216" dirty="0">
                <a:solidFill>
                  <a:srgbClr val="A3A8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ENTREGA</a:t>
            </a:r>
            <a:endParaRPr lang="pt-BR" sz="1800" dirty="0"/>
          </a:p>
        </p:txBody>
      </p:sp>
      <p:sp>
        <p:nvSpPr>
          <p:cNvPr id="18" name="Text 18"/>
          <p:cNvSpPr/>
          <p:nvPr/>
        </p:nvSpPr>
        <p:spPr>
          <a:xfrm>
            <a:off x="4923731" y="4829175"/>
            <a:ext cx="3025269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3009"/>
              </a:lnSpc>
              <a:buNone/>
            </a:pPr>
            <a:r>
              <a:rPr lang="pt-BR" sz="7200" b="1" kern="0" spc="-247" dirty="0">
                <a:solidFill>
                  <a:srgbClr val="F0B5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8,11%</a:t>
            </a:r>
            <a:endParaRPr lang="pt-BR" sz="7200" dirty="0"/>
          </a:p>
        </p:txBody>
      </p:sp>
      <p:sp>
        <p:nvSpPr>
          <p:cNvPr id="19" name="Text 19"/>
          <p:cNvSpPr/>
          <p:nvPr/>
        </p:nvSpPr>
        <p:spPr>
          <a:xfrm>
            <a:off x="4923731" y="6010870"/>
            <a:ext cx="2832752" cy="758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759"/>
              </a:lnSpc>
              <a:buNone/>
            </a:pPr>
            <a:r>
              <a:rPr lang="pt-BR" sz="2100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dos pedidos entregues com atraso</a:t>
            </a:r>
            <a:endParaRPr lang="pt-BR" sz="2100" dirty="0"/>
          </a:p>
        </p:txBody>
      </p:sp>
      <p:sp>
        <p:nvSpPr>
          <p:cNvPr id="20" name="Shape 20"/>
          <p:cNvSpPr/>
          <p:nvPr/>
        </p:nvSpPr>
        <p:spPr>
          <a:xfrm>
            <a:off x="8274050" y="3857625"/>
            <a:ext cx="171450" cy="171450"/>
          </a:xfrm>
          <a:prstGeom prst="ellipse">
            <a:avLst/>
          </a:prstGeom>
          <a:solidFill>
            <a:srgbClr val="F0B54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21"/>
          <p:cNvSpPr/>
          <p:nvPr/>
        </p:nvSpPr>
        <p:spPr>
          <a:xfrm>
            <a:off x="8207375" y="4283671"/>
            <a:ext cx="5105271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216" dirty="0">
                <a:solidFill>
                  <a:srgbClr val="F3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EXPERIÊNCIA</a:t>
            </a:r>
            <a:endParaRPr lang="pt-BR" sz="1800" dirty="0"/>
          </a:p>
        </p:txBody>
      </p:sp>
      <p:sp>
        <p:nvSpPr>
          <p:cNvPr id="22" name="Text 22"/>
          <p:cNvSpPr/>
          <p:nvPr/>
        </p:nvSpPr>
        <p:spPr>
          <a:xfrm>
            <a:off x="8207375" y="5350471"/>
            <a:ext cx="2203768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2100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Pedido atrasado</a:t>
            </a:r>
            <a:endParaRPr lang="pt-BR" sz="2100" dirty="0"/>
          </a:p>
        </p:txBody>
      </p:sp>
      <p:sp>
        <p:nvSpPr>
          <p:cNvPr id="23" name="Text 23"/>
          <p:cNvSpPr/>
          <p:nvPr/>
        </p:nvSpPr>
        <p:spPr>
          <a:xfrm>
            <a:off x="11006833" y="4829770"/>
            <a:ext cx="202586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3096"/>
              </a:lnSpc>
              <a:buNone/>
            </a:pPr>
            <a:r>
              <a:rPr lang="pt-BR" sz="7200" b="1" kern="0" spc="-216" dirty="0">
                <a:solidFill>
                  <a:srgbClr val="F0B5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54%</a:t>
            </a:r>
            <a:endParaRPr lang="pt-BR" sz="7200" dirty="0"/>
          </a:p>
        </p:txBody>
      </p:sp>
      <p:sp>
        <p:nvSpPr>
          <p:cNvPr id="24" name="Shape 24"/>
          <p:cNvSpPr/>
          <p:nvPr/>
        </p:nvSpPr>
        <p:spPr>
          <a:xfrm>
            <a:off x="8207375" y="5820370"/>
            <a:ext cx="4641156" cy="247650"/>
          </a:xfrm>
          <a:prstGeom prst="rect">
            <a:avLst/>
          </a:prstGeom>
          <a:solidFill>
            <a:srgbClr val="1A1F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25"/>
          <p:cNvSpPr/>
          <p:nvPr/>
        </p:nvSpPr>
        <p:spPr>
          <a:xfrm>
            <a:off x="8207375" y="5820370"/>
            <a:ext cx="2506167" cy="247650"/>
          </a:xfrm>
          <a:prstGeom prst="rect">
            <a:avLst/>
          </a:prstGeom>
          <a:solidFill>
            <a:srgbClr val="F0B54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6"/>
          <p:cNvSpPr/>
          <p:nvPr/>
        </p:nvSpPr>
        <p:spPr>
          <a:xfrm>
            <a:off x="8207375" y="6487120"/>
            <a:ext cx="215520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2100" dirty="0">
                <a:solidFill>
                  <a:srgbClr val="A3A8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Pedido no prazo</a:t>
            </a:r>
            <a:endParaRPr lang="pt-BR" sz="2100" dirty="0"/>
          </a:p>
        </p:txBody>
      </p:sp>
      <p:sp>
        <p:nvSpPr>
          <p:cNvPr id="27" name="Text 27"/>
          <p:cNvSpPr/>
          <p:nvPr/>
        </p:nvSpPr>
        <p:spPr>
          <a:xfrm>
            <a:off x="11957249" y="6239470"/>
            <a:ext cx="967482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3282"/>
              </a:lnSpc>
              <a:buNone/>
            </a:pPr>
            <a:r>
              <a:rPr lang="pt-BR" sz="4800" b="1" kern="0" spc="-144" dirty="0">
                <a:solidFill>
                  <a:srgbClr val="A3A8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9%</a:t>
            </a:r>
            <a:endParaRPr lang="pt-BR" sz="4800" dirty="0"/>
          </a:p>
        </p:txBody>
      </p:sp>
      <p:sp>
        <p:nvSpPr>
          <p:cNvPr id="28" name="Shape 28"/>
          <p:cNvSpPr/>
          <p:nvPr/>
        </p:nvSpPr>
        <p:spPr>
          <a:xfrm>
            <a:off x="8207375" y="6931621"/>
            <a:ext cx="4641156" cy="247650"/>
          </a:xfrm>
          <a:prstGeom prst="rect">
            <a:avLst/>
          </a:prstGeom>
          <a:solidFill>
            <a:srgbClr val="1A1F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Shape 29"/>
          <p:cNvSpPr/>
          <p:nvPr/>
        </p:nvSpPr>
        <p:spPr>
          <a:xfrm>
            <a:off x="8207375" y="6931621"/>
            <a:ext cx="417612" cy="247650"/>
          </a:xfrm>
          <a:prstGeom prst="rect">
            <a:avLst/>
          </a:prstGeom>
          <a:solidFill>
            <a:srgbClr val="A3A8B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30"/>
          <p:cNvSpPr/>
          <p:nvPr/>
        </p:nvSpPr>
        <p:spPr>
          <a:xfrm>
            <a:off x="8207375" y="7350721"/>
            <a:ext cx="5105271" cy="3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759"/>
              </a:lnSpc>
              <a:buNone/>
            </a:pPr>
            <a:r>
              <a:rPr lang="pt-BR" sz="2100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das avaliações são nota 1 ou 2</a:t>
            </a:r>
            <a:endParaRPr lang="pt-BR" sz="2100" dirty="0"/>
          </a:p>
        </p:txBody>
      </p:sp>
      <p:sp>
        <p:nvSpPr>
          <p:cNvPr id="31" name="Shape 31"/>
          <p:cNvSpPr/>
          <p:nvPr/>
        </p:nvSpPr>
        <p:spPr>
          <a:xfrm>
            <a:off x="13448606" y="3857625"/>
            <a:ext cx="171450" cy="171450"/>
          </a:xfrm>
          <a:prstGeom prst="ellipse">
            <a:avLst/>
          </a:prstGeom>
          <a:solidFill>
            <a:srgbClr val="F0B54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2"/>
          <p:cNvSpPr/>
          <p:nvPr/>
        </p:nvSpPr>
        <p:spPr>
          <a:xfrm>
            <a:off x="13381931" y="4283671"/>
            <a:ext cx="4348817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216" dirty="0">
                <a:solidFill>
                  <a:srgbClr val="A3A8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RECOMPRA</a:t>
            </a:r>
            <a:endParaRPr lang="pt-BR" sz="1800" dirty="0"/>
          </a:p>
        </p:txBody>
      </p:sp>
      <p:sp>
        <p:nvSpPr>
          <p:cNvPr id="33" name="Text 33"/>
          <p:cNvSpPr/>
          <p:nvPr/>
        </p:nvSpPr>
        <p:spPr>
          <a:xfrm>
            <a:off x="13381931" y="4829175"/>
            <a:ext cx="26670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3171"/>
              </a:lnSpc>
              <a:buNone/>
            </a:pPr>
            <a:r>
              <a:rPr lang="pt-BR" sz="7200" b="1" kern="0" spc="-180" dirty="0">
                <a:solidFill>
                  <a:srgbClr val="F0B5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1,56%</a:t>
            </a:r>
            <a:endParaRPr lang="pt-BR" sz="7200" dirty="0"/>
          </a:p>
        </p:txBody>
      </p:sp>
      <p:sp>
        <p:nvSpPr>
          <p:cNvPr id="34" name="Text 34"/>
          <p:cNvSpPr/>
          <p:nvPr/>
        </p:nvSpPr>
        <p:spPr>
          <a:xfrm>
            <a:off x="16097250" y="5238750"/>
            <a:ext cx="133350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2400" b="1" dirty="0">
                <a:solidFill>
                  <a:srgbClr val="A3A8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vs 2,13%</a:t>
            </a:r>
            <a:endParaRPr lang="pt-BR" sz="2400" dirty="0"/>
          </a:p>
        </p:txBody>
      </p:sp>
      <p:sp>
        <p:nvSpPr>
          <p:cNvPr id="35" name="Text 35"/>
          <p:cNvSpPr/>
          <p:nvPr/>
        </p:nvSpPr>
        <p:spPr>
          <a:xfrm>
            <a:off x="13381931" y="6010275"/>
            <a:ext cx="4072074" cy="11179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759"/>
              </a:lnSpc>
              <a:buNone/>
            </a:pPr>
            <a:r>
              <a:rPr lang="pt-BR" sz="2100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 recompra quando a 1ª compra atrasou, contra a 1ª compra no prazo</a:t>
            </a:r>
            <a:endParaRPr lang="pt-BR" sz="2100" dirty="0"/>
          </a:p>
        </p:txBody>
      </p:sp>
      <p:sp>
        <p:nvSpPr>
          <p:cNvPr id="36" name="Shape 36"/>
          <p:cNvSpPr/>
          <p:nvPr/>
        </p:nvSpPr>
        <p:spPr>
          <a:xfrm>
            <a:off x="952500" y="9112250"/>
            <a:ext cx="16383000" cy="9525"/>
          </a:xfrm>
          <a:prstGeom prst="rect">
            <a:avLst/>
          </a:prstGeom>
          <a:solidFill>
            <a:srgbClr val="2A30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7"/>
          <p:cNvSpPr/>
          <p:nvPr/>
        </p:nvSpPr>
        <p:spPr>
          <a:xfrm>
            <a:off x="952500" y="9315450"/>
            <a:ext cx="162947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216" dirty="0">
                <a:solidFill>
                  <a:srgbClr val="F0B54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OBSERVADO</a:t>
            </a:r>
            <a:endParaRPr lang="pt-BR" sz="1800" dirty="0"/>
          </a:p>
        </p:txBody>
      </p:sp>
      <p:sp>
        <p:nvSpPr>
          <p:cNvPr id="38" name="Text 38"/>
          <p:cNvSpPr/>
          <p:nvPr/>
        </p:nvSpPr>
        <p:spPr>
          <a:xfrm>
            <a:off x="2662436" y="9309100"/>
            <a:ext cx="14501406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dirty="0">
                <a:solidFill>
                  <a:srgbClr val="A3A8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Dataset público Olist, 2016–2018. Associações históricas: não demonstram, isoladamente, o efeito causal de uma intervenção.</a:t>
            </a:r>
            <a:endParaRPr lang="pt-BR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952500" y="576263"/>
            <a:ext cx="512982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144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OLIST · FROM INSIGHT TO IMPACT</a:t>
            </a:r>
            <a:endParaRPr lang="pt-BR" sz="1800" dirty="0"/>
          </a:p>
        </p:txBody>
      </p:sp>
      <p:sp>
        <p:nvSpPr>
          <p:cNvPr id="3" name="Shape 3"/>
          <p:cNvSpPr/>
          <p:nvPr/>
        </p:nvSpPr>
        <p:spPr>
          <a:xfrm>
            <a:off x="11684298" y="890587"/>
            <a:ext cx="1399084" cy="25400"/>
          </a:xfrm>
          <a:prstGeom prst="rect">
            <a:avLst/>
          </a:prstGeom>
          <a:solidFill>
            <a:srgbClr val="F0B54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4"/>
          <p:cNvSpPr/>
          <p:nvPr/>
        </p:nvSpPr>
        <p:spPr>
          <a:xfrm>
            <a:off x="11684298" y="534988"/>
            <a:ext cx="147528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144" dirty="0">
                <a:solidFill>
                  <a:srgbClr val="F3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DESCOBRIR</a:t>
            </a:r>
            <a:endParaRPr lang="pt-BR" sz="1800" dirty="0"/>
          </a:p>
        </p:txBody>
      </p:sp>
      <p:sp>
        <p:nvSpPr>
          <p:cNvPr id="5" name="Text 5"/>
          <p:cNvSpPr/>
          <p:nvPr/>
        </p:nvSpPr>
        <p:spPr>
          <a:xfrm>
            <a:off x="13464382" y="533400"/>
            <a:ext cx="131980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144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DESENHAR</a:t>
            </a:r>
            <a:endParaRPr lang="pt-BR" sz="1800" dirty="0"/>
          </a:p>
        </p:txBody>
      </p:sp>
      <p:sp>
        <p:nvSpPr>
          <p:cNvPr id="6" name="Text 6"/>
          <p:cNvSpPr/>
          <p:nvPr/>
        </p:nvSpPr>
        <p:spPr>
          <a:xfrm>
            <a:off x="15088989" y="533400"/>
            <a:ext cx="1164431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144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ESCALAR</a:t>
            </a:r>
            <a:endParaRPr lang="pt-BR" sz="1800" dirty="0"/>
          </a:p>
        </p:txBody>
      </p:sp>
      <p:sp>
        <p:nvSpPr>
          <p:cNvPr id="7" name="Text 7"/>
          <p:cNvSpPr/>
          <p:nvPr/>
        </p:nvSpPr>
        <p:spPr>
          <a:xfrm>
            <a:off x="16558221" y="533400"/>
            <a:ext cx="85348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144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05/12</a:t>
            </a:r>
            <a:endParaRPr lang="pt-BR" sz="1800" dirty="0"/>
          </a:p>
        </p:txBody>
      </p:sp>
      <p:sp>
        <p:nvSpPr>
          <p:cNvPr id="8" name="Text 8"/>
          <p:cNvSpPr/>
          <p:nvPr/>
        </p:nvSpPr>
        <p:spPr>
          <a:xfrm>
            <a:off x="952500" y="1428750"/>
            <a:ext cx="163830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216" dirty="0">
                <a:solidFill>
                  <a:srgbClr val="F0B54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PRIORIZAÇÃO · 5 CRITÉRIOS PONDERADOS</a:t>
            </a:r>
            <a:endParaRPr lang="pt-BR" sz="1800" dirty="0"/>
          </a:p>
        </p:txBody>
      </p:sp>
      <p:sp>
        <p:nvSpPr>
          <p:cNvPr id="9" name="Text 9"/>
          <p:cNvSpPr/>
          <p:nvPr/>
        </p:nvSpPr>
        <p:spPr>
          <a:xfrm>
            <a:off x="952500" y="1898650"/>
            <a:ext cx="14716125" cy="131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951"/>
              </a:lnSpc>
              <a:buNone/>
            </a:pPr>
            <a:r>
              <a:rPr lang="pt-BR" sz="4500" b="1" kern="0" spc="-90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Priorizamos três agentes que atuam na mesma jornada.</a:t>
            </a:r>
            <a:endParaRPr lang="pt-BR" sz="4500" dirty="0"/>
          </a:p>
        </p:txBody>
      </p:sp>
      <p:sp>
        <p:nvSpPr>
          <p:cNvPr id="10" name="Text 10"/>
          <p:cNvSpPr/>
          <p:nvPr/>
        </p:nvSpPr>
        <p:spPr>
          <a:xfrm>
            <a:off x="952500" y="3369271"/>
            <a:ext cx="163830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950" dirty="0">
                <a:solidFill>
                  <a:srgbClr val="A3A8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Impacto 30% · Proximidade do core 25% · Evidência 20% · Viabilidade 15% · Risco 10%</a:t>
            </a:r>
            <a:endParaRPr lang="pt-BR" sz="1950" dirty="0"/>
          </a:p>
        </p:txBody>
      </p:sp>
      <p:sp>
        <p:nvSpPr>
          <p:cNvPr id="11" name="Shape 11"/>
          <p:cNvSpPr/>
          <p:nvPr/>
        </p:nvSpPr>
        <p:spPr>
          <a:xfrm>
            <a:off x="952500" y="4931371"/>
            <a:ext cx="16383000" cy="28575"/>
          </a:xfrm>
          <a:prstGeom prst="rect">
            <a:avLst/>
          </a:prstGeom>
          <a:solidFill>
            <a:srgbClr val="8E7C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2"/>
          <p:cNvSpPr/>
          <p:nvPr/>
        </p:nvSpPr>
        <p:spPr>
          <a:xfrm>
            <a:off x="952500" y="4397971"/>
            <a:ext cx="550418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950" kern="0" spc="234" dirty="0">
                <a:solidFill>
                  <a:srgbClr val="A3A8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ANTES DA ENTREGA</a:t>
            </a:r>
            <a:endParaRPr lang="pt-BR" sz="1950" dirty="0"/>
          </a:p>
        </p:txBody>
      </p:sp>
      <p:sp>
        <p:nvSpPr>
          <p:cNvPr id="13" name="Shape 13"/>
          <p:cNvSpPr/>
          <p:nvPr/>
        </p:nvSpPr>
        <p:spPr>
          <a:xfrm>
            <a:off x="952500" y="4931371"/>
            <a:ext cx="228600" cy="228600"/>
          </a:xfrm>
          <a:prstGeom prst="ellipse">
            <a:avLst/>
          </a:prstGeom>
          <a:solidFill>
            <a:srgbClr val="8E7C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4"/>
          <p:cNvSpPr/>
          <p:nvPr/>
        </p:nvSpPr>
        <p:spPr>
          <a:xfrm>
            <a:off x="952500" y="5369521"/>
            <a:ext cx="550418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3282"/>
              </a:lnSpc>
              <a:buNone/>
            </a:pPr>
            <a:r>
              <a:rPr lang="pt-BR" sz="4800" b="1" kern="0" spc="-96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LogiPredict</a:t>
            </a:r>
            <a:endParaRPr lang="pt-BR" sz="4800" dirty="0"/>
          </a:p>
        </p:txBody>
      </p:sp>
      <p:sp>
        <p:nvSpPr>
          <p:cNvPr id="15" name="Text 15"/>
          <p:cNvSpPr/>
          <p:nvPr/>
        </p:nvSpPr>
        <p:spPr>
          <a:xfrm>
            <a:off x="952500" y="6188671"/>
            <a:ext cx="5153914" cy="758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759"/>
              </a:lnSpc>
              <a:buNone/>
            </a:pPr>
            <a:r>
              <a:rPr lang="pt-BR" sz="2100" dirty="0">
                <a:solidFill>
                  <a:srgbClr val="A3A8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Atua do limite de postagem até a entrega</a:t>
            </a:r>
            <a:endParaRPr lang="pt-BR" sz="2100" dirty="0"/>
          </a:p>
        </p:txBody>
      </p:sp>
      <p:sp>
        <p:nvSpPr>
          <p:cNvPr id="16" name="Text 16"/>
          <p:cNvSpPr/>
          <p:nvPr/>
        </p:nvSpPr>
        <p:spPr>
          <a:xfrm>
            <a:off x="952500" y="7118152"/>
            <a:ext cx="550418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SCORE 4,75</a:t>
            </a:r>
            <a:endParaRPr lang="pt-BR" sz="1800" dirty="0"/>
          </a:p>
        </p:txBody>
      </p:sp>
      <p:sp>
        <p:nvSpPr>
          <p:cNvPr id="17" name="Shape 17"/>
          <p:cNvSpPr/>
          <p:nvPr/>
        </p:nvSpPr>
        <p:spPr>
          <a:xfrm>
            <a:off x="6413500" y="4397971"/>
            <a:ext cx="9525" cy="3018631"/>
          </a:xfrm>
          <a:prstGeom prst="rect">
            <a:avLst/>
          </a:prstGeom>
          <a:solidFill>
            <a:srgbClr val="2A30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8"/>
          <p:cNvSpPr/>
          <p:nvPr/>
        </p:nvSpPr>
        <p:spPr>
          <a:xfrm>
            <a:off x="6877050" y="4397971"/>
            <a:ext cx="499427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950" kern="0" spc="234" dirty="0">
                <a:solidFill>
                  <a:srgbClr val="A3A8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APÓS A ENTREGA</a:t>
            </a:r>
            <a:endParaRPr lang="pt-BR" sz="1950" dirty="0"/>
          </a:p>
        </p:txBody>
      </p:sp>
      <p:sp>
        <p:nvSpPr>
          <p:cNvPr id="19" name="Shape 19"/>
          <p:cNvSpPr/>
          <p:nvPr/>
        </p:nvSpPr>
        <p:spPr>
          <a:xfrm>
            <a:off x="6877050" y="4931371"/>
            <a:ext cx="228600" cy="228600"/>
          </a:xfrm>
          <a:prstGeom prst="ellipse">
            <a:avLst/>
          </a:prstGeom>
          <a:solidFill>
            <a:srgbClr val="8E7C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20"/>
          <p:cNvSpPr/>
          <p:nvPr/>
        </p:nvSpPr>
        <p:spPr>
          <a:xfrm>
            <a:off x="6877050" y="5369521"/>
            <a:ext cx="4994275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3282"/>
              </a:lnSpc>
              <a:buNone/>
            </a:pPr>
            <a:r>
              <a:rPr lang="pt-BR" sz="4800" b="1" kern="0" spc="-96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SentimentDesk</a:t>
            </a:r>
            <a:endParaRPr lang="pt-BR" sz="4800" dirty="0"/>
          </a:p>
        </p:txBody>
      </p:sp>
      <p:sp>
        <p:nvSpPr>
          <p:cNvPr id="21" name="Text 21"/>
          <p:cNvSpPr/>
          <p:nvPr/>
        </p:nvSpPr>
        <p:spPr>
          <a:xfrm>
            <a:off x="6877050" y="6188671"/>
            <a:ext cx="4676458" cy="758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759"/>
              </a:lnSpc>
              <a:buNone/>
            </a:pPr>
            <a:r>
              <a:rPr lang="pt-BR" sz="2100" dirty="0">
                <a:solidFill>
                  <a:srgbClr val="A3A8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Atua quando chega uma avaliação de 1 a 3</a:t>
            </a:r>
            <a:endParaRPr lang="pt-BR" sz="2100" dirty="0"/>
          </a:p>
        </p:txBody>
      </p:sp>
      <p:sp>
        <p:nvSpPr>
          <p:cNvPr id="22" name="Text 22"/>
          <p:cNvSpPr/>
          <p:nvPr/>
        </p:nvSpPr>
        <p:spPr>
          <a:xfrm>
            <a:off x="6877050" y="7118152"/>
            <a:ext cx="4994275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SCORE 4,60</a:t>
            </a:r>
            <a:endParaRPr lang="pt-BR" sz="1800" dirty="0"/>
          </a:p>
        </p:txBody>
      </p:sp>
      <p:sp>
        <p:nvSpPr>
          <p:cNvPr id="23" name="Shape 23"/>
          <p:cNvSpPr/>
          <p:nvPr/>
        </p:nvSpPr>
        <p:spPr>
          <a:xfrm>
            <a:off x="11874501" y="4397971"/>
            <a:ext cx="9525" cy="3018631"/>
          </a:xfrm>
          <a:prstGeom prst="rect">
            <a:avLst/>
          </a:prstGeom>
          <a:solidFill>
            <a:srgbClr val="2A30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4"/>
          <p:cNvSpPr/>
          <p:nvPr/>
        </p:nvSpPr>
        <p:spPr>
          <a:xfrm>
            <a:off x="12338050" y="4397971"/>
            <a:ext cx="549719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950" kern="0" spc="234" dirty="0">
                <a:solidFill>
                  <a:srgbClr val="A3A8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PRÓXIMA COMPRA</a:t>
            </a:r>
            <a:endParaRPr lang="pt-BR" sz="1950" dirty="0"/>
          </a:p>
        </p:txBody>
      </p:sp>
      <p:sp>
        <p:nvSpPr>
          <p:cNvPr id="25" name="Shape 25"/>
          <p:cNvSpPr/>
          <p:nvPr/>
        </p:nvSpPr>
        <p:spPr>
          <a:xfrm>
            <a:off x="12338050" y="4931371"/>
            <a:ext cx="228600" cy="228600"/>
          </a:xfrm>
          <a:prstGeom prst="ellipse">
            <a:avLst/>
          </a:prstGeom>
          <a:solidFill>
            <a:srgbClr val="8E7C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6"/>
          <p:cNvSpPr/>
          <p:nvPr/>
        </p:nvSpPr>
        <p:spPr>
          <a:xfrm>
            <a:off x="12338050" y="5369521"/>
            <a:ext cx="5497195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3282"/>
              </a:lnSpc>
              <a:buNone/>
            </a:pPr>
            <a:r>
              <a:rPr lang="pt-BR" sz="4800" b="1" kern="0" spc="-96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WinBack</a:t>
            </a:r>
            <a:endParaRPr lang="pt-BR" sz="4800" dirty="0"/>
          </a:p>
        </p:txBody>
      </p:sp>
      <p:sp>
        <p:nvSpPr>
          <p:cNvPr id="27" name="Text 27"/>
          <p:cNvSpPr/>
          <p:nvPr/>
        </p:nvSpPr>
        <p:spPr>
          <a:xfrm>
            <a:off x="12338050" y="6188671"/>
            <a:ext cx="5497195" cy="3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759"/>
              </a:lnSpc>
              <a:buNone/>
            </a:pPr>
            <a:r>
              <a:rPr lang="pt-BR" sz="2100" dirty="0">
                <a:solidFill>
                  <a:srgbClr val="A3A8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Atua de D+7 a D+90 após a 1ª entrega</a:t>
            </a:r>
            <a:endParaRPr lang="pt-BR" sz="2100" dirty="0"/>
          </a:p>
        </p:txBody>
      </p:sp>
      <p:sp>
        <p:nvSpPr>
          <p:cNvPr id="28" name="Text 28"/>
          <p:cNvSpPr/>
          <p:nvPr/>
        </p:nvSpPr>
        <p:spPr>
          <a:xfrm>
            <a:off x="12338050" y="6758186"/>
            <a:ext cx="5497195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SCORE 4,20</a:t>
            </a:r>
            <a:endParaRPr lang="pt-BR" sz="1800" dirty="0"/>
          </a:p>
        </p:txBody>
      </p:sp>
      <p:sp>
        <p:nvSpPr>
          <p:cNvPr id="29" name="Shape 29"/>
          <p:cNvSpPr/>
          <p:nvPr/>
        </p:nvSpPr>
        <p:spPr>
          <a:xfrm>
            <a:off x="952500" y="9036050"/>
            <a:ext cx="16383000" cy="9525"/>
          </a:xfrm>
          <a:prstGeom prst="rect">
            <a:avLst/>
          </a:prstGeom>
          <a:solidFill>
            <a:srgbClr val="2A30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30"/>
          <p:cNvSpPr/>
          <p:nvPr/>
        </p:nvSpPr>
        <p:spPr>
          <a:xfrm>
            <a:off x="952500" y="9302750"/>
            <a:ext cx="289692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216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FORA DESTA ETAPA</a:t>
            </a:r>
            <a:endParaRPr lang="pt-BR" sz="1800" dirty="0"/>
          </a:p>
        </p:txBody>
      </p:sp>
      <p:sp>
        <p:nvSpPr>
          <p:cNvPr id="31" name="Text 31"/>
          <p:cNvSpPr/>
          <p:nvPr/>
        </p:nvSpPr>
        <p:spPr>
          <a:xfrm>
            <a:off x="4119463" y="9251950"/>
            <a:ext cx="1504176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2100" b="1" dirty="0">
                <a:solidFill>
                  <a:srgbClr val="A3A8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SellerCare</a:t>
            </a:r>
            <a:endParaRPr lang="pt-BR" sz="2100" dirty="0"/>
          </a:p>
        </p:txBody>
      </p:sp>
      <p:sp>
        <p:nvSpPr>
          <p:cNvPr id="32" name="Text 32"/>
          <p:cNvSpPr/>
          <p:nvPr/>
        </p:nvSpPr>
        <p:spPr>
          <a:xfrm>
            <a:off x="5620246" y="9296400"/>
            <a:ext cx="2710071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dirty="0">
                <a:solidFill>
                  <a:srgbClr val="7C82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parcialmente absorvido</a:t>
            </a:r>
            <a:endParaRPr lang="pt-BR" sz="1800" dirty="0"/>
          </a:p>
        </p:txBody>
      </p:sp>
      <p:sp>
        <p:nvSpPr>
          <p:cNvPr id="33" name="Text 33"/>
          <p:cNvSpPr/>
          <p:nvPr/>
        </p:nvSpPr>
        <p:spPr>
          <a:xfrm>
            <a:off x="8617347" y="9251950"/>
            <a:ext cx="1887587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2100" b="1" dirty="0">
                <a:solidFill>
                  <a:srgbClr val="A3A8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SmartFreight</a:t>
            </a:r>
            <a:endParaRPr lang="pt-BR" sz="2100" dirty="0"/>
          </a:p>
        </p:txBody>
      </p:sp>
      <p:sp>
        <p:nvSpPr>
          <p:cNvPr id="34" name="Text 34"/>
          <p:cNvSpPr/>
          <p:nvPr/>
        </p:nvSpPr>
        <p:spPr>
          <a:xfrm>
            <a:off x="10466686" y="9296400"/>
            <a:ext cx="902395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dirty="0">
                <a:solidFill>
                  <a:srgbClr val="7C82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backlog</a:t>
            </a:r>
            <a:endParaRPr lang="pt-BR" sz="1800" dirty="0"/>
          </a:p>
        </p:txBody>
      </p:sp>
      <p:sp>
        <p:nvSpPr>
          <p:cNvPr id="35" name="Text 35"/>
          <p:cNvSpPr/>
          <p:nvPr/>
        </p:nvSpPr>
        <p:spPr>
          <a:xfrm>
            <a:off x="11826280" y="9251950"/>
            <a:ext cx="114687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2100" b="1" dirty="0">
                <a:solidFill>
                  <a:srgbClr val="A3A8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Maestro</a:t>
            </a:r>
            <a:endParaRPr lang="pt-BR" sz="2100" dirty="0"/>
          </a:p>
        </p:txBody>
      </p:sp>
      <p:sp>
        <p:nvSpPr>
          <p:cNvPr id="36" name="Text 36"/>
          <p:cNvSpPr/>
          <p:nvPr/>
        </p:nvSpPr>
        <p:spPr>
          <a:xfrm>
            <a:off x="13030300" y="9296400"/>
            <a:ext cx="2333754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dirty="0">
                <a:solidFill>
                  <a:srgbClr val="7C82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orquestração futura</a:t>
            </a:r>
            <a:endParaRPr lang="pt-BR" sz="1800" dirty="0"/>
          </a:p>
        </p:txBody>
      </p:sp>
      <p:sp>
        <p:nvSpPr>
          <p:cNvPr id="37" name="Text 37"/>
          <p:cNvSpPr/>
          <p:nvPr/>
        </p:nvSpPr>
        <p:spPr>
          <a:xfrm>
            <a:off x="952500" y="7696200"/>
            <a:ext cx="66675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180" dirty="0">
                <a:solidFill>
                  <a:srgbClr val="8E7C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INTEGRAÇÕES PROPOSTAS ENTRE AGENTES</a:t>
            </a:r>
            <a:endParaRPr lang="pt-BR" sz="1800" dirty="0"/>
          </a:p>
        </p:txBody>
      </p:sp>
      <p:sp>
        <p:nvSpPr>
          <p:cNvPr id="38" name="Text 38"/>
          <p:cNvSpPr/>
          <p:nvPr/>
        </p:nvSpPr>
        <p:spPr>
          <a:xfrm>
            <a:off x="952500" y="8096250"/>
            <a:ext cx="53340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2100" b="1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LogiPredict → SentimentDesk</a:t>
            </a:r>
            <a:endParaRPr lang="pt-BR" sz="2100" dirty="0"/>
          </a:p>
        </p:txBody>
      </p:sp>
      <p:sp>
        <p:nvSpPr>
          <p:cNvPr id="39" name="Text 39"/>
          <p:cNvSpPr/>
          <p:nvPr/>
        </p:nvSpPr>
        <p:spPr>
          <a:xfrm>
            <a:off x="952500" y="8477250"/>
            <a:ext cx="53340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950" dirty="0">
                <a:solidFill>
                  <a:srgbClr val="A3A8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contexto de risco ou atraso para a triagem</a:t>
            </a:r>
            <a:endParaRPr lang="pt-BR" sz="1950" dirty="0"/>
          </a:p>
        </p:txBody>
      </p:sp>
      <p:sp>
        <p:nvSpPr>
          <p:cNvPr id="40" name="Text 40"/>
          <p:cNvSpPr/>
          <p:nvPr/>
        </p:nvSpPr>
        <p:spPr>
          <a:xfrm>
            <a:off x="6877050" y="8096250"/>
            <a:ext cx="53340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2100" b="1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SentimentDesk → WinBack</a:t>
            </a:r>
            <a:endParaRPr lang="pt-BR" sz="2100" dirty="0"/>
          </a:p>
        </p:txBody>
      </p:sp>
      <p:sp>
        <p:nvSpPr>
          <p:cNvPr id="41" name="Text 41"/>
          <p:cNvSpPr/>
          <p:nvPr/>
        </p:nvSpPr>
        <p:spPr>
          <a:xfrm>
            <a:off x="6877050" y="8477250"/>
            <a:ext cx="53340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950" dirty="0">
                <a:solidFill>
                  <a:srgbClr val="A3A8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suspende ofertas com problema em aberto</a:t>
            </a:r>
            <a:endParaRPr lang="pt-BR" sz="1950" dirty="0"/>
          </a:p>
        </p:txBody>
      </p:sp>
      <p:sp>
        <p:nvSpPr>
          <p:cNvPr id="42" name="Text 42"/>
          <p:cNvSpPr/>
          <p:nvPr/>
        </p:nvSpPr>
        <p:spPr>
          <a:xfrm>
            <a:off x="12334875" y="8096250"/>
            <a:ext cx="53340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2100" b="1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SentimentDesk → LogiPredict</a:t>
            </a:r>
            <a:endParaRPr lang="pt-BR" sz="2100" dirty="0"/>
          </a:p>
        </p:txBody>
      </p:sp>
      <p:sp>
        <p:nvSpPr>
          <p:cNvPr id="43" name="Text 43"/>
          <p:cNvSpPr/>
          <p:nvPr/>
        </p:nvSpPr>
        <p:spPr>
          <a:xfrm>
            <a:off x="12334875" y="8477250"/>
            <a:ext cx="53340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950" dirty="0">
                <a:solidFill>
                  <a:srgbClr val="A3A8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histórico de falhas por rota, não intervenção</a:t>
            </a:r>
            <a:endParaRPr lang="pt-BR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952500" y="576263"/>
            <a:ext cx="512982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144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OLIST · FROM INSIGHT TO IMPACT</a:t>
            </a:r>
            <a:endParaRPr lang="pt-BR" sz="1800" dirty="0"/>
          </a:p>
        </p:txBody>
      </p:sp>
      <p:sp>
        <p:nvSpPr>
          <p:cNvPr id="3" name="Text 3"/>
          <p:cNvSpPr/>
          <p:nvPr/>
        </p:nvSpPr>
        <p:spPr>
          <a:xfrm>
            <a:off x="11684298" y="533400"/>
            <a:ext cx="147528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144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DESCOBRIR</a:t>
            </a:r>
            <a:endParaRPr lang="pt-BR" sz="1800" dirty="0"/>
          </a:p>
        </p:txBody>
      </p:sp>
      <p:sp>
        <p:nvSpPr>
          <p:cNvPr id="4" name="Shape 4"/>
          <p:cNvSpPr/>
          <p:nvPr/>
        </p:nvSpPr>
        <p:spPr>
          <a:xfrm>
            <a:off x="13464382" y="890587"/>
            <a:ext cx="1243608" cy="25400"/>
          </a:xfrm>
          <a:prstGeom prst="rect">
            <a:avLst/>
          </a:prstGeom>
          <a:solidFill>
            <a:srgbClr val="8E7C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5"/>
          <p:cNvSpPr/>
          <p:nvPr/>
        </p:nvSpPr>
        <p:spPr>
          <a:xfrm>
            <a:off x="13464382" y="534988"/>
            <a:ext cx="131980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144" dirty="0">
                <a:solidFill>
                  <a:srgbClr val="F3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DESENHAR</a:t>
            </a:r>
            <a:endParaRPr lang="pt-BR" sz="1800" dirty="0"/>
          </a:p>
        </p:txBody>
      </p:sp>
      <p:sp>
        <p:nvSpPr>
          <p:cNvPr id="6" name="Text 6"/>
          <p:cNvSpPr/>
          <p:nvPr/>
        </p:nvSpPr>
        <p:spPr>
          <a:xfrm>
            <a:off x="15088989" y="533400"/>
            <a:ext cx="1164431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144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ESCALAR</a:t>
            </a:r>
            <a:endParaRPr lang="pt-BR" sz="1800" dirty="0"/>
          </a:p>
        </p:txBody>
      </p:sp>
      <p:sp>
        <p:nvSpPr>
          <p:cNvPr id="7" name="Text 7"/>
          <p:cNvSpPr/>
          <p:nvPr/>
        </p:nvSpPr>
        <p:spPr>
          <a:xfrm>
            <a:off x="16558221" y="533400"/>
            <a:ext cx="85348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144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06/12</a:t>
            </a:r>
            <a:endParaRPr lang="pt-BR" sz="1800" dirty="0"/>
          </a:p>
        </p:txBody>
      </p:sp>
      <p:sp>
        <p:nvSpPr>
          <p:cNvPr id="8" name="Text 8"/>
          <p:cNvSpPr/>
          <p:nvPr/>
        </p:nvSpPr>
        <p:spPr>
          <a:xfrm>
            <a:off x="952500" y="1428750"/>
            <a:ext cx="163830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216" dirty="0">
                <a:solidFill>
                  <a:srgbClr val="8E7C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PAPEL DOS AGENTES · COMPORTAMENTO PROPOSTO</a:t>
            </a:r>
            <a:endParaRPr lang="pt-BR" sz="1800" dirty="0"/>
          </a:p>
        </p:txBody>
      </p:sp>
      <p:sp>
        <p:nvSpPr>
          <p:cNvPr id="9" name="Text 9"/>
          <p:cNvSpPr/>
          <p:nvPr/>
        </p:nvSpPr>
        <p:spPr>
          <a:xfrm>
            <a:off x="952500" y="1898650"/>
            <a:ext cx="14716125" cy="131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951"/>
              </a:lnSpc>
              <a:buNone/>
            </a:pPr>
            <a:r>
              <a:rPr lang="pt-BR" sz="4500" b="1" kern="0" spc="-90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Cada agente tem uma missão, uma decisão e um limite.</a:t>
            </a:r>
            <a:endParaRPr lang="pt-BR" sz="4500" dirty="0"/>
          </a:p>
        </p:txBody>
      </p:sp>
      <p:sp>
        <p:nvSpPr>
          <p:cNvPr id="10" name="Shape 10"/>
          <p:cNvSpPr/>
          <p:nvPr/>
        </p:nvSpPr>
        <p:spPr>
          <a:xfrm>
            <a:off x="3048000" y="3712171"/>
            <a:ext cx="9525" cy="1648123"/>
          </a:xfrm>
          <a:prstGeom prst="rect">
            <a:avLst/>
          </a:prstGeom>
          <a:solidFill>
            <a:srgbClr val="2A30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11"/>
          <p:cNvSpPr/>
          <p:nvPr/>
        </p:nvSpPr>
        <p:spPr>
          <a:xfrm>
            <a:off x="3397250" y="3712171"/>
            <a:ext cx="447738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3600" b="1" kern="0" spc="-72" dirty="0">
                <a:solidFill>
                  <a:srgbClr val="8E7C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LogiPredict</a:t>
            </a:r>
            <a:endParaRPr lang="pt-BR" sz="3600" dirty="0"/>
          </a:p>
        </p:txBody>
      </p:sp>
      <p:sp>
        <p:nvSpPr>
          <p:cNvPr id="12" name="Text 12"/>
          <p:cNvSpPr/>
          <p:nvPr/>
        </p:nvSpPr>
        <p:spPr>
          <a:xfrm>
            <a:off x="3397250" y="4397971"/>
            <a:ext cx="4477385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GUARDIÃO DO PRAZO · PILOTO</a:t>
            </a:r>
            <a:endParaRPr lang="pt-BR" sz="1800" dirty="0"/>
          </a:p>
        </p:txBody>
      </p:sp>
      <p:sp>
        <p:nvSpPr>
          <p:cNvPr id="13" name="Shape 13"/>
          <p:cNvSpPr/>
          <p:nvPr/>
        </p:nvSpPr>
        <p:spPr>
          <a:xfrm>
            <a:off x="7810500" y="3712171"/>
            <a:ext cx="9525" cy="1648123"/>
          </a:xfrm>
          <a:prstGeom prst="rect">
            <a:avLst/>
          </a:prstGeom>
          <a:solidFill>
            <a:srgbClr val="2A30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4"/>
          <p:cNvSpPr/>
          <p:nvPr/>
        </p:nvSpPr>
        <p:spPr>
          <a:xfrm>
            <a:off x="8159750" y="3712171"/>
            <a:ext cx="447738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3600" b="1" kern="0" spc="-72" dirty="0">
                <a:solidFill>
                  <a:srgbClr val="8E7C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SentimentDesk</a:t>
            </a:r>
            <a:endParaRPr lang="pt-BR" sz="3600" dirty="0"/>
          </a:p>
        </p:txBody>
      </p:sp>
      <p:sp>
        <p:nvSpPr>
          <p:cNvPr id="15" name="Text 15"/>
          <p:cNvSpPr/>
          <p:nvPr/>
        </p:nvSpPr>
        <p:spPr>
          <a:xfrm>
            <a:off x="8159750" y="4397971"/>
            <a:ext cx="4192461" cy="63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TRIAGEM DE AVALIAÇÕES · PILOTO</a:t>
            </a:r>
            <a:endParaRPr lang="pt-BR" sz="1800" dirty="0"/>
          </a:p>
        </p:txBody>
      </p:sp>
      <p:sp>
        <p:nvSpPr>
          <p:cNvPr id="16" name="Shape 16"/>
          <p:cNvSpPr/>
          <p:nvPr/>
        </p:nvSpPr>
        <p:spPr>
          <a:xfrm>
            <a:off x="12573000" y="3712171"/>
            <a:ext cx="9525" cy="1648123"/>
          </a:xfrm>
          <a:prstGeom prst="rect">
            <a:avLst/>
          </a:prstGeom>
          <a:solidFill>
            <a:srgbClr val="2A30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7"/>
          <p:cNvSpPr/>
          <p:nvPr/>
        </p:nvSpPr>
        <p:spPr>
          <a:xfrm>
            <a:off x="12922251" y="3712171"/>
            <a:ext cx="447738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3600" b="1" kern="0" spc="-72" dirty="0">
                <a:solidFill>
                  <a:srgbClr val="8E7C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WinBack</a:t>
            </a:r>
            <a:endParaRPr lang="pt-BR" sz="3600" dirty="0"/>
          </a:p>
        </p:txBody>
      </p:sp>
      <p:sp>
        <p:nvSpPr>
          <p:cNvPr id="18" name="Text 18"/>
          <p:cNvSpPr/>
          <p:nvPr/>
        </p:nvSpPr>
        <p:spPr>
          <a:xfrm>
            <a:off x="12922251" y="4397971"/>
            <a:ext cx="4477385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SEGUNDA COMPRA · EXPANSÃO</a:t>
            </a:r>
            <a:endParaRPr lang="pt-BR" sz="1800" dirty="0"/>
          </a:p>
        </p:txBody>
      </p:sp>
      <p:sp>
        <p:nvSpPr>
          <p:cNvPr id="19" name="Shape 19"/>
          <p:cNvSpPr/>
          <p:nvPr/>
        </p:nvSpPr>
        <p:spPr>
          <a:xfrm>
            <a:off x="952500" y="5360293"/>
            <a:ext cx="2095500" cy="19050"/>
          </a:xfrm>
          <a:prstGeom prst="rect">
            <a:avLst/>
          </a:prstGeom>
          <a:solidFill>
            <a:srgbClr val="F3F4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20"/>
          <p:cNvSpPr/>
          <p:nvPr/>
        </p:nvSpPr>
        <p:spPr>
          <a:xfrm>
            <a:off x="952500" y="5588893"/>
            <a:ext cx="2171700" cy="11577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950" kern="0" spc="234" dirty="0">
                <a:solidFill>
                  <a:srgbClr val="F3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MISSÃO</a:t>
            </a:r>
            <a:endParaRPr lang="pt-BR" sz="1950" dirty="0"/>
          </a:p>
        </p:txBody>
      </p:sp>
      <p:sp>
        <p:nvSpPr>
          <p:cNvPr id="21" name="Shape 21"/>
          <p:cNvSpPr/>
          <p:nvPr/>
        </p:nvSpPr>
        <p:spPr>
          <a:xfrm>
            <a:off x="3048000" y="5360293"/>
            <a:ext cx="4762500" cy="19050"/>
          </a:xfrm>
          <a:prstGeom prst="rect">
            <a:avLst/>
          </a:prstGeom>
          <a:solidFill>
            <a:srgbClr val="F3F4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22"/>
          <p:cNvSpPr/>
          <p:nvPr/>
        </p:nvSpPr>
        <p:spPr>
          <a:xfrm>
            <a:off x="3048000" y="5360293"/>
            <a:ext cx="9525" cy="1348284"/>
          </a:xfrm>
          <a:prstGeom prst="rect">
            <a:avLst/>
          </a:prstGeom>
          <a:solidFill>
            <a:srgbClr val="2A30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3"/>
          <p:cNvSpPr/>
          <p:nvPr/>
        </p:nvSpPr>
        <p:spPr>
          <a:xfrm>
            <a:off x="3397250" y="5588893"/>
            <a:ext cx="4213225" cy="948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pt-BR" sz="2550" b="1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Antecipar riscos de atraso</a:t>
            </a:r>
            <a:endParaRPr lang="pt-BR" sz="2550" dirty="0"/>
          </a:p>
        </p:txBody>
      </p:sp>
      <p:sp>
        <p:nvSpPr>
          <p:cNvPr id="24" name="Shape 24"/>
          <p:cNvSpPr/>
          <p:nvPr/>
        </p:nvSpPr>
        <p:spPr>
          <a:xfrm>
            <a:off x="7810500" y="5360293"/>
            <a:ext cx="4762500" cy="19050"/>
          </a:xfrm>
          <a:prstGeom prst="rect">
            <a:avLst/>
          </a:prstGeom>
          <a:solidFill>
            <a:srgbClr val="F3F4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25"/>
          <p:cNvSpPr/>
          <p:nvPr/>
        </p:nvSpPr>
        <p:spPr>
          <a:xfrm>
            <a:off x="7810500" y="5360293"/>
            <a:ext cx="9525" cy="1348284"/>
          </a:xfrm>
          <a:prstGeom prst="rect">
            <a:avLst/>
          </a:prstGeom>
          <a:solidFill>
            <a:srgbClr val="2A30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6"/>
          <p:cNvSpPr/>
          <p:nvPr/>
        </p:nvSpPr>
        <p:spPr>
          <a:xfrm>
            <a:off x="8159750" y="5588893"/>
            <a:ext cx="4213225" cy="948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pt-BR" sz="2550" b="1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Interpretar e encaminhar avaliações negativas</a:t>
            </a:r>
            <a:endParaRPr lang="pt-BR" sz="2550" dirty="0"/>
          </a:p>
        </p:txBody>
      </p:sp>
      <p:sp>
        <p:nvSpPr>
          <p:cNvPr id="27" name="Shape 27"/>
          <p:cNvSpPr/>
          <p:nvPr/>
        </p:nvSpPr>
        <p:spPr>
          <a:xfrm>
            <a:off x="12573000" y="5360293"/>
            <a:ext cx="4762500" cy="19050"/>
          </a:xfrm>
          <a:prstGeom prst="rect">
            <a:avLst/>
          </a:prstGeom>
          <a:solidFill>
            <a:srgbClr val="F3F4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Shape 28"/>
          <p:cNvSpPr/>
          <p:nvPr/>
        </p:nvSpPr>
        <p:spPr>
          <a:xfrm>
            <a:off x="12573000" y="5360293"/>
            <a:ext cx="9525" cy="1348284"/>
          </a:xfrm>
          <a:prstGeom prst="rect">
            <a:avLst/>
          </a:prstGeom>
          <a:solidFill>
            <a:srgbClr val="2A30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9"/>
          <p:cNvSpPr/>
          <p:nvPr/>
        </p:nvSpPr>
        <p:spPr>
          <a:xfrm>
            <a:off x="12922250" y="5588893"/>
            <a:ext cx="4213225" cy="948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pt-BR" sz="2550" b="1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Apoiar a conversão da 1ª para a 2ª compra</a:t>
            </a:r>
            <a:endParaRPr lang="pt-BR" sz="2550" dirty="0"/>
          </a:p>
        </p:txBody>
      </p:sp>
      <p:sp>
        <p:nvSpPr>
          <p:cNvPr id="30" name="Shape 30"/>
          <p:cNvSpPr/>
          <p:nvPr/>
        </p:nvSpPr>
        <p:spPr>
          <a:xfrm>
            <a:off x="952500" y="6708577"/>
            <a:ext cx="2095500" cy="19050"/>
          </a:xfrm>
          <a:prstGeom prst="rect">
            <a:avLst/>
          </a:prstGeom>
          <a:solidFill>
            <a:srgbClr val="8E7C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31"/>
          <p:cNvSpPr/>
          <p:nvPr/>
        </p:nvSpPr>
        <p:spPr>
          <a:xfrm>
            <a:off x="952500" y="6937177"/>
            <a:ext cx="2171700" cy="10853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950" kern="0" spc="234" dirty="0">
                <a:solidFill>
                  <a:srgbClr val="8E7C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DECISÃO</a:t>
            </a:r>
            <a:endParaRPr lang="pt-BR" sz="1950" dirty="0"/>
          </a:p>
        </p:txBody>
      </p:sp>
      <p:sp>
        <p:nvSpPr>
          <p:cNvPr id="32" name="Shape 32"/>
          <p:cNvSpPr/>
          <p:nvPr/>
        </p:nvSpPr>
        <p:spPr>
          <a:xfrm>
            <a:off x="3048000" y="6708577"/>
            <a:ext cx="4762500" cy="19050"/>
          </a:xfrm>
          <a:prstGeom prst="rect">
            <a:avLst/>
          </a:prstGeom>
          <a:solidFill>
            <a:srgbClr val="8E7C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Shape 33"/>
          <p:cNvSpPr/>
          <p:nvPr/>
        </p:nvSpPr>
        <p:spPr>
          <a:xfrm>
            <a:off x="3048000" y="6708577"/>
            <a:ext cx="9525" cy="1275854"/>
          </a:xfrm>
          <a:prstGeom prst="rect">
            <a:avLst/>
          </a:prstGeom>
          <a:solidFill>
            <a:srgbClr val="2A30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34"/>
          <p:cNvSpPr/>
          <p:nvPr/>
        </p:nvSpPr>
        <p:spPr>
          <a:xfrm>
            <a:off x="3397250" y="6937177"/>
            <a:ext cx="4213225" cy="8758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759"/>
              </a:lnSpc>
              <a:buNone/>
            </a:pPr>
            <a:r>
              <a:rPr lang="pt-BR" sz="2250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Quando alertar e qual intervenção recomendar</a:t>
            </a:r>
            <a:endParaRPr lang="pt-BR" sz="2250" dirty="0"/>
          </a:p>
        </p:txBody>
      </p:sp>
      <p:sp>
        <p:nvSpPr>
          <p:cNvPr id="35" name="Shape 35"/>
          <p:cNvSpPr/>
          <p:nvPr/>
        </p:nvSpPr>
        <p:spPr>
          <a:xfrm>
            <a:off x="7810500" y="6708577"/>
            <a:ext cx="4762500" cy="19050"/>
          </a:xfrm>
          <a:prstGeom prst="rect">
            <a:avLst/>
          </a:prstGeom>
          <a:solidFill>
            <a:srgbClr val="8E7C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Shape 36"/>
          <p:cNvSpPr/>
          <p:nvPr/>
        </p:nvSpPr>
        <p:spPr>
          <a:xfrm>
            <a:off x="7810500" y="6708577"/>
            <a:ext cx="9525" cy="1275854"/>
          </a:xfrm>
          <a:prstGeom prst="rect">
            <a:avLst/>
          </a:prstGeom>
          <a:solidFill>
            <a:srgbClr val="2A30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7"/>
          <p:cNvSpPr/>
          <p:nvPr/>
        </p:nvSpPr>
        <p:spPr>
          <a:xfrm>
            <a:off x="8159750" y="6937177"/>
            <a:ext cx="4213225" cy="8758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759"/>
              </a:lnSpc>
              <a:buNone/>
            </a:pPr>
            <a:r>
              <a:rPr lang="pt-BR" sz="2250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Motivo, prioridade e tratamento adequado</a:t>
            </a:r>
            <a:endParaRPr lang="pt-BR" sz="2250" dirty="0"/>
          </a:p>
        </p:txBody>
      </p:sp>
      <p:sp>
        <p:nvSpPr>
          <p:cNvPr id="38" name="Shape 38"/>
          <p:cNvSpPr/>
          <p:nvPr/>
        </p:nvSpPr>
        <p:spPr>
          <a:xfrm>
            <a:off x="12573000" y="6708577"/>
            <a:ext cx="4762500" cy="19050"/>
          </a:xfrm>
          <a:prstGeom prst="rect">
            <a:avLst/>
          </a:prstGeom>
          <a:solidFill>
            <a:srgbClr val="8E7C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Shape 39"/>
          <p:cNvSpPr/>
          <p:nvPr/>
        </p:nvSpPr>
        <p:spPr>
          <a:xfrm>
            <a:off x="12573000" y="6708577"/>
            <a:ext cx="9525" cy="1275854"/>
          </a:xfrm>
          <a:prstGeom prst="rect">
            <a:avLst/>
          </a:prstGeom>
          <a:solidFill>
            <a:srgbClr val="2A30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Text 40"/>
          <p:cNvSpPr/>
          <p:nvPr/>
        </p:nvSpPr>
        <p:spPr>
          <a:xfrm>
            <a:off x="12922250" y="6937177"/>
            <a:ext cx="4213225" cy="8758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759"/>
              </a:lnSpc>
              <a:buNone/>
            </a:pPr>
            <a:r>
              <a:rPr lang="pt-BR" sz="2250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Elegibilidade, momento e abordagem do contato</a:t>
            </a:r>
            <a:endParaRPr lang="pt-BR" sz="2250" dirty="0"/>
          </a:p>
        </p:txBody>
      </p:sp>
      <p:sp>
        <p:nvSpPr>
          <p:cNvPr id="41" name="Shape 41"/>
          <p:cNvSpPr/>
          <p:nvPr/>
        </p:nvSpPr>
        <p:spPr>
          <a:xfrm>
            <a:off x="952500" y="7984431"/>
            <a:ext cx="2095500" cy="19050"/>
          </a:xfrm>
          <a:prstGeom prst="rect">
            <a:avLst/>
          </a:prstGeom>
          <a:solidFill>
            <a:srgbClr val="3CCF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Text 42"/>
          <p:cNvSpPr/>
          <p:nvPr/>
        </p:nvSpPr>
        <p:spPr>
          <a:xfrm>
            <a:off x="952500" y="8213031"/>
            <a:ext cx="2171700" cy="144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950" kern="0" spc="234" dirty="0">
                <a:solidFill>
                  <a:srgbClr val="3CCFB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LIMITE</a:t>
            </a:r>
            <a:endParaRPr lang="pt-BR" sz="1950" dirty="0"/>
          </a:p>
        </p:txBody>
      </p:sp>
      <p:sp>
        <p:nvSpPr>
          <p:cNvPr id="43" name="Shape 43"/>
          <p:cNvSpPr/>
          <p:nvPr/>
        </p:nvSpPr>
        <p:spPr>
          <a:xfrm>
            <a:off x="3048000" y="7984431"/>
            <a:ext cx="4762500" cy="19050"/>
          </a:xfrm>
          <a:prstGeom prst="rect">
            <a:avLst/>
          </a:prstGeom>
          <a:solidFill>
            <a:srgbClr val="3CCF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4" name="Shape 44"/>
          <p:cNvSpPr/>
          <p:nvPr/>
        </p:nvSpPr>
        <p:spPr>
          <a:xfrm>
            <a:off x="3048000" y="7984431"/>
            <a:ext cx="9525" cy="1635820"/>
          </a:xfrm>
          <a:prstGeom prst="rect">
            <a:avLst/>
          </a:prstGeom>
          <a:solidFill>
            <a:srgbClr val="2A30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Text 45"/>
          <p:cNvSpPr/>
          <p:nvPr/>
        </p:nvSpPr>
        <p:spPr>
          <a:xfrm>
            <a:off x="3397250" y="8213031"/>
            <a:ext cx="4213225" cy="1235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759"/>
              </a:lnSpc>
              <a:buNone/>
            </a:pPr>
            <a:r>
              <a:rPr lang="pt-BR" sz="2250" dirty="0">
                <a:solidFill>
                  <a:srgbClr val="A3A8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Não altera transportadora nem concede compensação sozinho</a:t>
            </a:r>
            <a:endParaRPr lang="pt-BR" sz="2250" dirty="0"/>
          </a:p>
        </p:txBody>
      </p:sp>
      <p:sp>
        <p:nvSpPr>
          <p:cNvPr id="46" name="Shape 46"/>
          <p:cNvSpPr/>
          <p:nvPr/>
        </p:nvSpPr>
        <p:spPr>
          <a:xfrm>
            <a:off x="7810500" y="7984431"/>
            <a:ext cx="4762500" cy="19050"/>
          </a:xfrm>
          <a:prstGeom prst="rect">
            <a:avLst/>
          </a:prstGeom>
          <a:solidFill>
            <a:srgbClr val="3CCF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Shape 47"/>
          <p:cNvSpPr/>
          <p:nvPr/>
        </p:nvSpPr>
        <p:spPr>
          <a:xfrm>
            <a:off x="7810500" y="7984431"/>
            <a:ext cx="9525" cy="1635820"/>
          </a:xfrm>
          <a:prstGeom prst="rect">
            <a:avLst/>
          </a:prstGeom>
          <a:solidFill>
            <a:srgbClr val="2A30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Text 48"/>
          <p:cNvSpPr/>
          <p:nvPr/>
        </p:nvSpPr>
        <p:spPr>
          <a:xfrm>
            <a:off x="8159750" y="8213031"/>
            <a:ext cx="4213225" cy="1235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759"/>
              </a:lnSpc>
              <a:buNone/>
            </a:pPr>
            <a:r>
              <a:rPr lang="pt-BR" sz="2250" dirty="0">
                <a:solidFill>
                  <a:srgbClr val="A3A8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Casos críticos ou de baixa confiança vão para uma pessoa</a:t>
            </a:r>
            <a:endParaRPr lang="pt-BR" sz="2250" dirty="0"/>
          </a:p>
        </p:txBody>
      </p:sp>
      <p:sp>
        <p:nvSpPr>
          <p:cNvPr id="49" name="Shape 49"/>
          <p:cNvSpPr/>
          <p:nvPr/>
        </p:nvSpPr>
        <p:spPr>
          <a:xfrm>
            <a:off x="12573000" y="7984431"/>
            <a:ext cx="4762500" cy="19050"/>
          </a:xfrm>
          <a:prstGeom prst="rect">
            <a:avLst/>
          </a:prstGeom>
          <a:solidFill>
            <a:srgbClr val="3CCF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Shape 50"/>
          <p:cNvSpPr/>
          <p:nvPr/>
        </p:nvSpPr>
        <p:spPr>
          <a:xfrm>
            <a:off x="12573000" y="7984431"/>
            <a:ext cx="9525" cy="1635820"/>
          </a:xfrm>
          <a:prstGeom prst="rect">
            <a:avLst/>
          </a:prstGeom>
          <a:solidFill>
            <a:srgbClr val="2A30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1" name="Text 51"/>
          <p:cNvSpPr/>
          <p:nvPr/>
        </p:nvSpPr>
        <p:spPr>
          <a:xfrm>
            <a:off x="12922250" y="8213031"/>
            <a:ext cx="4213225" cy="1235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759"/>
              </a:lnSpc>
              <a:buNone/>
            </a:pPr>
            <a:r>
              <a:rPr lang="pt-BR" sz="2250" dirty="0">
                <a:solidFill>
                  <a:srgbClr val="A3A8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Respeita consentimento, experiência anterior e política econômica</a:t>
            </a:r>
            <a:endParaRPr lang="pt-BR" sz="2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952500" y="576263"/>
            <a:ext cx="512982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144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OLIST · FROM INSIGHT TO IMPACT</a:t>
            </a:r>
            <a:endParaRPr lang="pt-BR" sz="1800" dirty="0"/>
          </a:p>
        </p:txBody>
      </p:sp>
      <p:sp>
        <p:nvSpPr>
          <p:cNvPr id="3" name="Text 3"/>
          <p:cNvSpPr/>
          <p:nvPr/>
        </p:nvSpPr>
        <p:spPr>
          <a:xfrm>
            <a:off x="11684298" y="533400"/>
            <a:ext cx="147528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144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DESCOBRIR</a:t>
            </a:r>
            <a:endParaRPr lang="pt-BR" sz="1800" dirty="0"/>
          </a:p>
        </p:txBody>
      </p:sp>
      <p:sp>
        <p:nvSpPr>
          <p:cNvPr id="4" name="Shape 4"/>
          <p:cNvSpPr/>
          <p:nvPr/>
        </p:nvSpPr>
        <p:spPr>
          <a:xfrm>
            <a:off x="13464382" y="890587"/>
            <a:ext cx="1243608" cy="25400"/>
          </a:xfrm>
          <a:prstGeom prst="rect">
            <a:avLst/>
          </a:prstGeom>
          <a:solidFill>
            <a:srgbClr val="8E7C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5"/>
          <p:cNvSpPr/>
          <p:nvPr/>
        </p:nvSpPr>
        <p:spPr>
          <a:xfrm>
            <a:off x="13464382" y="534988"/>
            <a:ext cx="131980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144" dirty="0">
                <a:solidFill>
                  <a:srgbClr val="F3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DESENHAR</a:t>
            </a:r>
            <a:endParaRPr lang="pt-BR" sz="1800" dirty="0"/>
          </a:p>
        </p:txBody>
      </p:sp>
      <p:sp>
        <p:nvSpPr>
          <p:cNvPr id="6" name="Text 6"/>
          <p:cNvSpPr/>
          <p:nvPr/>
        </p:nvSpPr>
        <p:spPr>
          <a:xfrm>
            <a:off x="15088989" y="533400"/>
            <a:ext cx="1164431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144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ESCALAR</a:t>
            </a:r>
            <a:endParaRPr lang="pt-BR" sz="1800" dirty="0"/>
          </a:p>
        </p:txBody>
      </p:sp>
      <p:sp>
        <p:nvSpPr>
          <p:cNvPr id="7" name="Text 7"/>
          <p:cNvSpPr/>
          <p:nvPr/>
        </p:nvSpPr>
        <p:spPr>
          <a:xfrm>
            <a:off x="16558221" y="533400"/>
            <a:ext cx="85348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144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07/12</a:t>
            </a:r>
            <a:endParaRPr lang="pt-BR" sz="1800" dirty="0"/>
          </a:p>
        </p:txBody>
      </p:sp>
      <p:sp>
        <p:nvSpPr>
          <p:cNvPr id="8" name="Text 8"/>
          <p:cNvSpPr/>
          <p:nvPr/>
        </p:nvSpPr>
        <p:spPr>
          <a:xfrm>
            <a:off x="952500" y="1428750"/>
            <a:ext cx="163830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216" dirty="0">
                <a:solidFill>
                  <a:srgbClr val="8E7C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FLUXOS DE DECISÃO · COMPORTAMENTO PROPOSTO</a:t>
            </a:r>
            <a:endParaRPr lang="pt-BR" sz="1800" dirty="0"/>
          </a:p>
        </p:txBody>
      </p:sp>
      <p:sp>
        <p:nvSpPr>
          <p:cNvPr id="9" name="Text 9"/>
          <p:cNvSpPr/>
          <p:nvPr/>
        </p:nvSpPr>
        <p:spPr>
          <a:xfrm>
            <a:off x="952500" y="1898650"/>
            <a:ext cx="14716125" cy="12328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809"/>
              </a:lnSpc>
              <a:buNone/>
            </a:pPr>
            <a:r>
              <a:rPr lang="pt-BR" sz="4200" b="1" kern="0" spc="-84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autonomia é definida pelo contexto, pelas regras e pelo risco.</a:t>
            </a:r>
            <a:endParaRPr lang="pt-BR" sz="4200" dirty="0"/>
          </a:p>
        </p:txBody>
      </p:sp>
      <p:sp>
        <p:nvSpPr>
          <p:cNvPr id="10" name="Text 10"/>
          <p:cNvSpPr/>
          <p:nvPr/>
        </p:nvSpPr>
        <p:spPr>
          <a:xfrm>
            <a:off x="3905250" y="3600450"/>
            <a:ext cx="30480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216" dirty="0">
                <a:solidFill>
                  <a:srgbClr val="A3A8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GATILHO</a:t>
            </a:r>
            <a:endParaRPr lang="pt-BR" sz="1800" dirty="0"/>
          </a:p>
        </p:txBody>
      </p:sp>
      <p:sp>
        <p:nvSpPr>
          <p:cNvPr id="11" name="Text 11"/>
          <p:cNvSpPr/>
          <p:nvPr/>
        </p:nvSpPr>
        <p:spPr>
          <a:xfrm>
            <a:off x="7381875" y="3600450"/>
            <a:ext cx="30480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216" dirty="0">
                <a:solidFill>
                  <a:srgbClr val="8E7C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ANÁLISE</a:t>
            </a:r>
            <a:endParaRPr lang="pt-BR" sz="1800" dirty="0"/>
          </a:p>
        </p:txBody>
      </p:sp>
      <p:sp>
        <p:nvSpPr>
          <p:cNvPr id="12" name="Text 12"/>
          <p:cNvSpPr/>
          <p:nvPr/>
        </p:nvSpPr>
        <p:spPr>
          <a:xfrm>
            <a:off x="10858500" y="3600450"/>
            <a:ext cx="30480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216" dirty="0">
                <a:solidFill>
                  <a:srgbClr val="8E7C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DECISÃO</a:t>
            </a:r>
            <a:endParaRPr lang="pt-BR" sz="1800" dirty="0"/>
          </a:p>
        </p:txBody>
      </p:sp>
      <p:sp>
        <p:nvSpPr>
          <p:cNvPr id="13" name="Text 13"/>
          <p:cNvSpPr/>
          <p:nvPr/>
        </p:nvSpPr>
        <p:spPr>
          <a:xfrm>
            <a:off x="14335125" y="3600450"/>
            <a:ext cx="30480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216" dirty="0">
                <a:solidFill>
                  <a:srgbClr val="3CCFB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AÇÃO</a:t>
            </a:r>
            <a:endParaRPr lang="pt-BR" sz="1800" dirty="0"/>
          </a:p>
        </p:txBody>
      </p:sp>
      <p:sp>
        <p:nvSpPr>
          <p:cNvPr id="14" name="Shape 14"/>
          <p:cNvSpPr/>
          <p:nvPr/>
        </p:nvSpPr>
        <p:spPr>
          <a:xfrm>
            <a:off x="952500" y="4019550"/>
            <a:ext cx="16383000" cy="9525"/>
          </a:xfrm>
          <a:prstGeom prst="rect">
            <a:avLst/>
          </a:prstGeom>
          <a:solidFill>
            <a:srgbClr val="2A30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5"/>
          <p:cNvSpPr/>
          <p:nvPr/>
        </p:nvSpPr>
        <p:spPr>
          <a:xfrm>
            <a:off x="952500" y="4152900"/>
            <a:ext cx="24765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2550" b="1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LogiPredict</a:t>
            </a:r>
            <a:endParaRPr lang="pt-BR" sz="2550" dirty="0"/>
          </a:p>
        </p:txBody>
      </p:sp>
      <p:sp>
        <p:nvSpPr>
          <p:cNvPr id="16" name="Text 16"/>
          <p:cNvSpPr/>
          <p:nvPr/>
        </p:nvSpPr>
        <p:spPr>
          <a:xfrm>
            <a:off x="952500" y="4610100"/>
            <a:ext cx="2571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144" dirty="0">
                <a:solidFill>
                  <a:srgbClr val="3CCFB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PILOTO</a:t>
            </a:r>
            <a:endParaRPr lang="pt-BR" sz="1800" dirty="0"/>
          </a:p>
        </p:txBody>
      </p:sp>
      <p:sp>
        <p:nvSpPr>
          <p:cNvPr id="17" name="Shape 17"/>
          <p:cNvSpPr/>
          <p:nvPr/>
        </p:nvSpPr>
        <p:spPr>
          <a:xfrm>
            <a:off x="3790950" y="4352925"/>
            <a:ext cx="3305175" cy="19050"/>
          </a:xfrm>
          <a:prstGeom prst="rect">
            <a:avLst/>
          </a:prstGeom>
          <a:solidFill>
            <a:srgbClr val="7C82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8"/>
          <p:cNvSpPr/>
          <p:nvPr/>
        </p:nvSpPr>
        <p:spPr>
          <a:xfrm>
            <a:off x="7248525" y="4348163"/>
            <a:ext cx="3324225" cy="28575"/>
          </a:xfrm>
          <a:prstGeom prst="rect">
            <a:avLst/>
          </a:prstGeom>
          <a:solidFill>
            <a:srgbClr val="8E7C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9"/>
          <p:cNvSpPr/>
          <p:nvPr/>
        </p:nvSpPr>
        <p:spPr>
          <a:xfrm>
            <a:off x="10744200" y="4348163"/>
            <a:ext cx="3305175" cy="28575"/>
          </a:xfrm>
          <a:prstGeom prst="rect">
            <a:avLst/>
          </a:prstGeom>
          <a:solidFill>
            <a:srgbClr val="3CCF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20"/>
          <p:cNvSpPr/>
          <p:nvPr/>
        </p:nvSpPr>
        <p:spPr>
          <a:xfrm>
            <a:off x="3619500" y="4276725"/>
            <a:ext cx="171450" cy="171450"/>
          </a:xfrm>
          <a:prstGeom prst="ellipse">
            <a:avLst/>
          </a:prstGeom>
          <a:solidFill>
            <a:srgbClr val="0A0D1A"/>
          </a:solidFill>
          <a:ln w="19050">
            <a:solidFill>
              <a:srgbClr val="A3A8B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21"/>
          <p:cNvSpPr/>
          <p:nvPr/>
        </p:nvSpPr>
        <p:spPr>
          <a:xfrm>
            <a:off x="7096125" y="4286250"/>
            <a:ext cx="152400" cy="152400"/>
          </a:xfrm>
          <a:prstGeom prst="rect">
            <a:avLst/>
          </a:prstGeom>
          <a:solidFill>
            <a:srgbClr val="8E7C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22"/>
          <p:cNvSpPr/>
          <p:nvPr/>
        </p:nvSpPr>
        <p:spPr>
          <a:xfrm rot="2700000">
            <a:off x="10553700" y="4257675"/>
            <a:ext cx="209550" cy="209550"/>
          </a:xfrm>
          <a:prstGeom prst="rect">
            <a:avLst/>
          </a:prstGeom>
          <a:solidFill>
            <a:srgbClr val="8E7C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23"/>
          <p:cNvSpPr/>
          <p:nvPr/>
        </p:nvSpPr>
        <p:spPr>
          <a:xfrm>
            <a:off x="14049375" y="4276725"/>
            <a:ext cx="171450" cy="171450"/>
          </a:xfrm>
          <a:prstGeom prst="ellipse">
            <a:avLst/>
          </a:prstGeom>
          <a:solidFill>
            <a:srgbClr val="3CCF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4"/>
          <p:cNvSpPr/>
          <p:nvPr/>
        </p:nvSpPr>
        <p:spPr>
          <a:xfrm>
            <a:off x="3905250" y="4533900"/>
            <a:ext cx="3095625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2100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Limite de postagem, postagem efetiva ou D-3</a:t>
            </a:r>
            <a:endParaRPr lang="pt-BR" sz="2100" dirty="0"/>
          </a:p>
        </p:txBody>
      </p:sp>
      <p:sp>
        <p:nvSpPr>
          <p:cNvPr id="25" name="Text 25"/>
          <p:cNvSpPr/>
          <p:nvPr/>
        </p:nvSpPr>
        <p:spPr>
          <a:xfrm>
            <a:off x="7381875" y="4533900"/>
            <a:ext cx="3095625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2100" dirty="0">
                <a:solidFill>
                  <a:srgbClr val="A3A8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Histórico da rota, seller e rastreamento</a:t>
            </a:r>
            <a:endParaRPr lang="pt-BR" sz="2100" dirty="0"/>
          </a:p>
        </p:txBody>
      </p:sp>
      <p:sp>
        <p:nvSpPr>
          <p:cNvPr id="26" name="Text 26"/>
          <p:cNvSpPr/>
          <p:nvPr/>
        </p:nvSpPr>
        <p:spPr>
          <a:xfrm>
            <a:off x="10858500" y="4533900"/>
            <a:ext cx="3095625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2100" b="1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Há risco de atraso que exija intervenção?</a:t>
            </a:r>
            <a:endParaRPr lang="pt-BR" sz="2100" dirty="0"/>
          </a:p>
        </p:txBody>
      </p:sp>
      <p:sp>
        <p:nvSpPr>
          <p:cNvPr id="27" name="Text 27"/>
          <p:cNvSpPr/>
          <p:nvPr/>
        </p:nvSpPr>
        <p:spPr>
          <a:xfrm>
            <a:off x="14335125" y="4533900"/>
            <a:ext cx="3095625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2100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Alerta operacional ou comunicação autorizada</a:t>
            </a:r>
            <a:endParaRPr lang="pt-BR" sz="2100" dirty="0"/>
          </a:p>
        </p:txBody>
      </p:sp>
      <p:sp>
        <p:nvSpPr>
          <p:cNvPr id="28" name="Shape 28"/>
          <p:cNvSpPr/>
          <p:nvPr/>
        </p:nvSpPr>
        <p:spPr>
          <a:xfrm>
            <a:off x="10648950" y="4476750"/>
            <a:ext cx="28575" cy="1038225"/>
          </a:xfrm>
          <a:prstGeom prst="rect">
            <a:avLst/>
          </a:prstGeom>
          <a:solidFill>
            <a:srgbClr val="F3F4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Shape 29"/>
          <p:cNvSpPr/>
          <p:nvPr/>
        </p:nvSpPr>
        <p:spPr>
          <a:xfrm>
            <a:off x="10648950" y="5505450"/>
            <a:ext cx="209550" cy="28575"/>
          </a:xfrm>
          <a:prstGeom prst="rect">
            <a:avLst/>
          </a:prstGeom>
          <a:solidFill>
            <a:srgbClr val="F3F4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Shape 30"/>
          <p:cNvSpPr/>
          <p:nvPr/>
        </p:nvSpPr>
        <p:spPr>
          <a:xfrm>
            <a:off x="10877550" y="5438775"/>
            <a:ext cx="152400" cy="152400"/>
          </a:xfrm>
          <a:prstGeom prst="ellipse">
            <a:avLst/>
          </a:prstGeom>
          <a:solidFill>
            <a:srgbClr val="0A0D1A"/>
          </a:solidFill>
          <a:ln w="19050">
            <a:solidFill>
              <a:srgbClr val="F3F4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31"/>
          <p:cNvSpPr/>
          <p:nvPr/>
        </p:nvSpPr>
        <p:spPr>
          <a:xfrm>
            <a:off x="11106150" y="5353050"/>
            <a:ext cx="1047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144" dirty="0">
                <a:solidFill>
                  <a:srgbClr val="F3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HUMANO</a:t>
            </a:r>
            <a:endParaRPr lang="pt-BR" sz="1800" dirty="0"/>
          </a:p>
        </p:txBody>
      </p:sp>
      <p:sp>
        <p:nvSpPr>
          <p:cNvPr id="32" name="Text 32"/>
          <p:cNvSpPr/>
          <p:nvPr/>
        </p:nvSpPr>
        <p:spPr>
          <a:xfrm>
            <a:off x="12153900" y="5324475"/>
            <a:ext cx="52197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2100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Analista de operações decide a tratativa</a:t>
            </a:r>
            <a:endParaRPr lang="pt-BR" sz="2100" dirty="0"/>
          </a:p>
        </p:txBody>
      </p:sp>
      <p:sp>
        <p:nvSpPr>
          <p:cNvPr id="33" name="Shape 33"/>
          <p:cNvSpPr/>
          <p:nvPr/>
        </p:nvSpPr>
        <p:spPr>
          <a:xfrm>
            <a:off x="952500" y="5715000"/>
            <a:ext cx="16383000" cy="9525"/>
          </a:xfrm>
          <a:prstGeom prst="rect">
            <a:avLst/>
          </a:prstGeom>
          <a:solidFill>
            <a:srgbClr val="2A30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34"/>
          <p:cNvSpPr/>
          <p:nvPr/>
        </p:nvSpPr>
        <p:spPr>
          <a:xfrm>
            <a:off x="952500" y="5848350"/>
            <a:ext cx="24765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2550" b="1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SentimentDesk</a:t>
            </a:r>
            <a:endParaRPr lang="pt-BR" sz="2550" dirty="0"/>
          </a:p>
        </p:txBody>
      </p:sp>
      <p:sp>
        <p:nvSpPr>
          <p:cNvPr id="35" name="Text 35"/>
          <p:cNvSpPr/>
          <p:nvPr/>
        </p:nvSpPr>
        <p:spPr>
          <a:xfrm>
            <a:off x="952500" y="6305550"/>
            <a:ext cx="2571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144" dirty="0">
                <a:solidFill>
                  <a:srgbClr val="3CCFB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PILOTO</a:t>
            </a:r>
            <a:endParaRPr lang="pt-BR" sz="1800" dirty="0"/>
          </a:p>
        </p:txBody>
      </p:sp>
      <p:sp>
        <p:nvSpPr>
          <p:cNvPr id="36" name="Shape 36"/>
          <p:cNvSpPr/>
          <p:nvPr/>
        </p:nvSpPr>
        <p:spPr>
          <a:xfrm>
            <a:off x="3790950" y="6048375"/>
            <a:ext cx="3305175" cy="19050"/>
          </a:xfrm>
          <a:prstGeom prst="rect">
            <a:avLst/>
          </a:prstGeom>
          <a:solidFill>
            <a:srgbClr val="7C82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Shape 37"/>
          <p:cNvSpPr/>
          <p:nvPr/>
        </p:nvSpPr>
        <p:spPr>
          <a:xfrm>
            <a:off x="7248525" y="6043613"/>
            <a:ext cx="3324225" cy="28575"/>
          </a:xfrm>
          <a:prstGeom prst="rect">
            <a:avLst/>
          </a:prstGeom>
          <a:solidFill>
            <a:srgbClr val="8E7C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Shape 38"/>
          <p:cNvSpPr/>
          <p:nvPr/>
        </p:nvSpPr>
        <p:spPr>
          <a:xfrm>
            <a:off x="10744200" y="6043613"/>
            <a:ext cx="3305175" cy="28575"/>
          </a:xfrm>
          <a:prstGeom prst="rect">
            <a:avLst/>
          </a:prstGeom>
          <a:solidFill>
            <a:srgbClr val="3CCF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Shape 39"/>
          <p:cNvSpPr/>
          <p:nvPr/>
        </p:nvSpPr>
        <p:spPr>
          <a:xfrm>
            <a:off x="3619500" y="5972175"/>
            <a:ext cx="171450" cy="171450"/>
          </a:xfrm>
          <a:prstGeom prst="ellipse">
            <a:avLst/>
          </a:prstGeom>
          <a:solidFill>
            <a:srgbClr val="0A0D1A"/>
          </a:solidFill>
          <a:ln w="19050">
            <a:solidFill>
              <a:srgbClr val="A3A8B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Shape 40"/>
          <p:cNvSpPr/>
          <p:nvPr/>
        </p:nvSpPr>
        <p:spPr>
          <a:xfrm>
            <a:off x="7096125" y="5981700"/>
            <a:ext cx="152400" cy="152400"/>
          </a:xfrm>
          <a:prstGeom prst="rect">
            <a:avLst/>
          </a:prstGeom>
          <a:solidFill>
            <a:srgbClr val="8E7C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Shape 41"/>
          <p:cNvSpPr/>
          <p:nvPr/>
        </p:nvSpPr>
        <p:spPr>
          <a:xfrm rot="2700000">
            <a:off x="10553700" y="5953125"/>
            <a:ext cx="209550" cy="209550"/>
          </a:xfrm>
          <a:prstGeom prst="rect">
            <a:avLst/>
          </a:prstGeom>
          <a:solidFill>
            <a:srgbClr val="8E7C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Shape 42"/>
          <p:cNvSpPr/>
          <p:nvPr/>
        </p:nvSpPr>
        <p:spPr>
          <a:xfrm>
            <a:off x="14049375" y="5972175"/>
            <a:ext cx="171450" cy="171450"/>
          </a:xfrm>
          <a:prstGeom prst="ellipse">
            <a:avLst/>
          </a:prstGeom>
          <a:solidFill>
            <a:srgbClr val="3CCF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Text 43"/>
          <p:cNvSpPr/>
          <p:nvPr/>
        </p:nvSpPr>
        <p:spPr>
          <a:xfrm>
            <a:off x="3905250" y="6229350"/>
            <a:ext cx="3095625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2100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Avaliação de 1 a 3 estrelas</a:t>
            </a:r>
            <a:endParaRPr lang="pt-BR" sz="2100" dirty="0"/>
          </a:p>
        </p:txBody>
      </p:sp>
      <p:sp>
        <p:nvSpPr>
          <p:cNvPr id="44" name="Text 44"/>
          <p:cNvSpPr/>
          <p:nvPr/>
        </p:nvSpPr>
        <p:spPr>
          <a:xfrm>
            <a:off x="7381875" y="6229350"/>
            <a:ext cx="3095625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2100" dirty="0">
                <a:solidFill>
                  <a:srgbClr val="A3A8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Texto, pedido, motivo e severidade</a:t>
            </a:r>
            <a:endParaRPr lang="pt-BR" sz="2100" dirty="0"/>
          </a:p>
        </p:txBody>
      </p:sp>
      <p:sp>
        <p:nvSpPr>
          <p:cNvPr id="45" name="Text 45"/>
          <p:cNvSpPr/>
          <p:nvPr/>
        </p:nvSpPr>
        <p:spPr>
          <a:xfrm>
            <a:off x="10858500" y="6229350"/>
            <a:ext cx="3095625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2100" b="1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Confiança ≥ 0,8? Caso crítico?</a:t>
            </a:r>
            <a:endParaRPr lang="pt-BR" sz="2100" dirty="0"/>
          </a:p>
        </p:txBody>
      </p:sp>
      <p:sp>
        <p:nvSpPr>
          <p:cNvPr id="46" name="Text 46"/>
          <p:cNvSpPr/>
          <p:nvPr/>
        </p:nvSpPr>
        <p:spPr>
          <a:xfrm>
            <a:off x="14335125" y="6229350"/>
            <a:ext cx="3095625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2100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Resposta permitida ou encaminhamento</a:t>
            </a:r>
            <a:endParaRPr lang="pt-BR" sz="2100" dirty="0"/>
          </a:p>
        </p:txBody>
      </p:sp>
      <p:sp>
        <p:nvSpPr>
          <p:cNvPr id="47" name="Shape 47"/>
          <p:cNvSpPr/>
          <p:nvPr/>
        </p:nvSpPr>
        <p:spPr>
          <a:xfrm>
            <a:off x="10648950" y="6172200"/>
            <a:ext cx="28575" cy="1038225"/>
          </a:xfrm>
          <a:prstGeom prst="rect">
            <a:avLst/>
          </a:prstGeom>
          <a:solidFill>
            <a:srgbClr val="F3F4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Shape 48"/>
          <p:cNvSpPr/>
          <p:nvPr/>
        </p:nvSpPr>
        <p:spPr>
          <a:xfrm>
            <a:off x="10648950" y="7200900"/>
            <a:ext cx="209550" cy="28575"/>
          </a:xfrm>
          <a:prstGeom prst="rect">
            <a:avLst/>
          </a:prstGeom>
          <a:solidFill>
            <a:srgbClr val="F3F4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9" name="Shape 49"/>
          <p:cNvSpPr/>
          <p:nvPr/>
        </p:nvSpPr>
        <p:spPr>
          <a:xfrm>
            <a:off x="10877550" y="7134225"/>
            <a:ext cx="152400" cy="152400"/>
          </a:xfrm>
          <a:prstGeom prst="ellipse">
            <a:avLst/>
          </a:prstGeom>
          <a:solidFill>
            <a:srgbClr val="0A0D1A"/>
          </a:solidFill>
          <a:ln w="19050">
            <a:solidFill>
              <a:srgbClr val="F3F4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" name="Text 50"/>
          <p:cNvSpPr/>
          <p:nvPr/>
        </p:nvSpPr>
        <p:spPr>
          <a:xfrm>
            <a:off x="11106150" y="7048500"/>
            <a:ext cx="1047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144" dirty="0">
                <a:solidFill>
                  <a:srgbClr val="F3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HUMANO</a:t>
            </a:r>
            <a:endParaRPr lang="pt-BR" sz="1800" dirty="0"/>
          </a:p>
        </p:txBody>
      </p:sp>
      <p:sp>
        <p:nvSpPr>
          <p:cNvPr id="51" name="Text 51"/>
          <p:cNvSpPr/>
          <p:nvPr/>
        </p:nvSpPr>
        <p:spPr>
          <a:xfrm>
            <a:off x="12153900" y="7019925"/>
            <a:ext cx="52197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2100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Crítico ou confiança &lt; 0,8: analista</a:t>
            </a:r>
            <a:endParaRPr lang="pt-BR" sz="2100" dirty="0"/>
          </a:p>
        </p:txBody>
      </p:sp>
      <p:sp>
        <p:nvSpPr>
          <p:cNvPr id="52" name="Shape 52"/>
          <p:cNvSpPr/>
          <p:nvPr/>
        </p:nvSpPr>
        <p:spPr>
          <a:xfrm>
            <a:off x="952500" y="7410450"/>
            <a:ext cx="16383000" cy="9525"/>
          </a:xfrm>
          <a:prstGeom prst="rect">
            <a:avLst/>
          </a:prstGeom>
          <a:solidFill>
            <a:srgbClr val="2A30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3" name="Text 53"/>
          <p:cNvSpPr/>
          <p:nvPr/>
        </p:nvSpPr>
        <p:spPr>
          <a:xfrm>
            <a:off x="952500" y="7543800"/>
            <a:ext cx="24765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2550" b="1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WinBack</a:t>
            </a:r>
            <a:endParaRPr lang="pt-BR" sz="2550" dirty="0"/>
          </a:p>
        </p:txBody>
      </p:sp>
      <p:sp>
        <p:nvSpPr>
          <p:cNvPr id="54" name="Text 54"/>
          <p:cNvSpPr/>
          <p:nvPr/>
        </p:nvSpPr>
        <p:spPr>
          <a:xfrm>
            <a:off x="952500" y="8001000"/>
            <a:ext cx="2571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144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EXPANSÃO FUTURA</a:t>
            </a:r>
            <a:endParaRPr lang="pt-BR" sz="1800" dirty="0"/>
          </a:p>
        </p:txBody>
      </p:sp>
      <p:sp>
        <p:nvSpPr>
          <p:cNvPr id="55" name="Shape 55"/>
          <p:cNvSpPr/>
          <p:nvPr/>
        </p:nvSpPr>
        <p:spPr>
          <a:xfrm>
            <a:off x="3790950" y="7743825"/>
            <a:ext cx="3305175" cy="19050"/>
          </a:xfrm>
          <a:prstGeom prst="rect">
            <a:avLst/>
          </a:prstGeom>
          <a:solidFill>
            <a:srgbClr val="7C82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6" name="Shape 56"/>
          <p:cNvSpPr/>
          <p:nvPr/>
        </p:nvSpPr>
        <p:spPr>
          <a:xfrm>
            <a:off x="7248525" y="7739063"/>
            <a:ext cx="3324225" cy="28575"/>
          </a:xfrm>
          <a:prstGeom prst="rect">
            <a:avLst/>
          </a:prstGeom>
          <a:solidFill>
            <a:srgbClr val="8E7C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7" name="Shape 57"/>
          <p:cNvSpPr/>
          <p:nvPr/>
        </p:nvSpPr>
        <p:spPr>
          <a:xfrm>
            <a:off x="10744200" y="7739063"/>
            <a:ext cx="3305175" cy="28575"/>
          </a:xfrm>
          <a:prstGeom prst="rect">
            <a:avLst/>
          </a:prstGeom>
          <a:solidFill>
            <a:srgbClr val="3CCF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8" name="Shape 58"/>
          <p:cNvSpPr/>
          <p:nvPr/>
        </p:nvSpPr>
        <p:spPr>
          <a:xfrm>
            <a:off x="3619500" y="7667625"/>
            <a:ext cx="171450" cy="171450"/>
          </a:xfrm>
          <a:prstGeom prst="ellipse">
            <a:avLst/>
          </a:prstGeom>
          <a:solidFill>
            <a:srgbClr val="0A0D1A"/>
          </a:solidFill>
          <a:ln w="19050">
            <a:solidFill>
              <a:srgbClr val="A3A8B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9" name="Shape 59"/>
          <p:cNvSpPr/>
          <p:nvPr/>
        </p:nvSpPr>
        <p:spPr>
          <a:xfrm>
            <a:off x="7096125" y="7677150"/>
            <a:ext cx="152400" cy="152400"/>
          </a:xfrm>
          <a:prstGeom prst="rect">
            <a:avLst/>
          </a:prstGeom>
          <a:solidFill>
            <a:srgbClr val="8E7C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0" name="Shape 60"/>
          <p:cNvSpPr/>
          <p:nvPr/>
        </p:nvSpPr>
        <p:spPr>
          <a:xfrm rot="2700000">
            <a:off x="10553700" y="7648575"/>
            <a:ext cx="209550" cy="209550"/>
          </a:xfrm>
          <a:prstGeom prst="rect">
            <a:avLst/>
          </a:prstGeom>
          <a:solidFill>
            <a:srgbClr val="8E7C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1" name="Shape 61"/>
          <p:cNvSpPr/>
          <p:nvPr/>
        </p:nvSpPr>
        <p:spPr>
          <a:xfrm>
            <a:off x="14049375" y="7667625"/>
            <a:ext cx="171450" cy="171450"/>
          </a:xfrm>
          <a:prstGeom prst="ellipse">
            <a:avLst/>
          </a:prstGeom>
          <a:solidFill>
            <a:srgbClr val="3CCF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2" name="Text 62"/>
          <p:cNvSpPr/>
          <p:nvPr/>
        </p:nvSpPr>
        <p:spPr>
          <a:xfrm>
            <a:off x="3905250" y="7924800"/>
            <a:ext cx="3095625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2100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Cliente elegível entre D+7 e D+90</a:t>
            </a:r>
            <a:endParaRPr lang="pt-BR" sz="2100" dirty="0"/>
          </a:p>
        </p:txBody>
      </p:sp>
      <p:sp>
        <p:nvSpPr>
          <p:cNvPr id="63" name="Text 63"/>
          <p:cNvSpPr/>
          <p:nvPr/>
        </p:nvSpPr>
        <p:spPr>
          <a:xfrm>
            <a:off x="7381875" y="7924800"/>
            <a:ext cx="3095625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2100" dirty="0">
                <a:solidFill>
                  <a:srgbClr val="A3A8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Consentimento, histórico e pendências</a:t>
            </a:r>
            <a:endParaRPr lang="pt-BR" sz="2100" dirty="0"/>
          </a:p>
        </p:txBody>
      </p:sp>
      <p:sp>
        <p:nvSpPr>
          <p:cNvPr id="64" name="Text 64"/>
          <p:cNvSpPr/>
          <p:nvPr/>
        </p:nvSpPr>
        <p:spPr>
          <a:xfrm>
            <a:off x="10858500" y="7924800"/>
            <a:ext cx="3095625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2100" b="1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Contatar, aguardar ou suspender?</a:t>
            </a:r>
            <a:endParaRPr lang="pt-BR" sz="2100" dirty="0"/>
          </a:p>
        </p:txBody>
      </p:sp>
      <p:sp>
        <p:nvSpPr>
          <p:cNvPr id="65" name="Text 65"/>
          <p:cNvSpPr/>
          <p:nvPr/>
        </p:nvSpPr>
        <p:spPr>
          <a:xfrm>
            <a:off x="14335125" y="7924800"/>
            <a:ext cx="3095625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2100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Comunicação permitida</a:t>
            </a:r>
            <a:endParaRPr lang="pt-BR" sz="2100" dirty="0"/>
          </a:p>
        </p:txBody>
      </p:sp>
      <p:sp>
        <p:nvSpPr>
          <p:cNvPr id="66" name="Shape 66"/>
          <p:cNvSpPr/>
          <p:nvPr/>
        </p:nvSpPr>
        <p:spPr>
          <a:xfrm>
            <a:off x="10648950" y="7867650"/>
            <a:ext cx="28575" cy="1038225"/>
          </a:xfrm>
          <a:prstGeom prst="rect">
            <a:avLst/>
          </a:prstGeom>
          <a:solidFill>
            <a:srgbClr val="F3F4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7" name="Shape 67"/>
          <p:cNvSpPr/>
          <p:nvPr/>
        </p:nvSpPr>
        <p:spPr>
          <a:xfrm>
            <a:off x="10648950" y="8896350"/>
            <a:ext cx="209550" cy="28575"/>
          </a:xfrm>
          <a:prstGeom prst="rect">
            <a:avLst/>
          </a:prstGeom>
          <a:solidFill>
            <a:srgbClr val="F3F4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8" name="Shape 68"/>
          <p:cNvSpPr/>
          <p:nvPr/>
        </p:nvSpPr>
        <p:spPr>
          <a:xfrm>
            <a:off x="10877550" y="8829675"/>
            <a:ext cx="152400" cy="152400"/>
          </a:xfrm>
          <a:prstGeom prst="ellipse">
            <a:avLst/>
          </a:prstGeom>
          <a:solidFill>
            <a:srgbClr val="0A0D1A"/>
          </a:solidFill>
          <a:ln w="19050">
            <a:solidFill>
              <a:srgbClr val="F3F4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9" name="Text 69"/>
          <p:cNvSpPr/>
          <p:nvPr/>
        </p:nvSpPr>
        <p:spPr>
          <a:xfrm>
            <a:off x="11106150" y="8743950"/>
            <a:ext cx="1047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144" dirty="0">
                <a:solidFill>
                  <a:srgbClr val="F3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HUMANO</a:t>
            </a:r>
            <a:endParaRPr lang="pt-BR" sz="1800" dirty="0"/>
          </a:p>
        </p:txBody>
      </p:sp>
      <p:sp>
        <p:nvSpPr>
          <p:cNvPr id="70" name="Text 70"/>
          <p:cNvSpPr/>
          <p:nvPr/>
        </p:nvSpPr>
        <p:spPr>
          <a:xfrm>
            <a:off x="12153900" y="8715375"/>
            <a:ext cx="52197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2100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Incentivo &gt; 10%: aprovação do gestor</a:t>
            </a:r>
            <a:endParaRPr lang="pt-BR" sz="2100" dirty="0"/>
          </a:p>
        </p:txBody>
      </p:sp>
      <p:sp>
        <p:nvSpPr>
          <p:cNvPr id="71" name="Shape 71"/>
          <p:cNvSpPr/>
          <p:nvPr/>
        </p:nvSpPr>
        <p:spPr>
          <a:xfrm>
            <a:off x="952500" y="9286875"/>
            <a:ext cx="16383000" cy="9525"/>
          </a:xfrm>
          <a:prstGeom prst="rect">
            <a:avLst/>
          </a:prstGeom>
          <a:solidFill>
            <a:srgbClr val="2A30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2" name="Text 72"/>
          <p:cNvSpPr/>
          <p:nvPr/>
        </p:nvSpPr>
        <p:spPr>
          <a:xfrm>
            <a:off x="952500" y="9477375"/>
            <a:ext cx="8667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dirty="0">
                <a:solidFill>
                  <a:srgbClr val="F0B54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DADOS</a:t>
            </a:r>
            <a:endParaRPr lang="pt-BR" sz="1800" dirty="0"/>
          </a:p>
        </p:txBody>
      </p:sp>
      <p:sp>
        <p:nvSpPr>
          <p:cNvPr id="73" name="Text 73"/>
          <p:cNvSpPr/>
          <p:nvPr/>
        </p:nvSpPr>
        <p:spPr>
          <a:xfrm>
            <a:off x="1876425" y="9477375"/>
            <a:ext cx="3238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pt-BR" sz="1800" dirty="0"/>
          </a:p>
        </p:txBody>
      </p:sp>
      <p:sp>
        <p:nvSpPr>
          <p:cNvPr id="74" name="Text 74"/>
          <p:cNvSpPr/>
          <p:nvPr/>
        </p:nvSpPr>
        <p:spPr>
          <a:xfrm>
            <a:off x="2200275" y="9477375"/>
            <a:ext cx="309181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dirty="0">
                <a:solidFill>
                  <a:srgbClr val="8E7C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REGRAS E INTELIGÊNCIA</a:t>
            </a:r>
            <a:endParaRPr lang="pt-BR" sz="1800" dirty="0"/>
          </a:p>
        </p:txBody>
      </p:sp>
      <p:sp>
        <p:nvSpPr>
          <p:cNvPr id="75" name="Text 75"/>
          <p:cNvSpPr/>
          <p:nvPr/>
        </p:nvSpPr>
        <p:spPr>
          <a:xfrm>
            <a:off x="5349240" y="9477375"/>
            <a:ext cx="3238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pt-BR" sz="1800" dirty="0"/>
          </a:p>
        </p:txBody>
      </p:sp>
      <p:sp>
        <p:nvSpPr>
          <p:cNvPr id="76" name="Text 76"/>
          <p:cNvSpPr/>
          <p:nvPr/>
        </p:nvSpPr>
        <p:spPr>
          <a:xfrm>
            <a:off x="5673090" y="9477375"/>
            <a:ext cx="114490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dirty="0">
                <a:solidFill>
                  <a:srgbClr val="8E7C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AGENTES</a:t>
            </a:r>
            <a:endParaRPr lang="pt-BR" sz="1800" dirty="0"/>
          </a:p>
        </p:txBody>
      </p:sp>
      <p:sp>
        <p:nvSpPr>
          <p:cNvPr id="77" name="Text 77"/>
          <p:cNvSpPr/>
          <p:nvPr/>
        </p:nvSpPr>
        <p:spPr>
          <a:xfrm>
            <a:off x="6875145" y="9477375"/>
            <a:ext cx="3238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pt-BR" sz="1800" dirty="0"/>
          </a:p>
        </p:txBody>
      </p:sp>
      <p:sp>
        <p:nvSpPr>
          <p:cNvPr id="78" name="Text 78"/>
          <p:cNvSpPr/>
          <p:nvPr/>
        </p:nvSpPr>
        <p:spPr>
          <a:xfrm>
            <a:off x="7198995" y="9477375"/>
            <a:ext cx="8667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dirty="0">
                <a:solidFill>
                  <a:srgbClr val="3CCFB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AÇÕES</a:t>
            </a:r>
            <a:endParaRPr lang="pt-BR" sz="1800" dirty="0"/>
          </a:p>
        </p:txBody>
      </p:sp>
      <p:sp>
        <p:nvSpPr>
          <p:cNvPr id="79" name="Text 79"/>
          <p:cNvSpPr/>
          <p:nvPr/>
        </p:nvSpPr>
        <p:spPr>
          <a:xfrm>
            <a:off x="8122920" y="9477375"/>
            <a:ext cx="3238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pt-BR" sz="1800" dirty="0"/>
          </a:p>
        </p:txBody>
      </p:sp>
      <p:sp>
        <p:nvSpPr>
          <p:cNvPr id="80" name="Text 80"/>
          <p:cNvSpPr/>
          <p:nvPr/>
        </p:nvSpPr>
        <p:spPr>
          <a:xfrm>
            <a:off x="8446770" y="9477375"/>
            <a:ext cx="114490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dirty="0">
                <a:solidFill>
                  <a:srgbClr val="F3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PESSOAS</a:t>
            </a:r>
            <a:endParaRPr lang="pt-BR" sz="1800" dirty="0"/>
          </a:p>
        </p:txBody>
      </p:sp>
      <p:sp>
        <p:nvSpPr>
          <p:cNvPr id="81" name="Text 81"/>
          <p:cNvSpPr/>
          <p:nvPr/>
        </p:nvSpPr>
        <p:spPr>
          <a:xfrm>
            <a:off x="9801225" y="9467850"/>
            <a:ext cx="753427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pt-BR" sz="1800" dirty="0">
                <a:solidFill>
                  <a:srgbClr val="A3A8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Arquitetura conceitual. Não representa implementação concluída.</a:t>
            </a:r>
            <a:endParaRPr lang="pt-BR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952500" y="576263"/>
            <a:ext cx="512982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144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OLIST · FROM INSIGHT TO IMPACT</a:t>
            </a:r>
            <a:endParaRPr lang="pt-BR" sz="1800" dirty="0"/>
          </a:p>
        </p:txBody>
      </p:sp>
      <p:sp>
        <p:nvSpPr>
          <p:cNvPr id="3" name="Text 3"/>
          <p:cNvSpPr/>
          <p:nvPr/>
        </p:nvSpPr>
        <p:spPr>
          <a:xfrm>
            <a:off x="11684298" y="533400"/>
            <a:ext cx="147528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144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DESCOBRIR</a:t>
            </a:r>
            <a:endParaRPr lang="pt-BR" sz="1800" dirty="0"/>
          </a:p>
        </p:txBody>
      </p:sp>
      <p:sp>
        <p:nvSpPr>
          <p:cNvPr id="4" name="Shape 4"/>
          <p:cNvSpPr/>
          <p:nvPr/>
        </p:nvSpPr>
        <p:spPr>
          <a:xfrm>
            <a:off x="13464382" y="890587"/>
            <a:ext cx="1243608" cy="25400"/>
          </a:xfrm>
          <a:prstGeom prst="rect">
            <a:avLst/>
          </a:prstGeom>
          <a:solidFill>
            <a:srgbClr val="8E7C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5"/>
          <p:cNvSpPr/>
          <p:nvPr/>
        </p:nvSpPr>
        <p:spPr>
          <a:xfrm>
            <a:off x="13464382" y="534988"/>
            <a:ext cx="131980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144" dirty="0">
                <a:solidFill>
                  <a:srgbClr val="F3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DESENHAR</a:t>
            </a:r>
            <a:endParaRPr lang="pt-BR" sz="1800" dirty="0"/>
          </a:p>
        </p:txBody>
      </p:sp>
      <p:sp>
        <p:nvSpPr>
          <p:cNvPr id="6" name="Text 6"/>
          <p:cNvSpPr/>
          <p:nvPr/>
        </p:nvSpPr>
        <p:spPr>
          <a:xfrm>
            <a:off x="15088989" y="533400"/>
            <a:ext cx="1164431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144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ESCALAR</a:t>
            </a:r>
            <a:endParaRPr lang="pt-BR" sz="1800" dirty="0"/>
          </a:p>
        </p:txBody>
      </p:sp>
      <p:sp>
        <p:nvSpPr>
          <p:cNvPr id="7" name="Text 7"/>
          <p:cNvSpPr/>
          <p:nvPr/>
        </p:nvSpPr>
        <p:spPr>
          <a:xfrm>
            <a:off x="16558221" y="533400"/>
            <a:ext cx="85348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144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08/12</a:t>
            </a:r>
            <a:endParaRPr lang="pt-BR" sz="1800" dirty="0"/>
          </a:p>
        </p:txBody>
      </p:sp>
      <p:sp>
        <p:nvSpPr>
          <p:cNvPr id="8" name="Text 8"/>
          <p:cNvSpPr/>
          <p:nvPr/>
        </p:nvSpPr>
        <p:spPr>
          <a:xfrm>
            <a:off x="952500" y="1428750"/>
            <a:ext cx="163830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216" dirty="0">
                <a:solidFill>
                  <a:srgbClr val="8E7C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JORNADA MULTIAGENTE · CASO HISTÓRICO + SIMULAÇÃO</a:t>
            </a:r>
            <a:endParaRPr lang="pt-BR" sz="1800" dirty="0"/>
          </a:p>
        </p:txBody>
      </p:sp>
      <p:sp>
        <p:nvSpPr>
          <p:cNvPr id="9" name="Text 9"/>
          <p:cNvSpPr/>
          <p:nvPr/>
        </p:nvSpPr>
        <p:spPr>
          <a:xfrm>
            <a:off x="952500" y="1898650"/>
            <a:ext cx="14716125" cy="131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951"/>
              </a:lnSpc>
              <a:buNone/>
            </a:pPr>
            <a:r>
              <a:rPr lang="pt-BR" sz="4500" b="1" kern="0" spc="-90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Um pedido real mostra onde os agentes poderiam intervir.</a:t>
            </a:r>
            <a:endParaRPr lang="pt-BR" sz="4500" dirty="0"/>
          </a:p>
        </p:txBody>
      </p:sp>
      <p:sp>
        <p:nvSpPr>
          <p:cNvPr id="10" name="Text 10"/>
          <p:cNvSpPr/>
          <p:nvPr/>
        </p:nvSpPr>
        <p:spPr>
          <a:xfrm>
            <a:off x="952500" y="3597871"/>
            <a:ext cx="6880007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216" dirty="0">
                <a:solidFill>
                  <a:srgbClr val="F0B54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 QUE ACONTECEU · OBSERVADO NO DATASET</a:t>
            </a:r>
            <a:endParaRPr lang="pt-BR" sz="1800" dirty="0"/>
          </a:p>
        </p:txBody>
      </p:sp>
      <p:sp>
        <p:nvSpPr>
          <p:cNvPr id="11" name="Shape 11"/>
          <p:cNvSpPr/>
          <p:nvPr/>
        </p:nvSpPr>
        <p:spPr>
          <a:xfrm>
            <a:off x="952500" y="4238625"/>
            <a:ext cx="16383000" cy="19050"/>
          </a:xfrm>
          <a:prstGeom prst="rect">
            <a:avLst/>
          </a:prstGeom>
          <a:solidFill>
            <a:srgbClr val="F0B54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2"/>
          <p:cNvSpPr/>
          <p:nvPr/>
        </p:nvSpPr>
        <p:spPr>
          <a:xfrm>
            <a:off x="4949925" y="4226521"/>
            <a:ext cx="19050" cy="2466975"/>
          </a:xfrm>
          <a:prstGeom prst="rect">
            <a:avLst/>
          </a:prstGeom>
          <a:solidFill>
            <a:srgbClr val="2A30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3"/>
          <p:cNvSpPr/>
          <p:nvPr/>
        </p:nvSpPr>
        <p:spPr>
          <a:xfrm>
            <a:off x="876300" y="4150321"/>
            <a:ext cx="171450" cy="171450"/>
          </a:xfrm>
          <a:prstGeom prst="ellipse">
            <a:avLst/>
          </a:prstGeom>
          <a:solidFill>
            <a:srgbClr val="F0B54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4"/>
          <p:cNvSpPr/>
          <p:nvPr/>
        </p:nvSpPr>
        <p:spPr>
          <a:xfrm>
            <a:off x="4873724" y="4150321"/>
            <a:ext cx="171450" cy="171450"/>
          </a:xfrm>
          <a:prstGeom prst="ellipse">
            <a:avLst/>
          </a:prstGeom>
          <a:solidFill>
            <a:srgbClr val="F0B54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5"/>
          <p:cNvSpPr/>
          <p:nvPr/>
        </p:nvSpPr>
        <p:spPr>
          <a:xfrm>
            <a:off x="11860907" y="4016971"/>
            <a:ext cx="38100" cy="438150"/>
          </a:xfrm>
          <a:prstGeom prst="rect">
            <a:avLst/>
          </a:prstGeom>
          <a:solidFill>
            <a:srgbClr val="F3F4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6"/>
          <p:cNvSpPr/>
          <p:nvPr/>
        </p:nvSpPr>
        <p:spPr>
          <a:xfrm>
            <a:off x="12201525" y="4150321"/>
            <a:ext cx="171450" cy="171450"/>
          </a:xfrm>
          <a:prstGeom prst="ellipse">
            <a:avLst/>
          </a:prstGeom>
          <a:solidFill>
            <a:srgbClr val="F0B54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7"/>
          <p:cNvSpPr/>
          <p:nvPr/>
        </p:nvSpPr>
        <p:spPr>
          <a:xfrm>
            <a:off x="14773275" y="4152900"/>
            <a:ext cx="171450" cy="171450"/>
          </a:xfrm>
          <a:prstGeom prst="ellipse">
            <a:avLst/>
          </a:prstGeom>
          <a:solidFill>
            <a:srgbClr val="F0B54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8"/>
          <p:cNvSpPr/>
          <p:nvPr/>
        </p:nvSpPr>
        <p:spPr>
          <a:xfrm>
            <a:off x="952500" y="4512271"/>
            <a:ext cx="398145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dirty="0">
                <a:solidFill>
                  <a:srgbClr val="A3A8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25/02 · D0</a:t>
            </a:r>
            <a:endParaRPr lang="pt-BR" sz="1800" dirty="0"/>
          </a:p>
        </p:txBody>
      </p:sp>
      <p:sp>
        <p:nvSpPr>
          <p:cNvPr id="19" name="Text 19"/>
          <p:cNvSpPr/>
          <p:nvPr/>
        </p:nvSpPr>
        <p:spPr>
          <a:xfrm>
            <a:off x="952500" y="4867870"/>
            <a:ext cx="3728085" cy="731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138"/>
              </a:lnSpc>
              <a:buNone/>
            </a:pPr>
            <a:r>
              <a:rPr lang="pt-BR" sz="2100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Compra, Minas Gerais → Maranhão</a:t>
            </a:r>
            <a:endParaRPr lang="pt-BR" sz="2100" dirty="0"/>
          </a:p>
        </p:txBody>
      </p:sp>
      <p:sp>
        <p:nvSpPr>
          <p:cNvPr id="20" name="Text 20"/>
          <p:cNvSpPr/>
          <p:nvPr/>
        </p:nvSpPr>
        <p:spPr>
          <a:xfrm>
            <a:off x="5140425" y="4512271"/>
            <a:ext cx="398145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dirty="0">
                <a:solidFill>
                  <a:srgbClr val="A3A8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D+11</a:t>
            </a:r>
            <a:endParaRPr lang="pt-BR" sz="1800" dirty="0"/>
          </a:p>
        </p:txBody>
      </p:sp>
      <p:sp>
        <p:nvSpPr>
          <p:cNvPr id="21" name="Text 21"/>
          <p:cNvSpPr/>
          <p:nvPr/>
        </p:nvSpPr>
        <p:spPr>
          <a:xfrm>
            <a:off x="5140425" y="4867870"/>
            <a:ext cx="3728085" cy="731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138"/>
              </a:lnSpc>
              <a:buNone/>
            </a:pPr>
            <a:r>
              <a:rPr lang="pt-BR" sz="2100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Postagem quatro dias após o limite</a:t>
            </a:r>
            <a:endParaRPr lang="pt-BR" sz="2100" dirty="0"/>
          </a:p>
        </p:txBody>
      </p:sp>
      <p:sp>
        <p:nvSpPr>
          <p:cNvPr id="22" name="Text 22"/>
          <p:cNvSpPr/>
          <p:nvPr/>
        </p:nvSpPr>
        <p:spPr>
          <a:xfrm>
            <a:off x="9906000" y="4512271"/>
            <a:ext cx="1857375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pt-BR" sz="1800" dirty="0">
                <a:solidFill>
                  <a:srgbClr val="A3A8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27/03 · D+30</a:t>
            </a:r>
            <a:endParaRPr lang="pt-BR" sz="1800" dirty="0"/>
          </a:p>
        </p:txBody>
      </p:sp>
      <p:sp>
        <p:nvSpPr>
          <p:cNvPr id="23" name="Text 23"/>
          <p:cNvSpPr/>
          <p:nvPr/>
        </p:nvSpPr>
        <p:spPr>
          <a:xfrm>
            <a:off x="9525000" y="4867870"/>
            <a:ext cx="2238375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94138"/>
              </a:lnSpc>
              <a:buNone/>
            </a:pPr>
            <a:r>
              <a:rPr lang="pt-BR" sz="2100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Prazo prometido</a:t>
            </a:r>
            <a:endParaRPr lang="pt-BR" sz="2100" dirty="0"/>
          </a:p>
        </p:txBody>
      </p:sp>
      <p:sp>
        <p:nvSpPr>
          <p:cNvPr id="24" name="Text 24"/>
          <p:cNvSpPr/>
          <p:nvPr/>
        </p:nvSpPr>
        <p:spPr>
          <a:xfrm>
            <a:off x="12382500" y="4512271"/>
            <a:ext cx="22860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dirty="0">
                <a:solidFill>
                  <a:srgbClr val="A3A8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06/04 · D+40</a:t>
            </a:r>
            <a:endParaRPr lang="pt-BR" sz="1800" dirty="0"/>
          </a:p>
        </p:txBody>
      </p:sp>
      <p:sp>
        <p:nvSpPr>
          <p:cNvPr id="25" name="Text 25"/>
          <p:cNvSpPr/>
          <p:nvPr/>
        </p:nvSpPr>
        <p:spPr>
          <a:xfrm>
            <a:off x="12382500" y="4867870"/>
            <a:ext cx="2381250" cy="731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138"/>
              </a:lnSpc>
              <a:buNone/>
            </a:pPr>
            <a:r>
              <a:rPr lang="pt-BR" sz="2100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Entrega 10 dias após o prazo</a:t>
            </a:r>
            <a:endParaRPr lang="pt-BR" sz="2100" dirty="0"/>
          </a:p>
        </p:txBody>
      </p:sp>
      <p:sp>
        <p:nvSpPr>
          <p:cNvPr id="26" name="Shape 26"/>
          <p:cNvSpPr/>
          <p:nvPr/>
        </p:nvSpPr>
        <p:spPr>
          <a:xfrm>
            <a:off x="762000" y="6000750"/>
            <a:ext cx="16764000" cy="3028950"/>
          </a:xfrm>
          <a:prstGeom prst="rect">
            <a:avLst/>
          </a:prstGeom>
          <a:solidFill>
            <a:srgbClr val="1316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7"/>
          <p:cNvSpPr/>
          <p:nvPr/>
        </p:nvSpPr>
        <p:spPr>
          <a:xfrm>
            <a:off x="952500" y="6210300"/>
            <a:ext cx="7604155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216" dirty="0">
                <a:solidFill>
                  <a:srgbClr val="8E7C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COMO OS AGENTES PODERIAM ATUAR · SIMULAÇÃO</a:t>
            </a:r>
            <a:endParaRPr lang="pt-BR" sz="1800" dirty="0"/>
          </a:p>
        </p:txBody>
      </p:sp>
      <p:sp>
        <p:nvSpPr>
          <p:cNvPr id="28" name="Shape 28"/>
          <p:cNvSpPr/>
          <p:nvPr/>
        </p:nvSpPr>
        <p:spPr>
          <a:xfrm>
            <a:off x="952500" y="6772275"/>
            <a:ext cx="16383000" cy="38100"/>
          </a:xfrm>
          <a:prstGeom prst="rect">
            <a:avLst/>
          </a:prstGeom>
          <a:solidFill>
            <a:srgbClr val="8E7C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Shape 29"/>
          <p:cNvSpPr/>
          <p:nvPr/>
        </p:nvSpPr>
        <p:spPr>
          <a:xfrm>
            <a:off x="3045619" y="6696075"/>
            <a:ext cx="190500" cy="190500"/>
          </a:xfrm>
          <a:prstGeom prst="ellipse">
            <a:avLst/>
          </a:prstGeom>
          <a:solidFill>
            <a:srgbClr val="0A0D1A"/>
          </a:solidFill>
          <a:ln w="25400">
            <a:solidFill>
              <a:srgbClr val="8E7C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30"/>
          <p:cNvSpPr/>
          <p:nvPr/>
        </p:nvSpPr>
        <p:spPr>
          <a:xfrm>
            <a:off x="4864199" y="6696075"/>
            <a:ext cx="190500" cy="190500"/>
          </a:xfrm>
          <a:prstGeom prst="ellipse">
            <a:avLst/>
          </a:prstGeom>
          <a:solidFill>
            <a:srgbClr val="8E7C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Shape 31"/>
          <p:cNvSpPr/>
          <p:nvPr/>
        </p:nvSpPr>
        <p:spPr>
          <a:xfrm>
            <a:off x="10696575" y="6696075"/>
            <a:ext cx="190500" cy="190500"/>
          </a:xfrm>
          <a:prstGeom prst="ellipse">
            <a:avLst/>
          </a:prstGeom>
          <a:solidFill>
            <a:srgbClr val="8E7C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Shape 32"/>
          <p:cNvSpPr/>
          <p:nvPr/>
        </p:nvSpPr>
        <p:spPr>
          <a:xfrm>
            <a:off x="14763750" y="6696075"/>
            <a:ext cx="190500" cy="190500"/>
          </a:xfrm>
          <a:prstGeom prst="ellipse">
            <a:avLst/>
          </a:prstGeom>
          <a:solidFill>
            <a:srgbClr val="8E7C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3"/>
          <p:cNvSpPr/>
          <p:nvPr/>
        </p:nvSpPr>
        <p:spPr>
          <a:xfrm>
            <a:off x="3131344" y="7067550"/>
            <a:ext cx="58674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dirty="0">
                <a:solidFill>
                  <a:srgbClr val="8E7C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D+6 → D+11 · LOGIPREDICT</a:t>
            </a:r>
            <a:endParaRPr lang="pt-BR" sz="1800" dirty="0"/>
          </a:p>
        </p:txBody>
      </p:sp>
      <p:sp>
        <p:nvSpPr>
          <p:cNvPr id="34" name="Text 34"/>
          <p:cNvSpPr/>
          <p:nvPr/>
        </p:nvSpPr>
        <p:spPr>
          <a:xfrm>
            <a:off x="3131344" y="7419975"/>
            <a:ext cx="5334000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138"/>
              </a:lnSpc>
              <a:buNone/>
            </a:pPr>
            <a:r>
              <a:rPr lang="pt-BR" sz="1950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Lembrete ao seller. Na postagem atrasada: risco alto e alerta a operações, 19 dias antes do prazo</a:t>
            </a:r>
            <a:endParaRPr lang="pt-BR" sz="1950" dirty="0"/>
          </a:p>
        </p:txBody>
      </p:sp>
      <p:sp>
        <p:nvSpPr>
          <p:cNvPr id="35" name="Text 35"/>
          <p:cNvSpPr/>
          <p:nvPr/>
        </p:nvSpPr>
        <p:spPr>
          <a:xfrm>
            <a:off x="10782300" y="7067550"/>
            <a:ext cx="314325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dirty="0">
                <a:solidFill>
                  <a:srgbClr val="8E7C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24/03 · D-3</a:t>
            </a:r>
            <a:endParaRPr lang="pt-BR" sz="1800" dirty="0"/>
          </a:p>
        </p:txBody>
      </p:sp>
      <p:sp>
        <p:nvSpPr>
          <p:cNvPr id="36" name="Text 36"/>
          <p:cNvSpPr/>
          <p:nvPr/>
        </p:nvSpPr>
        <p:spPr>
          <a:xfrm>
            <a:off x="10782300" y="7419975"/>
            <a:ext cx="3048000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138"/>
              </a:lnSpc>
              <a:buNone/>
            </a:pPr>
            <a:r>
              <a:rPr lang="pt-BR" sz="1950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 a projeção indicar atraso, recomendar comunicação ao cliente com estimativa validada.</a:t>
            </a:r>
            <a:endParaRPr lang="pt-BR" sz="1950" dirty="0"/>
          </a:p>
        </p:txBody>
      </p:sp>
      <p:sp>
        <p:nvSpPr>
          <p:cNvPr id="37" name="Text 37"/>
          <p:cNvSpPr/>
          <p:nvPr/>
        </p:nvSpPr>
        <p:spPr>
          <a:xfrm>
            <a:off x="14097000" y="7067550"/>
            <a:ext cx="32385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pt-BR" sz="1800" kern="0" spc="108" dirty="0">
                <a:solidFill>
                  <a:srgbClr val="8E7C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APÓS A AVALIAÇÃO</a:t>
            </a:r>
            <a:endParaRPr lang="pt-BR" sz="1800" dirty="0"/>
          </a:p>
          <a:p>
            <a:pPr marL="0" indent="0" algn="r">
              <a:buNone/>
            </a:pPr>
            <a:r>
              <a:rPr lang="pt-BR" sz="1800" kern="0" spc="108" dirty="0">
                <a:solidFill>
                  <a:srgbClr val="8E7C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SENTIMENTDESK</a:t>
            </a:r>
            <a:endParaRPr lang="pt-BR" sz="1800" dirty="0"/>
          </a:p>
        </p:txBody>
      </p:sp>
      <p:sp>
        <p:nvSpPr>
          <p:cNvPr id="38" name="Text 38"/>
          <p:cNvSpPr/>
          <p:nvPr/>
        </p:nvSpPr>
        <p:spPr>
          <a:xfrm>
            <a:off x="14097000" y="7762875"/>
            <a:ext cx="3238500" cy="1190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94138"/>
              </a:lnSpc>
              <a:buNone/>
            </a:pPr>
            <a:r>
              <a:rPr lang="pt-BR" sz="1950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Interpreta a nota, responde e abre ticket. WinBack suspende a oferta</a:t>
            </a:r>
            <a:endParaRPr lang="pt-BR" sz="1950" dirty="0"/>
          </a:p>
        </p:txBody>
      </p:sp>
      <p:sp>
        <p:nvSpPr>
          <p:cNvPr id="39" name="Shape 39"/>
          <p:cNvSpPr/>
          <p:nvPr/>
        </p:nvSpPr>
        <p:spPr>
          <a:xfrm>
            <a:off x="952500" y="9226550"/>
            <a:ext cx="16383000" cy="9525"/>
          </a:xfrm>
          <a:prstGeom prst="rect">
            <a:avLst/>
          </a:prstGeom>
          <a:solidFill>
            <a:srgbClr val="2A30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Text 40"/>
          <p:cNvSpPr/>
          <p:nvPr/>
        </p:nvSpPr>
        <p:spPr>
          <a:xfrm>
            <a:off x="952500" y="9410700"/>
            <a:ext cx="162947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216" dirty="0">
                <a:solidFill>
                  <a:srgbClr val="8E7C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SIMULAÇÃO</a:t>
            </a:r>
            <a:endParaRPr lang="pt-BR" sz="1800" dirty="0"/>
          </a:p>
        </p:txBody>
      </p:sp>
      <p:sp>
        <p:nvSpPr>
          <p:cNvPr id="41" name="Text 41"/>
          <p:cNvSpPr/>
          <p:nvPr/>
        </p:nvSpPr>
        <p:spPr>
          <a:xfrm>
            <a:off x="2662436" y="9404350"/>
            <a:ext cx="11131799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dirty="0">
                <a:solidFill>
                  <a:srgbClr val="A3A8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Intervenções hipotéticas sobre um caso histórico. Não afirmamos que o atraso teria sido evitado.</a:t>
            </a:r>
            <a:endParaRPr lang="pt-BR" sz="1800" dirty="0"/>
          </a:p>
        </p:txBody>
      </p:sp>
      <p:sp>
        <p:nvSpPr>
          <p:cNvPr id="42" name="Text 42"/>
          <p:cNvSpPr/>
          <p:nvPr/>
        </p:nvSpPr>
        <p:spPr>
          <a:xfrm>
            <a:off x="15049500" y="4514850"/>
            <a:ext cx="22860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108" dirty="0">
                <a:solidFill>
                  <a:srgbClr val="A3A8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APÓS A ENTREGA</a:t>
            </a:r>
            <a:endParaRPr lang="pt-BR" sz="1800" dirty="0"/>
          </a:p>
        </p:txBody>
      </p:sp>
      <p:sp>
        <p:nvSpPr>
          <p:cNvPr id="43" name="Text 43"/>
          <p:cNvSpPr/>
          <p:nvPr/>
        </p:nvSpPr>
        <p:spPr>
          <a:xfrm>
            <a:off x="15049500" y="4867275"/>
            <a:ext cx="228600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2100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Avaliação nota 1</a:t>
            </a:r>
            <a:endParaRPr lang="pt-BR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952500" y="576263"/>
            <a:ext cx="512982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144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OLIST · FROM INSIGHT TO IMPACT</a:t>
            </a:r>
            <a:endParaRPr lang="pt-BR" sz="1800" dirty="0"/>
          </a:p>
        </p:txBody>
      </p:sp>
      <p:sp>
        <p:nvSpPr>
          <p:cNvPr id="3" name="Text 3"/>
          <p:cNvSpPr/>
          <p:nvPr/>
        </p:nvSpPr>
        <p:spPr>
          <a:xfrm>
            <a:off x="11684298" y="533400"/>
            <a:ext cx="147528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144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DESCOBRIR</a:t>
            </a:r>
            <a:endParaRPr lang="pt-BR" sz="1800" dirty="0"/>
          </a:p>
        </p:txBody>
      </p:sp>
      <p:sp>
        <p:nvSpPr>
          <p:cNvPr id="4" name="Shape 4"/>
          <p:cNvSpPr/>
          <p:nvPr/>
        </p:nvSpPr>
        <p:spPr>
          <a:xfrm>
            <a:off x="13464382" y="890587"/>
            <a:ext cx="1243608" cy="25400"/>
          </a:xfrm>
          <a:prstGeom prst="rect">
            <a:avLst/>
          </a:prstGeom>
          <a:solidFill>
            <a:srgbClr val="8E7C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5"/>
          <p:cNvSpPr/>
          <p:nvPr/>
        </p:nvSpPr>
        <p:spPr>
          <a:xfrm>
            <a:off x="13464382" y="534988"/>
            <a:ext cx="131980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144" dirty="0">
                <a:solidFill>
                  <a:srgbClr val="F3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DESENHAR</a:t>
            </a:r>
            <a:endParaRPr lang="pt-BR" sz="1800" dirty="0"/>
          </a:p>
        </p:txBody>
      </p:sp>
      <p:sp>
        <p:nvSpPr>
          <p:cNvPr id="6" name="Text 6"/>
          <p:cNvSpPr/>
          <p:nvPr/>
        </p:nvSpPr>
        <p:spPr>
          <a:xfrm>
            <a:off x="15088989" y="533400"/>
            <a:ext cx="1164431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144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ESCALAR</a:t>
            </a:r>
            <a:endParaRPr lang="pt-BR" sz="1800" dirty="0"/>
          </a:p>
        </p:txBody>
      </p:sp>
      <p:sp>
        <p:nvSpPr>
          <p:cNvPr id="7" name="Text 7"/>
          <p:cNvSpPr/>
          <p:nvPr/>
        </p:nvSpPr>
        <p:spPr>
          <a:xfrm>
            <a:off x="16558221" y="533400"/>
            <a:ext cx="85348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144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09/12</a:t>
            </a:r>
            <a:endParaRPr lang="pt-BR" sz="1800" dirty="0"/>
          </a:p>
        </p:txBody>
      </p:sp>
      <p:sp>
        <p:nvSpPr>
          <p:cNvPr id="8" name="Text 8"/>
          <p:cNvSpPr/>
          <p:nvPr/>
        </p:nvSpPr>
        <p:spPr>
          <a:xfrm>
            <a:off x="952500" y="1428750"/>
            <a:ext cx="163830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216" dirty="0">
                <a:solidFill>
                  <a:srgbClr val="8E7C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INTELIGÊNCIA CONTEXTUAL · SENTIMENTDESK</a:t>
            </a:r>
            <a:endParaRPr lang="pt-BR" sz="1800" dirty="0"/>
          </a:p>
        </p:txBody>
      </p:sp>
      <p:sp>
        <p:nvSpPr>
          <p:cNvPr id="9" name="Text 9"/>
          <p:cNvSpPr/>
          <p:nvPr/>
        </p:nvSpPr>
        <p:spPr>
          <a:xfrm>
            <a:off x="952500" y="1898650"/>
            <a:ext cx="15716250" cy="67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951"/>
              </a:lnSpc>
              <a:buNone/>
            </a:pPr>
            <a:r>
              <a:rPr lang="pt-BR" sz="4500" b="1" kern="0" spc="-90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Entender o contexto muda a decisão.</a:t>
            </a:r>
            <a:endParaRPr lang="pt-BR" sz="4500" dirty="0"/>
          </a:p>
        </p:txBody>
      </p:sp>
      <p:sp>
        <p:nvSpPr>
          <p:cNvPr id="10" name="Text 10"/>
          <p:cNvSpPr/>
          <p:nvPr/>
        </p:nvSpPr>
        <p:spPr>
          <a:xfrm>
            <a:off x="952500" y="2957810"/>
            <a:ext cx="163830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AVALIAÇÃO NOTA 1 · CASO REAL DO DATASET</a:t>
            </a:r>
            <a:endParaRPr lang="pt-BR" sz="1800" dirty="0"/>
          </a:p>
        </p:txBody>
      </p:sp>
      <p:sp>
        <p:nvSpPr>
          <p:cNvPr id="11" name="Text 11"/>
          <p:cNvSpPr/>
          <p:nvPr/>
        </p:nvSpPr>
        <p:spPr>
          <a:xfrm>
            <a:off x="952500" y="3351510"/>
            <a:ext cx="15697200" cy="1527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3786"/>
              </a:lnSpc>
              <a:buNone/>
            </a:pPr>
            <a:r>
              <a:rPr lang="pt-BR" sz="5100" b="1" kern="0" spc="-102" dirty="0">
                <a:solidFill>
                  <a:srgbClr val="F0B5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“Só chegou a mochila, estou aguardando a lancheira.”</a:t>
            </a:r>
            <a:endParaRPr lang="pt-BR" sz="5100" dirty="0"/>
          </a:p>
        </p:txBody>
      </p:sp>
      <p:sp>
        <p:nvSpPr>
          <p:cNvPr id="12" name="Shape 12"/>
          <p:cNvSpPr/>
          <p:nvPr/>
        </p:nvSpPr>
        <p:spPr>
          <a:xfrm>
            <a:off x="952500" y="5295900"/>
            <a:ext cx="5905500" cy="19050"/>
          </a:xfrm>
          <a:prstGeom prst="rect">
            <a:avLst/>
          </a:prstGeom>
          <a:solidFill>
            <a:srgbClr val="2A30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3"/>
          <p:cNvSpPr/>
          <p:nvPr/>
        </p:nvSpPr>
        <p:spPr>
          <a:xfrm>
            <a:off x="952500" y="5524500"/>
            <a:ext cx="59055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180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EXEMPLO ILUSTRATIVO</a:t>
            </a:r>
            <a:endParaRPr lang="pt-BR" sz="1800" dirty="0"/>
          </a:p>
          <a:p>
            <a:pPr marL="0" indent="0" algn="l">
              <a:buNone/>
            </a:pPr>
            <a:r>
              <a:rPr lang="pt-BR" sz="1800" kern="0" spc="180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CLASSIFICAÇÃO SUPERFICIAL</a:t>
            </a:r>
            <a:endParaRPr lang="pt-BR" sz="1800" dirty="0"/>
          </a:p>
        </p:txBody>
      </p:sp>
      <p:sp>
        <p:nvSpPr>
          <p:cNvPr id="14" name="Text 14"/>
          <p:cNvSpPr/>
          <p:nvPr/>
        </p:nvSpPr>
        <p:spPr>
          <a:xfrm>
            <a:off x="952500" y="6400800"/>
            <a:ext cx="59055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3900" b="1" strike="sngStrike" dirty="0">
                <a:solidFill>
                  <a:srgbClr val="7C82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Pedido não recebido</a:t>
            </a:r>
            <a:endParaRPr lang="pt-BR" sz="3900" dirty="0"/>
          </a:p>
        </p:txBody>
      </p:sp>
      <p:sp>
        <p:nvSpPr>
          <p:cNvPr id="15" name="Text 15"/>
          <p:cNvSpPr/>
          <p:nvPr/>
        </p:nvSpPr>
        <p:spPr>
          <a:xfrm>
            <a:off x="952500" y="7239000"/>
            <a:ext cx="5334000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2100" dirty="0">
                <a:solidFill>
                  <a:srgbClr val="A3A8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Lê apenas as palavras do texto e trataria o pedido inteiro como não recebido.</a:t>
            </a:r>
            <a:endParaRPr lang="pt-BR" sz="2100" dirty="0"/>
          </a:p>
        </p:txBody>
      </p:sp>
      <p:sp>
        <p:nvSpPr>
          <p:cNvPr id="16" name="Shape 16"/>
          <p:cNvSpPr/>
          <p:nvPr/>
        </p:nvSpPr>
        <p:spPr>
          <a:xfrm>
            <a:off x="7810500" y="5295900"/>
            <a:ext cx="9525000" cy="19050"/>
          </a:xfrm>
          <a:prstGeom prst="rect">
            <a:avLst/>
          </a:prstGeom>
          <a:solidFill>
            <a:srgbClr val="8E7C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7"/>
          <p:cNvSpPr/>
          <p:nvPr/>
        </p:nvSpPr>
        <p:spPr>
          <a:xfrm>
            <a:off x="7810500" y="5524500"/>
            <a:ext cx="95250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180" dirty="0">
                <a:solidFill>
                  <a:srgbClr val="8E7C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SAÍDA CONTEXTUAL ESPERADA</a:t>
            </a:r>
            <a:endParaRPr lang="pt-BR" sz="1800" dirty="0"/>
          </a:p>
          <a:p>
            <a:pPr marL="0" indent="0" algn="l">
              <a:buNone/>
            </a:pPr>
            <a:r>
              <a:rPr lang="pt-BR" sz="1800" kern="0" spc="180" dirty="0">
                <a:solidFill>
                  <a:srgbClr val="8E7C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SENTIMENTDESK</a:t>
            </a:r>
            <a:endParaRPr lang="pt-BR" sz="1800" dirty="0"/>
          </a:p>
        </p:txBody>
      </p:sp>
      <p:sp>
        <p:nvSpPr>
          <p:cNvPr id="18" name="Shape 18"/>
          <p:cNvSpPr/>
          <p:nvPr/>
        </p:nvSpPr>
        <p:spPr>
          <a:xfrm>
            <a:off x="7886700" y="6572250"/>
            <a:ext cx="19050" cy="1828800"/>
          </a:xfrm>
          <a:prstGeom prst="rect">
            <a:avLst/>
          </a:prstGeom>
          <a:solidFill>
            <a:srgbClr val="2A30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9"/>
          <p:cNvSpPr/>
          <p:nvPr/>
        </p:nvSpPr>
        <p:spPr>
          <a:xfrm>
            <a:off x="7820025" y="6496050"/>
            <a:ext cx="152400" cy="152400"/>
          </a:xfrm>
          <a:prstGeom prst="rect">
            <a:avLst/>
          </a:prstGeom>
          <a:solidFill>
            <a:srgbClr val="F0B54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20"/>
          <p:cNvSpPr/>
          <p:nvPr/>
        </p:nvSpPr>
        <p:spPr>
          <a:xfrm>
            <a:off x="8191500" y="6410325"/>
            <a:ext cx="24765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72" dirty="0">
                <a:solidFill>
                  <a:srgbClr val="F0B54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CONTEXTO</a:t>
            </a:r>
            <a:endParaRPr lang="pt-BR" sz="1800" dirty="0"/>
          </a:p>
        </p:txBody>
      </p:sp>
      <p:sp>
        <p:nvSpPr>
          <p:cNvPr id="21" name="Text 21"/>
          <p:cNvSpPr/>
          <p:nvPr/>
        </p:nvSpPr>
        <p:spPr>
          <a:xfrm>
            <a:off x="10953750" y="6391275"/>
            <a:ext cx="41910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2100" b="1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Pedido com dois itens</a:t>
            </a:r>
            <a:endParaRPr lang="pt-BR" sz="2100" dirty="0"/>
          </a:p>
        </p:txBody>
      </p:sp>
      <p:sp>
        <p:nvSpPr>
          <p:cNvPr id="22" name="Text 22"/>
          <p:cNvSpPr/>
          <p:nvPr/>
        </p:nvSpPr>
        <p:spPr>
          <a:xfrm>
            <a:off x="15240000" y="6410325"/>
            <a:ext cx="214312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dirty="0">
                <a:solidFill>
                  <a:srgbClr val="A3A8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mochila + lancheira</a:t>
            </a:r>
            <a:endParaRPr lang="pt-BR" sz="1800" dirty="0"/>
          </a:p>
        </p:txBody>
      </p:sp>
      <p:sp>
        <p:nvSpPr>
          <p:cNvPr id="23" name="Shape 23"/>
          <p:cNvSpPr/>
          <p:nvPr/>
        </p:nvSpPr>
        <p:spPr>
          <a:xfrm>
            <a:off x="7820025" y="7105650"/>
            <a:ext cx="152400" cy="152400"/>
          </a:xfrm>
          <a:prstGeom prst="rect">
            <a:avLst/>
          </a:prstGeom>
          <a:solidFill>
            <a:srgbClr val="F0B54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4"/>
          <p:cNvSpPr/>
          <p:nvPr/>
        </p:nvSpPr>
        <p:spPr>
          <a:xfrm>
            <a:off x="8191500" y="7019925"/>
            <a:ext cx="24765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72" dirty="0">
                <a:solidFill>
                  <a:srgbClr val="F0B54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CONTEXTO</a:t>
            </a:r>
            <a:endParaRPr lang="pt-BR" sz="1800" dirty="0"/>
          </a:p>
        </p:txBody>
      </p:sp>
      <p:sp>
        <p:nvSpPr>
          <p:cNvPr id="25" name="Text 25"/>
          <p:cNvSpPr/>
          <p:nvPr/>
        </p:nvSpPr>
        <p:spPr>
          <a:xfrm>
            <a:off x="10953750" y="7000875"/>
            <a:ext cx="41910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2100" b="1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Status de entrega registrado</a:t>
            </a:r>
            <a:endParaRPr lang="pt-BR" sz="2100" dirty="0"/>
          </a:p>
        </p:txBody>
      </p:sp>
      <p:sp>
        <p:nvSpPr>
          <p:cNvPr id="26" name="Text 26"/>
          <p:cNvSpPr/>
          <p:nvPr/>
        </p:nvSpPr>
        <p:spPr>
          <a:xfrm>
            <a:off x="15240000" y="7019925"/>
            <a:ext cx="214312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dirty="0">
                <a:solidFill>
                  <a:srgbClr val="A3A8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entregue no prazo</a:t>
            </a:r>
            <a:endParaRPr lang="pt-BR" sz="1800" dirty="0"/>
          </a:p>
        </p:txBody>
      </p:sp>
      <p:sp>
        <p:nvSpPr>
          <p:cNvPr id="27" name="Shape 27"/>
          <p:cNvSpPr/>
          <p:nvPr/>
        </p:nvSpPr>
        <p:spPr>
          <a:xfrm rot="2700000">
            <a:off x="7820025" y="7715250"/>
            <a:ext cx="152400" cy="152400"/>
          </a:xfrm>
          <a:prstGeom prst="rect">
            <a:avLst/>
          </a:prstGeom>
          <a:solidFill>
            <a:srgbClr val="8E7C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8"/>
          <p:cNvSpPr/>
          <p:nvPr/>
        </p:nvSpPr>
        <p:spPr>
          <a:xfrm>
            <a:off x="8191500" y="7629525"/>
            <a:ext cx="24765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72" dirty="0">
                <a:solidFill>
                  <a:srgbClr val="8E7C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INTERPRETAÇÃO</a:t>
            </a:r>
            <a:endParaRPr lang="pt-BR" sz="1800" dirty="0"/>
          </a:p>
        </p:txBody>
      </p:sp>
      <p:sp>
        <p:nvSpPr>
          <p:cNvPr id="29" name="Text 29"/>
          <p:cNvSpPr/>
          <p:nvPr/>
        </p:nvSpPr>
        <p:spPr>
          <a:xfrm>
            <a:off x="10953750" y="7610475"/>
            <a:ext cx="41910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2100" b="1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Item faltante identificado</a:t>
            </a:r>
            <a:endParaRPr lang="pt-BR" sz="2100" dirty="0"/>
          </a:p>
        </p:txBody>
      </p:sp>
      <p:sp>
        <p:nvSpPr>
          <p:cNvPr id="30" name="Text 30"/>
          <p:cNvSpPr/>
          <p:nvPr/>
        </p:nvSpPr>
        <p:spPr>
          <a:xfrm>
            <a:off x="15240000" y="7629525"/>
            <a:ext cx="214312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dirty="0">
                <a:solidFill>
                  <a:srgbClr val="A3A8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severidade alta</a:t>
            </a:r>
            <a:endParaRPr lang="pt-BR" sz="1800" dirty="0"/>
          </a:p>
        </p:txBody>
      </p:sp>
      <p:sp>
        <p:nvSpPr>
          <p:cNvPr id="31" name="Shape 31"/>
          <p:cNvSpPr/>
          <p:nvPr/>
        </p:nvSpPr>
        <p:spPr>
          <a:xfrm>
            <a:off x="7810500" y="8315325"/>
            <a:ext cx="171450" cy="171450"/>
          </a:xfrm>
          <a:prstGeom prst="ellipse">
            <a:avLst/>
          </a:prstGeom>
          <a:solidFill>
            <a:srgbClr val="3CCF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2"/>
          <p:cNvSpPr/>
          <p:nvPr/>
        </p:nvSpPr>
        <p:spPr>
          <a:xfrm>
            <a:off x="8191500" y="8239125"/>
            <a:ext cx="24765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72" dirty="0">
                <a:solidFill>
                  <a:srgbClr val="3CCFB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AÇÃO</a:t>
            </a:r>
            <a:endParaRPr lang="pt-BR" sz="1800" dirty="0"/>
          </a:p>
        </p:txBody>
      </p:sp>
      <p:sp>
        <p:nvSpPr>
          <p:cNvPr id="33" name="Text 33"/>
          <p:cNvSpPr/>
          <p:nvPr/>
        </p:nvSpPr>
        <p:spPr>
          <a:xfrm>
            <a:off x="10953750" y="8220075"/>
            <a:ext cx="41910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2100" b="1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Encaminhado ao responsável</a:t>
            </a:r>
            <a:endParaRPr lang="pt-BR" sz="2100" dirty="0"/>
          </a:p>
        </p:txBody>
      </p:sp>
      <p:sp>
        <p:nvSpPr>
          <p:cNvPr id="34" name="Text 34"/>
          <p:cNvSpPr/>
          <p:nvPr/>
        </p:nvSpPr>
        <p:spPr>
          <a:xfrm>
            <a:off x="15240000" y="8239125"/>
            <a:ext cx="214312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dirty="0">
                <a:solidFill>
                  <a:srgbClr val="A3A8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ticket ao seller</a:t>
            </a:r>
            <a:endParaRPr lang="pt-BR" sz="1800" dirty="0"/>
          </a:p>
        </p:txBody>
      </p:sp>
      <p:sp>
        <p:nvSpPr>
          <p:cNvPr id="35" name="Shape 35"/>
          <p:cNvSpPr/>
          <p:nvPr/>
        </p:nvSpPr>
        <p:spPr>
          <a:xfrm>
            <a:off x="952500" y="9115425"/>
            <a:ext cx="16383000" cy="9525"/>
          </a:xfrm>
          <a:prstGeom prst="rect">
            <a:avLst/>
          </a:prstGeom>
          <a:solidFill>
            <a:srgbClr val="2A30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36"/>
          <p:cNvSpPr/>
          <p:nvPr/>
        </p:nvSpPr>
        <p:spPr>
          <a:xfrm>
            <a:off x="952500" y="9315450"/>
            <a:ext cx="20955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144" dirty="0">
                <a:solidFill>
                  <a:srgbClr val="8E7C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ILUSTRATIVO</a:t>
            </a:r>
            <a:endParaRPr lang="pt-BR" sz="1800" dirty="0"/>
          </a:p>
        </p:txBody>
      </p:sp>
      <p:sp>
        <p:nvSpPr>
          <p:cNvPr id="37" name="Text 37"/>
          <p:cNvSpPr/>
          <p:nvPr/>
        </p:nvSpPr>
        <p:spPr>
          <a:xfrm>
            <a:off x="2857500" y="9305925"/>
            <a:ext cx="144780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dirty="0">
                <a:solidFill>
                  <a:srgbClr val="A3A8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Texto real do dataset. As duas leituras são ilustrativas: a saída contextual é o comportamento esperado do prompt, não resultado de experimento.</a:t>
            </a:r>
            <a:endParaRPr lang="pt-BR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952500" y="576263"/>
            <a:ext cx="512982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144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OLIST · FROM INSIGHT TO IMPACT</a:t>
            </a:r>
            <a:endParaRPr lang="pt-BR" sz="1800" dirty="0"/>
          </a:p>
        </p:txBody>
      </p:sp>
      <p:sp>
        <p:nvSpPr>
          <p:cNvPr id="3" name="Text 3"/>
          <p:cNvSpPr/>
          <p:nvPr/>
        </p:nvSpPr>
        <p:spPr>
          <a:xfrm>
            <a:off x="11684298" y="533400"/>
            <a:ext cx="147528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144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DESCOBRIR</a:t>
            </a:r>
            <a:endParaRPr lang="pt-BR" sz="1800" dirty="0"/>
          </a:p>
        </p:txBody>
      </p:sp>
      <p:sp>
        <p:nvSpPr>
          <p:cNvPr id="4" name="Text 4"/>
          <p:cNvSpPr/>
          <p:nvPr/>
        </p:nvSpPr>
        <p:spPr>
          <a:xfrm>
            <a:off x="13464382" y="533400"/>
            <a:ext cx="131980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144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DESENHAR</a:t>
            </a:r>
            <a:endParaRPr lang="pt-BR" sz="1800" dirty="0"/>
          </a:p>
        </p:txBody>
      </p:sp>
      <p:sp>
        <p:nvSpPr>
          <p:cNvPr id="5" name="Shape 5"/>
          <p:cNvSpPr/>
          <p:nvPr/>
        </p:nvSpPr>
        <p:spPr>
          <a:xfrm>
            <a:off x="15088989" y="890587"/>
            <a:ext cx="1088231" cy="25400"/>
          </a:xfrm>
          <a:prstGeom prst="rect">
            <a:avLst/>
          </a:prstGeom>
          <a:solidFill>
            <a:srgbClr val="3CCF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6"/>
          <p:cNvSpPr/>
          <p:nvPr/>
        </p:nvSpPr>
        <p:spPr>
          <a:xfrm>
            <a:off x="15088989" y="534988"/>
            <a:ext cx="1164431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144" dirty="0">
                <a:solidFill>
                  <a:srgbClr val="F3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ESCALAR</a:t>
            </a:r>
            <a:endParaRPr lang="pt-BR" sz="1800" dirty="0"/>
          </a:p>
        </p:txBody>
      </p:sp>
      <p:sp>
        <p:nvSpPr>
          <p:cNvPr id="7" name="Text 7"/>
          <p:cNvSpPr/>
          <p:nvPr/>
        </p:nvSpPr>
        <p:spPr>
          <a:xfrm>
            <a:off x="16558221" y="533400"/>
            <a:ext cx="85348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144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10/12</a:t>
            </a:r>
            <a:endParaRPr lang="pt-BR" sz="1800" dirty="0"/>
          </a:p>
        </p:txBody>
      </p:sp>
      <p:sp>
        <p:nvSpPr>
          <p:cNvPr id="8" name="Text 8"/>
          <p:cNvSpPr/>
          <p:nvPr/>
        </p:nvSpPr>
        <p:spPr>
          <a:xfrm>
            <a:off x="952500" y="1428750"/>
            <a:ext cx="163830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216" dirty="0">
                <a:solidFill>
                  <a:srgbClr val="3CCFB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BUSINESS CASE · PROJEÇÃO, CENÁRIO BASE, ANUAL</a:t>
            </a:r>
            <a:endParaRPr lang="pt-BR" sz="1800" dirty="0"/>
          </a:p>
        </p:txBody>
      </p:sp>
      <p:sp>
        <p:nvSpPr>
          <p:cNvPr id="9" name="Text 9"/>
          <p:cNvSpPr/>
          <p:nvPr/>
        </p:nvSpPr>
        <p:spPr>
          <a:xfrm>
            <a:off x="952500" y="1898650"/>
            <a:ext cx="14716125" cy="131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951"/>
              </a:lnSpc>
              <a:buNone/>
            </a:pPr>
            <a:r>
              <a:rPr lang="pt-BR" sz="4500" b="1" kern="0" spc="-90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potencial é relevante. O impacto precisa ser comprovado.</a:t>
            </a:r>
            <a:endParaRPr lang="pt-BR" sz="4500" dirty="0"/>
          </a:p>
        </p:txBody>
      </p:sp>
      <p:sp>
        <p:nvSpPr>
          <p:cNvPr id="10" name="Shape 10"/>
          <p:cNvSpPr/>
          <p:nvPr/>
        </p:nvSpPr>
        <p:spPr>
          <a:xfrm>
            <a:off x="952500" y="3674071"/>
            <a:ext cx="10566400" cy="25400"/>
          </a:xfrm>
          <a:prstGeom prst="rect">
            <a:avLst/>
          </a:prstGeom>
          <a:solidFill>
            <a:srgbClr val="3CCF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11"/>
          <p:cNvSpPr/>
          <p:nvPr/>
        </p:nvSpPr>
        <p:spPr>
          <a:xfrm>
            <a:off x="952500" y="3909020"/>
            <a:ext cx="1162304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216" dirty="0">
                <a:solidFill>
                  <a:srgbClr val="3CCFB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PILOTO · VALOR OPERACIONAL</a:t>
            </a:r>
            <a:endParaRPr lang="pt-BR" sz="1800" dirty="0"/>
          </a:p>
        </p:txBody>
      </p:sp>
      <p:sp>
        <p:nvSpPr>
          <p:cNvPr id="12" name="Text 12"/>
          <p:cNvSpPr/>
          <p:nvPr/>
        </p:nvSpPr>
        <p:spPr>
          <a:xfrm>
            <a:off x="952500" y="4493221"/>
            <a:ext cx="556006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2400" b="1" dirty="0">
                <a:solidFill>
                  <a:srgbClr val="8E7C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LogiPredict</a:t>
            </a:r>
            <a:endParaRPr lang="pt-BR" sz="2400" dirty="0"/>
          </a:p>
        </p:txBody>
      </p:sp>
      <p:sp>
        <p:nvSpPr>
          <p:cNvPr id="13" name="Text 13"/>
          <p:cNvSpPr/>
          <p:nvPr/>
        </p:nvSpPr>
        <p:spPr>
          <a:xfrm>
            <a:off x="952500" y="5115520"/>
            <a:ext cx="556006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3171"/>
              </a:lnSpc>
              <a:buNone/>
            </a:pPr>
            <a:r>
              <a:rPr lang="pt-BR" sz="9000" b="1" kern="0" spc="-360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672</a:t>
            </a:r>
            <a:endParaRPr lang="pt-BR" sz="9000" dirty="0"/>
          </a:p>
        </p:txBody>
      </p:sp>
      <p:sp>
        <p:nvSpPr>
          <p:cNvPr id="14" name="Text 14"/>
          <p:cNvSpPr/>
          <p:nvPr/>
        </p:nvSpPr>
        <p:spPr>
          <a:xfrm>
            <a:off x="952500" y="6296620"/>
            <a:ext cx="556006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2100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atrasos potencialmente evitados</a:t>
            </a:r>
            <a:endParaRPr lang="pt-BR" sz="2100" dirty="0"/>
          </a:p>
        </p:txBody>
      </p:sp>
      <p:sp>
        <p:nvSpPr>
          <p:cNvPr id="15" name="Text 15"/>
          <p:cNvSpPr/>
          <p:nvPr/>
        </p:nvSpPr>
        <p:spPr>
          <a:xfrm>
            <a:off x="952500" y="6703021"/>
            <a:ext cx="556006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faixa: 336 a 1.008</a:t>
            </a:r>
            <a:endParaRPr lang="pt-BR" sz="1800" dirty="0"/>
          </a:p>
        </p:txBody>
      </p:sp>
      <p:sp>
        <p:nvSpPr>
          <p:cNvPr id="16" name="Text 16"/>
          <p:cNvSpPr/>
          <p:nvPr/>
        </p:nvSpPr>
        <p:spPr>
          <a:xfrm>
            <a:off x="952500" y="7211020"/>
            <a:ext cx="556006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3469"/>
              </a:lnSpc>
              <a:buNone/>
            </a:pPr>
            <a:r>
              <a:rPr lang="pt-BR" sz="5400" b="1" kern="0" spc="-162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302</a:t>
            </a:r>
            <a:endParaRPr lang="pt-BR" sz="5400" dirty="0"/>
          </a:p>
        </p:txBody>
      </p:sp>
      <p:sp>
        <p:nvSpPr>
          <p:cNvPr id="17" name="Text 17"/>
          <p:cNvSpPr/>
          <p:nvPr/>
        </p:nvSpPr>
        <p:spPr>
          <a:xfrm>
            <a:off x="952500" y="7934920"/>
            <a:ext cx="5206238" cy="774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2100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avaliações negativas potencialmente evitadas</a:t>
            </a:r>
            <a:endParaRPr lang="pt-BR" sz="2100" dirty="0"/>
          </a:p>
        </p:txBody>
      </p:sp>
      <p:sp>
        <p:nvSpPr>
          <p:cNvPr id="18" name="Shape 18"/>
          <p:cNvSpPr/>
          <p:nvPr/>
        </p:nvSpPr>
        <p:spPr>
          <a:xfrm>
            <a:off x="6464300" y="4493221"/>
            <a:ext cx="9525" cy="4191000"/>
          </a:xfrm>
          <a:prstGeom prst="rect">
            <a:avLst/>
          </a:prstGeom>
          <a:solidFill>
            <a:srgbClr val="2A30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9"/>
          <p:cNvSpPr/>
          <p:nvPr/>
        </p:nvSpPr>
        <p:spPr>
          <a:xfrm>
            <a:off x="6927850" y="4493221"/>
            <a:ext cx="5050155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2400" b="1" dirty="0">
                <a:solidFill>
                  <a:srgbClr val="8E7C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SentimentDesk</a:t>
            </a:r>
            <a:endParaRPr lang="pt-BR" sz="2400" dirty="0"/>
          </a:p>
        </p:txBody>
      </p:sp>
      <p:sp>
        <p:nvSpPr>
          <p:cNvPr id="20" name="Text 20"/>
          <p:cNvSpPr/>
          <p:nvPr/>
        </p:nvSpPr>
        <p:spPr>
          <a:xfrm>
            <a:off x="6927850" y="5115520"/>
            <a:ext cx="302134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3171"/>
              </a:lnSpc>
              <a:buNone/>
            </a:pPr>
            <a:r>
              <a:rPr lang="pt-BR" sz="9000" b="1" kern="0" spc="-360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1.230</a:t>
            </a:r>
            <a:endParaRPr lang="pt-BR" sz="9000" dirty="0"/>
          </a:p>
        </p:txBody>
      </p:sp>
      <p:sp>
        <p:nvSpPr>
          <p:cNvPr id="21" name="Text 21"/>
          <p:cNvSpPr/>
          <p:nvPr/>
        </p:nvSpPr>
        <p:spPr>
          <a:xfrm>
            <a:off x="9788823" y="5598121"/>
            <a:ext cx="386060" cy="711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3900" b="1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</a:t>
            </a:r>
            <a:endParaRPr lang="pt-BR" sz="3900" dirty="0"/>
          </a:p>
        </p:txBody>
      </p:sp>
      <p:sp>
        <p:nvSpPr>
          <p:cNvPr id="22" name="Text 22"/>
          <p:cNvSpPr/>
          <p:nvPr/>
        </p:nvSpPr>
        <p:spPr>
          <a:xfrm>
            <a:off x="6927850" y="6309321"/>
            <a:ext cx="5050155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2100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 triagem potencialmente poupadas</a:t>
            </a:r>
            <a:endParaRPr lang="pt-BR" sz="2100" dirty="0"/>
          </a:p>
        </p:txBody>
      </p:sp>
      <p:sp>
        <p:nvSpPr>
          <p:cNvPr id="23" name="Text 23"/>
          <p:cNvSpPr/>
          <p:nvPr/>
        </p:nvSpPr>
        <p:spPr>
          <a:xfrm>
            <a:off x="6927850" y="6715720"/>
            <a:ext cx="5050155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faixa: 878 a 1.581 h</a:t>
            </a:r>
            <a:endParaRPr lang="pt-BR" sz="1800" dirty="0"/>
          </a:p>
        </p:txBody>
      </p:sp>
      <p:sp>
        <p:nvSpPr>
          <p:cNvPr id="24" name="Text 24"/>
          <p:cNvSpPr/>
          <p:nvPr/>
        </p:nvSpPr>
        <p:spPr>
          <a:xfrm>
            <a:off x="6927850" y="7223721"/>
            <a:ext cx="505015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3469"/>
              </a:lnSpc>
              <a:buNone/>
            </a:pPr>
            <a:r>
              <a:rPr lang="pt-BR" sz="5400" b="1" kern="0" spc="-162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≈ R$ 55 mil</a:t>
            </a:r>
            <a:endParaRPr lang="pt-BR" sz="5400" dirty="0"/>
          </a:p>
        </p:txBody>
      </p:sp>
      <p:sp>
        <p:nvSpPr>
          <p:cNvPr id="25" name="Text 25"/>
          <p:cNvSpPr/>
          <p:nvPr/>
        </p:nvSpPr>
        <p:spPr>
          <a:xfrm>
            <a:off x="6927850" y="7947621"/>
            <a:ext cx="4728782" cy="774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2100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em capacidade operacional, não em caixa</a:t>
            </a:r>
            <a:endParaRPr lang="pt-BR" sz="2100" dirty="0"/>
          </a:p>
        </p:txBody>
      </p:sp>
      <p:sp>
        <p:nvSpPr>
          <p:cNvPr id="26" name="Shape 26"/>
          <p:cNvSpPr/>
          <p:nvPr/>
        </p:nvSpPr>
        <p:spPr>
          <a:xfrm>
            <a:off x="12052300" y="3674071"/>
            <a:ext cx="5283200" cy="25400"/>
          </a:xfrm>
          <a:prstGeom prst="rect">
            <a:avLst/>
          </a:prstGeom>
          <a:solidFill>
            <a:srgbClr val="7C82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7"/>
          <p:cNvSpPr/>
          <p:nvPr/>
        </p:nvSpPr>
        <p:spPr>
          <a:xfrm>
            <a:off x="12052300" y="3909020"/>
            <a:ext cx="581152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216" dirty="0">
                <a:solidFill>
                  <a:srgbClr val="A3A8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EXPANSÃO FUTURA · COMERCIAL</a:t>
            </a:r>
            <a:endParaRPr lang="pt-BR" sz="1800" dirty="0"/>
          </a:p>
        </p:txBody>
      </p:sp>
      <p:sp>
        <p:nvSpPr>
          <p:cNvPr id="28" name="Text 28"/>
          <p:cNvSpPr/>
          <p:nvPr/>
        </p:nvSpPr>
        <p:spPr>
          <a:xfrm>
            <a:off x="12052300" y="4493221"/>
            <a:ext cx="581152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2400" b="1" dirty="0">
                <a:solidFill>
                  <a:srgbClr val="A3A8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WinBack</a:t>
            </a:r>
            <a:endParaRPr lang="pt-BR" sz="2400" dirty="0"/>
          </a:p>
        </p:txBody>
      </p:sp>
      <p:sp>
        <p:nvSpPr>
          <p:cNvPr id="29" name="Text 29"/>
          <p:cNvSpPr/>
          <p:nvPr/>
        </p:nvSpPr>
        <p:spPr>
          <a:xfrm>
            <a:off x="12052300" y="5115520"/>
            <a:ext cx="581152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3171"/>
              </a:lnSpc>
              <a:buNone/>
            </a:pPr>
            <a:r>
              <a:rPr lang="pt-BR" sz="9000" b="1" kern="0" spc="-360" dirty="0">
                <a:solidFill>
                  <a:srgbClr val="A3A8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358</a:t>
            </a:r>
            <a:endParaRPr lang="pt-BR" sz="9000" dirty="0"/>
          </a:p>
        </p:txBody>
      </p:sp>
      <p:sp>
        <p:nvSpPr>
          <p:cNvPr id="30" name="Text 30"/>
          <p:cNvSpPr/>
          <p:nvPr/>
        </p:nvSpPr>
        <p:spPr>
          <a:xfrm>
            <a:off x="12052300" y="6296620"/>
            <a:ext cx="581152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2100" dirty="0">
                <a:solidFill>
                  <a:srgbClr val="A3A8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segundas compras adicionais</a:t>
            </a:r>
            <a:endParaRPr lang="pt-BR" sz="2100" dirty="0"/>
          </a:p>
        </p:txBody>
      </p:sp>
      <p:sp>
        <p:nvSpPr>
          <p:cNvPr id="31" name="Text 31"/>
          <p:cNvSpPr/>
          <p:nvPr/>
        </p:nvSpPr>
        <p:spPr>
          <a:xfrm>
            <a:off x="12052300" y="6703021"/>
            <a:ext cx="581152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faixa: 179 a 717</a:t>
            </a:r>
            <a:endParaRPr lang="pt-BR" sz="1800" dirty="0"/>
          </a:p>
        </p:txBody>
      </p:sp>
      <p:sp>
        <p:nvSpPr>
          <p:cNvPr id="32" name="Text 32"/>
          <p:cNvSpPr/>
          <p:nvPr/>
        </p:nvSpPr>
        <p:spPr>
          <a:xfrm>
            <a:off x="12052300" y="7211020"/>
            <a:ext cx="581152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3469"/>
              </a:lnSpc>
              <a:buNone/>
            </a:pPr>
            <a:r>
              <a:rPr lang="pt-BR" sz="5400" b="1" kern="0" spc="-162" dirty="0">
                <a:solidFill>
                  <a:srgbClr val="A3A8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≈ R$ 53 mil</a:t>
            </a:r>
            <a:endParaRPr lang="pt-BR" sz="5400" dirty="0"/>
          </a:p>
        </p:txBody>
      </p:sp>
      <p:sp>
        <p:nvSpPr>
          <p:cNvPr id="33" name="Text 33"/>
          <p:cNvSpPr/>
          <p:nvPr/>
        </p:nvSpPr>
        <p:spPr>
          <a:xfrm>
            <a:off x="12052300" y="7934920"/>
            <a:ext cx="581152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2100" dirty="0">
                <a:solidFill>
                  <a:srgbClr val="A3A8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receita bruta incremental, não margem</a:t>
            </a:r>
            <a:endParaRPr lang="pt-BR" sz="2100" dirty="0"/>
          </a:p>
        </p:txBody>
      </p:sp>
      <p:sp>
        <p:nvSpPr>
          <p:cNvPr id="34" name="Shape 34"/>
          <p:cNvSpPr/>
          <p:nvPr/>
        </p:nvSpPr>
        <p:spPr>
          <a:xfrm>
            <a:off x="952500" y="8915400"/>
            <a:ext cx="16383000" cy="9525"/>
          </a:xfrm>
          <a:prstGeom prst="rect">
            <a:avLst/>
          </a:prstGeom>
          <a:solidFill>
            <a:srgbClr val="2A30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5"/>
          <p:cNvSpPr/>
          <p:nvPr/>
        </p:nvSpPr>
        <p:spPr>
          <a:xfrm>
            <a:off x="952500" y="9099550"/>
            <a:ext cx="144851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216" dirty="0">
                <a:solidFill>
                  <a:srgbClr val="F3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PROJEÇÃO</a:t>
            </a:r>
            <a:endParaRPr lang="pt-BR" sz="1800" dirty="0"/>
          </a:p>
        </p:txBody>
      </p:sp>
      <p:sp>
        <p:nvSpPr>
          <p:cNvPr id="36" name="Text 36"/>
          <p:cNvSpPr/>
          <p:nvPr/>
        </p:nvSpPr>
        <p:spPr>
          <a:xfrm>
            <a:off x="2497931" y="9093200"/>
            <a:ext cx="14839950" cy="66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dirty="0">
                <a:solidFill>
                  <a:srgbClr val="A3A8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Cenário base anualizado sobre a amostra histórica (set/2017–ago/2018). Não são resultados observados, metas dos 90 dias nem ROI. Valores não somáveis. Premissas e memória de cálculo: Relatório Executivo, Seção 13.4.</a:t>
            </a:r>
            <a:endParaRPr lang="pt-BR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952500" y="576263"/>
            <a:ext cx="512982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144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OLIST · FROM INSIGHT TO IMPACT</a:t>
            </a:r>
            <a:endParaRPr lang="pt-BR" sz="1800" dirty="0"/>
          </a:p>
        </p:txBody>
      </p:sp>
      <p:sp>
        <p:nvSpPr>
          <p:cNvPr id="3" name="Text 3"/>
          <p:cNvSpPr/>
          <p:nvPr/>
        </p:nvSpPr>
        <p:spPr>
          <a:xfrm>
            <a:off x="11684298" y="533400"/>
            <a:ext cx="147528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144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DESCOBRIR</a:t>
            </a:r>
            <a:endParaRPr lang="pt-BR" sz="1800" dirty="0"/>
          </a:p>
        </p:txBody>
      </p:sp>
      <p:sp>
        <p:nvSpPr>
          <p:cNvPr id="4" name="Text 4"/>
          <p:cNvSpPr/>
          <p:nvPr/>
        </p:nvSpPr>
        <p:spPr>
          <a:xfrm>
            <a:off x="13464382" y="533400"/>
            <a:ext cx="131980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144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DESENHAR</a:t>
            </a:r>
            <a:endParaRPr lang="pt-BR" sz="1800" dirty="0"/>
          </a:p>
        </p:txBody>
      </p:sp>
      <p:sp>
        <p:nvSpPr>
          <p:cNvPr id="5" name="Shape 5"/>
          <p:cNvSpPr/>
          <p:nvPr/>
        </p:nvSpPr>
        <p:spPr>
          <a:xfrm>
            <a:off x="15088989" y="890587"/>
            <a:ext cx="1088231" cy="25400"/>
          </a:xfrm>
          <a:prstGeom prst="rect">
            <a:avLst/>
          </a:prstGeom>
          <a:solidFill>
            <a:srgbClr val="3CCF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6"/>
          <p:cNvSpPr/>
          <p:nvPr/>
        </p:nvSpPr>
        <p:spPr>
          <a:xfrm>
            <a:off x="15088989" y="534988"/>
            <a:ext cx="1164431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144" dirty="0">
                <a:solidFill>
                  <a:srgbClr val="F3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ESCALAR</a:t>
            </a:r>
            <a:endParaRPr lang="pt-BR" sz="1800" dirty="0"/>
          </a:p>
        </p:txBody>
      </p:sp>
      <p:sp>
        <p:nvSpPr>
          <p:cNvPr id="7" name="Text 7"/>
          <p:cNvSpPr/>
          <p:nvPr/>
        </p:nvSpPr>
        <p:spPr>
          <a:xfrm>
            <a:off x="16558221" y="533400"/>
            <a:ext cx="85348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144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11/12</a:t>
            </a:r>
            <a:endParaRPr lang="pt-BR" sz="1800" dirty="0"/>
          </a:p>
        </p:txBody>
      </p:sp>
      <p:sp>
        <p:nvSpPr>
          <p:cNvPr id="8" name="Text 8"/>
          <p:cNvSpPr/>
          <p:nvPr/>
        </p:nvSpPr>
        <p:spPr>
          <a:xfrm>
            <a:off x="952500" y="1428750"/>
            <a:ext cx="163830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216" dirty="0">
                <a:solidFill>
                  <a:srgbClr val="3CCFB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ROADMAP E CRITÉRIOS DE DECISÃO</a:t>
            </a:r>
            <a:endParaRPr lang="pt-BR" sz="1800" dirty="0"/>
          </a:p>
        </p:txBody>
      </p:sp>
      <p:sp>
        <p:nvSpPr>
          <p:cNvPr id="9" name="Text 9"/>
          <p:cNvSpPr/>
          <p:nvPr/>
        </p:nvSpPr>
        <p:spPr>
          <a:xfrm>
            <a:off x="952500" y="1898650"/>
            <a:ext cx="15716250" cy="67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951"/>
              </a:lnSpc>
              <a:buNone/>
            </a:pPr>
            <a:r>
              <a:rPr lang="pt-BR" sz="4500" b="1" kern="0" spc="-90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Escalar somente depois de validar.</a:t>
            </a:r>
            <a:endParaRPr lang="pt-BR" sz="4500" dirty="0"/>
          </a:p>
        </p:txBody>
      </p:sp>
      <p:sp>
        <p:nvSpPr>
          <p:cNvPr id="10" name="Shape 10"/>
          <p:cNvSpPr/>
          <p:nvPr/>
        </p:nvSpPr>
        <p:spPr>
          <a:xfrm>
            <a:off x="952500" y="3110210"/>
            <a:ext cx="5795070" cy="4000500"/>
          </a:xfrm>
          <a:prstGeom prst="rect">
            <a:avLst/>
          </a:prstGeom>
          <a:solidFill>
            <a:srgbClr val="1021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11"/>
          <p:cNvSpPr/>
          <p:nvPr/>
        </p:nvSpPr>
        <p:spPr>
          <a:xfrm>
            <a:off x="952500" y="3110210"/>
            <a:ext cx="5795070" cy="57150"/>
          </a:xfrm>
          <a:prstGeom prst="rect">
            <a:avLst/>
          </a:prstGeom>
          <a:solidFill>
            <a:srgbClr val="3CCF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2"/>
          <p:cNvSpPr/>
          <p:nvPr/>
        </p:nvSpPr>
        <p:spPr>
          <a:xfrm>
            <a:off x="1257300" y="3434060"/>
            <a:ext cx="2715855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216" dirty="0">
                <a:solidFill>
                  <a:srgbClr val="3CCFB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WAVE 1 · PILOTO</a:t>
            </a:r>
            <a:endParaRPr lang="pt-BR" sz="1800" dirty="0"/>
          </a:p>
        </p:txBody>
      </p:sp>
      <p:sp>
        <p:nvSpPr>
          <p:cNvPr id="13" name="Text 13"/>
          <p:cNvSpPr/>
          <p:nvPr/>
        </p:nvSpPr>
        <p:spPr>
          <a:xfrm>
            <a:off x="5208290" y="3434060"/>
            <a:ext cx="135792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dirty="0">
                <a:solidFill>
                  <a:srgbClr val="A3A8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MESES 1–3</a:t>
            </a:r>
            <a:endParaRPr lang="pt-BR" sz="1800" dirty="0"/>
          </a:p>
        </p:txBody>
      </p:sp>
      <p:sp>
        <p:nvSpPr>
          <p:cNvPr id="14" name="Text 14"/>
          <p:cNvSpPr/>
          <p:nvPr/>
        </p:nvSpPr>
        <p:spPr>
          <a:xfrm>
            <a:off x="1257300" y="3865860"/>
            <a:ext cx="570401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3096"/>
              </a:lnSpc>
              <a:buNone/>
            </a:pPr>
            <a:r>
              <a:rPr lang="pt-BR" sz="7200" b="1" kern="0" spc="-288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90 dias</a:t>
            </a:r>
            <a:endParaRPr lang="pt-BR" sz="7200" dirty="0"/>
          </a:p>
        </p:txBody>
      </p:sp>
      <p:sp>
        <p:nvSpPr>
          <p:cNvPr id="15" name="Text 15"/>
          <p:cNvSpPr/>
          <p:nvPr/>
        </p:nvSpPr>
        <p:spPr>
          <a:xfrm>
            <a:off x="1257300" y="4913611"/>
            <a:ext cx="5704016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2400" b="1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LogiPredict + SentimentDesk</a:t>
            </a:r>
            <a:endParaRPr lang="pt-BR" sz="2400" dirty="0"/>
          </a:p>
        </p:txBody>
      </p:sp>
      <p:sp>
        <p:nvSpPr>
          <p:cNvPr id="16" name="Text 16"/>
          <p:cNvSpPr/>
          <p:nvPr/>
        </p:nvSpPr>
        <p:spPr>
          <a:xfrm>
            <a:off x="1257300" y="5562600"/>
            <a:ext cx="534103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pt-BR" sz="1800" kern="0" spc="144" dirty="0">
                <a:solidFill>
                  <a:srgbClr val="3CCFB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METAS TÉCNICAS</a:t>
            </a:r>
            <a:endParaRPr lang="pt-BR" sz="1800" dirty="0"/>
          </a:p>
        </p:txBody>
      </p:sp>
      <p:sp>
        <p:nvSpPr>
          <p:cNvPr id="17" name="Shape 17"/>
          <p:cNvSpPr/>
          <p:nvPr/>
        </p:nvSpPr>
        <p:spPr>
          <a:xfrm rot="2700000">
            <a:off x="7696200" y="3352800"/>
            <a:ext cx="800100" cy="800100"/>
          </a:xfrm>
          <a:prstGeom prst="rect">
            <a:avLst/>
          </a:prstGeom>
          <a:solidFill>
            <a:srgbClr val="10213A"/>
          </a:solidFill>
          <a:ln w="28575">
            <a:solidFill>
              <a:srgbClr val="3CCFB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8"/>
          <p:cNvSpPr/>
          <p:nvPr/>
        </p:nvSpPr>
        <p:spPr>
          <a:xfrm>
            <a:off x="6781800" y="4400550"/>
            <a:ext cx="253365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pt-BR" sz="1800" kern="0" spc="72" dirty="0">
                <a:solidFill>
                  <a:srgbClr val="F3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DECISÃO · DIA 90</a:t>
            </a:r>
            <a:endParaRPr lang="pt-BR" sz="1800" dirty="0"/>
          </a:p>
        </p:txBody>
      </p:sp>
      <p:sp>
        <p:nvSpPr>
          <p:cNvPr id="19" name="Text 19"/>
          <p:cNvSpPr/>
          <p:nvPr/>
        </p:nvSpPr>
        <p:spPr>
          <a:xfrm>
            <a:off x="7048500" y="4838700"/>
            <a:ext cx="209550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pt-BR" sz="2400" b="1" dirty="0">
                <a:solidFill>
                  <a:srgbClr val="3CCFB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ESCALAR</a:t>
            </a:r>
            <a:endParaRPr lang="pt-BR" sz="2400" dirty="0"/>
          </a:p>
        </p:txBody>
      </p:sp>
      <p:sp>
        <p:nvSpPr>
          <p:cNvPr id="20" name="Text 20"/>
          <p:cNvSpPr/>
          <p:nvPr/>
        </p:nvSpPr>
        <p:spPr>
          <a:xfrm>
            <a:off x="7048500" y="5295900"/>
            <a:ext cx="209550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pt-BR" sz="2400" b="1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AJUSTAR</a:t>
            </a:r>
            <a:endParaRPr lang="pt-BR" sz="2400" dirty="0"/>
          </a:p>
        </p:txBody>
      </p:sp>
      <p:sp>
        <p:nvSpPr>
          <p:cNvPr id="21" name="Text 21"/>
          <p:cNvSpPr/>
          <p:nvPr/>
        </p:nvSpPr>
        <p:spPr>
          <a:xfrm>
            <a:off x="7048500" y="5753100"/>
            <a:ext cx="209550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pt-BR" sz="2400" b="1" dirty="0">
                <a:solidFill>
                  <a:srgbClr val="A3A8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ENCERRAR</a:t>
            </a:r>
            <a:endParaRPr lang="pt-BR" sz="2400" dirty="0"/>
          </a:p>
        </p:txBody>
      </p:sp>
      <p:sp>
        <p:nvSpPr>
          <p:cNvPr id="22" name="Shape 22"/>
          <p:cNvSpPr/>
          <p:nvPr/>
        </p:nvSpPr>
        <p:spPr>
          <a:xfrm>
            <a:off x="9357420" y="3110210"/>
            <a:ext cx="2519660" cy="4000500"/>
          </a:xfrm>
          <a:prstGeom prst="rect">
            <a:avLst/>
          </a:prstGeom>
          <a:noFill/>
          <a:ln w="19050">
            <a:solidFill>
              <a:srgbClr val="2A30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3"/>
          <p:cNvSpPr/>
          <p:nvPr/>
        </p:nvSpPr>
        <p:spPr>
          <a:xfrm>
            <a:off x="9605070" y="3357860"/>
            <a:ext cx="2226796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180" dirty="0">
                <a:solidFill>
                  <a:srgbClr val="A3A8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WAVE 2</a:t>
            </a:r>
            <a:endParaRPr lang="pt-BR" sz="1800" dirty="0"/>
          </a:p>
        </p:txBody>
      </p:sp>
      <p:sp>
        <p:nvSpPr>
          <p:cNvPr id="24" name="Text 24"/>
          <p:cNvSpPr/>
          <p:nvPr/>
        </p:nvSpPr>
        <p:spPr>
          <a:xfrm>
            <a:off x="9605070" y="3770610"/>
            <a:ext cx="2226796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2400" b="1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WinBack</a:t>
            </a:r>
            <a:endParaRPr lang="pt-BR" sz="2400" dirty="0"/>
          </a:p>
        </p:txBody>
      </p:sp>
      <p:sp>
        <p:nvSpPr>
          <p:cNvPr id="25" name="Text 25"/>
          <p:cNvSpPr/>
          <p:nvPr/>
        </p:nvSpPr>
        <p:spPr>
          <a:xfrm>
            <a:off x="9605070" y="4297660"/>
            <a:ext cx="2190750" cy="1047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184"/>
              </a:lnSpc>
              <a:buNone/>
            </a:pPr>
            <a:r>
              <a:rPr lang="pt-BR" sz="1950" dirty="0">
                <a:solidFill>
                  <a:srgbClr val="A3A8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Condicionada aos resultados da Wave 1</a:t>
            </a:r>
            <a:endParaRPr lang="pt-BR" sz="1950" dirty="0"/>
          </a:p>
        </p:txBody>
      </p:sp>
      <p:sp>
        <p:nvSpPr>
          <p:cNvPr id="26" name="Shape 26"/>
          <p:cNvSpPr/>
          <p:nvPr/>
        </p:nvSpPr>
        <p:spPr>
          <a:xfrm>
            <a:off x="12086630" y="3110210"/>
            <a:ext cx="2519660" cy="4000500"/>
          </a:xfrm>
          <a:prstGeom prst="rect">
            <a:avLst/>
          </a:prstGeom>
          <a:noFill/>
          <a:ln w="19050">
            <a:solidFill>
              <a:srgbClr val="2A30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7"/>
          <p:cNvSpPr/>
          <p:nvPr/>
        </p:nvSpPr>
        <p:spPr>
          <a:xfrm>
            <a:off x="12334280" y="3357860"/>
            <a:ext cx="2226796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180" dirty="0">
                <a:solidFill>
                  <a:srgbClr val="A3A8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WAVE 3</a:t>
            </a:r>
            <a:endParaRPr lang="pt-BR" sz="1800" dirty="0"/>
          </a:p>
        </p:txBody>
      </p:sp>
      <p:sp>
        <p:nvSpPr>
          <p:cNvPr id="28" name="Text 28"/>
          <p:cNvSpPr/>
          <p:nvPr/>
        </p:nvSpPr>
        <p:spPr>
          <a:xfrm>
            <a:off x="12334280" y="3770610"/>
            <a:ext cx="2100560" cy="863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2400" b="1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SellerCare + SmartFreight</a:t>
            </a:r>
            <a:endParaRPr lang="pt-BR" sz="2400" dirty="0"/>
          </a:p>
        </p:txBody>
      </p:sp>
      <p:sp>
        <p:nvSpPr>
          <p:cNvPr id="29" name="Text 29"/>
          <p:cNvSpPr/>
          <p:nvPr/>
        </p:nvSpPr>
        <p:spPr>
          <a:xfrm>
            <a:off x="12334280" y="4710410"/>
            <a:ext cx="2190750" cy="1047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184"/>
              </a:lnSpc>
              <a:buNone/>
            </a:pPr>
            <a:r>
              <a:rPr lang="pt-BR" sz="1950" dirty="0">
                <a:solidFill>
                  <a:srgbClr val="A3A8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Condicionada a uplift comprovado</a:t>
            </a:r>
            <a:endParaRPr lang="pt-BR" sz="1950" dirty="0"/>
          </a:p>
        </p:txBody>
      </p:sp>
      <p:sp>
        <p:nvSpPr>
          <p:cNvPr id="30" name="Shape 30"/>
          <p:cNvSpPr/>
          <p:nvPr/>
        </p:nvSpPr>
        <p:spPr>
          <a:xfrm>
            <a:off x="14815840" y="3110210"/>
            <a:ext cx="2519561" cy="4000500"/>
          </a:xfrm>
          <a:prstGeom prst="rect">
            <a:avLst/>
          </a:prstGeom>
          <a:noFill/>
          <a:ln w="19050">
            <a:solidFill>
              <a:srgbClr val="2A30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31"/>
          <p:cNvSpPr/>
          <p:nvPr/>
        </p:nvSpPr>
        <p:spPr>
          <a:xfrm>
            <a:off x="15063490" y="3357860"/>
            <a:ext cx="2226687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180" dirty="0">
                <a:solidFill>
                  <a:srgbClr val="A3A8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FASE FUTURA</a:t>
            </a:r>
            <a:endParaRPr lang="pt-BR" sz="1800" dirty="0"/>
          </a:p>
        </p:txBody>
      </p:sp>
      <p:sp>
        <p:nvSpPr>
          <p:cNvPr id="32" name="Text 32"/>
          <p:cNvSpPr/>
          <p:nvPr/>
        </p:nvSpPr>
        <p:spPr>
          <a:xfrm>
            <a:off x="15063490" y="3770610"/>
            <a:ext cx="2226687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2400" b="1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Maestro</a:t>
            </a:r>
            <a:endParaRPr lang="pt-BR" sz="2400" dirty="0"/>
          </a:p>
        </p:txBody>
      </p:sp>
      <p:sp>
        <p:nvSpPr>
          <p:cNvPr id="33" name="Text 33"/>
          <p:cNvSpPr/>
          <p:nvPr/>
        </p:nvSpPr>
        <p:spPr>
          <a:xfrm>
            <a:off x="15063490" y="4297660"/>
            <a:ext cx="2190750" cy="1047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184"/>
              </a:lnSpc>
              <a:buNone/>
            </a:pPr>
            <a:r>
              <a:rPr lang="pt-BR" sz="1950" dirty="0">
                <a:solidFill>
                  <a:srgbClr val="A3A8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Orquestração ampliada</a:t>
            </a:r>
            <a:endParaRPr lang="pt-BR" sz="1950" dirty="0"/>
          </a:p>
        </p:txBody>
      </p:sp>
      <p:sp>
        <p:nvSpPr>
          <p:cNvPr id="34" name="Shape 34"/>
          <p:cNvSpPr/>
          <p:nvPr/>
        </p:nvSpPr>
        <p:spPr>
          <a:xfrm>
            <a:off x="952500" y="7872710"/>
            <a:ext cx="16383000" cy="9525"/>
          </a:xfrm>
          <a:prstGeom prst="rect">
            <a:avLst/>
          </a:prstGeom>
          <a:solidFill>
            <a:srgbClr val="2A30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5"/>
          <p:cNvSpPr/>
          <p:nvPr/>
        </p:nvSpPr>
        <p:spPr>
          <a:xfrm>
            <a:off x="952500" y="8183860"/>
            <a:ext cx="2943225" cy="63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216" dirty="0">
                <a:solidFill>
                  <a:srgbClr val="3CCFB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CRITÉRIOS DE AVANÇO</a:t>
            </a:r>
            <a:endParaRPr lang="pt-BR" sz="1800" dirty="0"/>
          </a:p>
        </p:txBody>
      </p:sp>
      <p:sp>
        <p:nvSpPr>
          <p:cNvPr id="36" name="Text 36"/>
          <p:cNvSpPr/>
          <p:nvPr/>
        </p:nvSpPr>
        <p:spPr>
          <a:xfrm>
            <a:off x="4191000" y="8183860"/>
            <a:ext cx="21342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pt-BR" sz="1800" dirty="0"/>
          </a:p>
        </p:txBody>
      </p:sp>
      <p:sp>
        <p:nvSpPr>
          <p:cNvPr id="37" name="Text 37"/>
          <p:cNvSpPr/>
          <p:nvPr/>
        </p:nvSpPr>
        <p:spPr>
          <a:xfrm>
            <a:off x="4480620" y="8126710"/>
            <a:ext cx="341664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355"/>
              </a:lnSpc>
              <a:buNone/>
            </a:pPr>
            <a:r>
              <a:rPr lang="pt-BR" sz="2250" b="1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Qualidade e segurança</a:t>
            </a:r>
            <a:endParaRPr lang="pt-BR" sz="2250" dirty="0"/>
          </a:p>
        </p:txBody>
      </p:sp>
      <p:sp>
        <p:nvSpPr>
          <p:cNvPr id="38" name="Text 38"/>
          <p:cNvSpPr/>
          <p:nvPr/>
        </p:nvSpPr>
        <p:spPr>
          <a:xfrm>
            <a:off x="8699500" y="8183860"/>
            <a:ext cx="21342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pt-BR" sz="1800" dirty="0"/>
          </a:p>
        </p:txBody>
      </p:sp>
      <p:sp>
        <p:nvSpPr>
          <p:cNvPr id="39" name="Text 39"/>
          <p:cNvSpPr/>
          <p:nvPr/>
        </p:nvSpPr>
        <p:spPr>
          <a:xfrm>
            <a:off x="8989120" y="8126710"/>
            <a:ext cx="3953017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355"/>
              </a:lnSpc>
              <a:buNone/>
            </a:pPr>
            <a:r>
              <a:rPr lang="pt-BR" sz="2250" b="1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Benefício incremental frente ao controle</a:t>
            </a:r>
            <a:endParaRPr lang="pt-BR" sz="2250" dirty="0"/>
          </a:p>
        </p:txBody>
      </p:sp>
      <p:sp>
        <p:nvSpPr>
          <p:cNvPr id="40" name="Text 40"/>
          <p:cNvSpPr/>
          <p:nvPr/>
        </p:nvSpPr>
        <p:spPr>
          <a:xfrm>
            <a:off x="13208001" y="8183860"/>
            <a:ext cx="21342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pt-BR" sz="1800" dirty="0"/>
          </a:p>
        </p:txBody>
      </p:sp>
      <p:sp>
        <p:nvSpPr>
          <p:cNvPr id="41" name="Text 41"/>
          <p:cNvSpPr/>
          <p:nvPr/>
        </p:nvSpPr>
        <p:spPr>
          <a:xfrm>
            <a:off x="13497620" y="8126710"/>
            <a:ext cx="3953017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355"/>
              </a:lnSpc>
              <a:buNone/>
            </a:pPr>
            <a:r>
              <a:rPr lang="pt-BR" sz="2250" b="1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Viabilidade econômica e operacional</a:t>
            </a:r>
            <a:endParaRPr lang="pt-BR" sz="2250" dirty="0"/>
          </a:p>
        </p:txBody>
      </p:sp>
      <p:sp>
        <p:nvSpPr>
          <p:cNvPr id="42" name="Text 42"/>
          <p:cNvSpPr/>
          <p:nvPr/>
        </p:nvSpPr>
        <p:spPr>
          <a:xfrm>
            <a:off x="1257300" y="5905500"/>
            <a:ext cx="53340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2100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Falso positivo ≤ 20%</a:t>
            </a:r>
            <a:endParaRPr lang="pt-BR" sz="2100" dirty="0"/>
          </a:p>
        </p:txBody>
      </p:sp>
      <p:sp>
        <p:nvSpPr>
          <p:cNvPr id="43" name="Text 43"/>
          <p:cNvSpPr/>
          <p:nvPr/>
        </p:nvSpPr>
        <p:spPr>
          <a:xfrm>
            <a:off x="1257300" y="6248400"/>
            <a:ext cx="53340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2100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Classificação correta ≥ 85%</a:t>
            </a:r>
            <a:endParaRPr lang="pt-BR" sz="2100" dirty="0"/>
          </a:p>
        </p:txBody>
      </p:sp>
      <p:sp>
        <p:nvSpPr>
          <p:cNvPr id="44" name="Text 44"/>
          <p:cNvSpPr/>
          <p:nvPr/>
        </p:nvSpPr>
        <p:spPr>
          <a:xfrm>
            <a:off x="1257300" y="6591300"/>
            <a:ext cx="53340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2100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90% das respostas em &lt; 24 h</a:t>
            </a:r>
            <a:endParaRPr lang="pt-BR" sz="2100" dirty="0"/>
          </a:p>
        </p:txBody>
      </p:sp>
      <p:sp>
        <p:nvSpPr>
          <p:cNvPr id="45" name="Shape 45"/>
          <p:cNvSpPr/>
          <p:nvPr/>
        </p:nvSpPr>
        <p:spPr>
          <a:xfrm>
            <a:off x="6743700" y="3743325"/>
            <a:ext cx="876300" cy="19050"/>
          </a:xfrm>
          <a:prstGeom prst="rect">
            <a:avLst/>
          </a:prstGeom>
          <a:solidFill>
            <a:srgbClr val="2A30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Shape 46"/>
          <p:cNvSpPr/>
          <p:nvPr/>
        </p:nvSpPr>
        <p:spPr>
          <a:xfrm>
            <a:off x="8572500" y="3743325"/>
            <a:ext cx="781050" cy="19050"/>
          </a:xfrm>
          <a:prstGeom prst="rect">
            <a:avLst/>
          </a:prstGeom>
          <a:solidFill>
            <a:srgbClr val="2A30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Shape 47"/>
          <p:cNvSpPr/>
          <p:nvPr/>
        </p:nvSpPr>
        <p:spPr>
          <a:xfrm>
            <a:off x="952500" y="9163050"/>
            <a:ext cx="16383000" cy="9525"/>
          </a:xfrm>
          <a:prstGeom prst="rect">
            <a:avLst/>
          </a:prstGeom>
          <a:solidFill>
            <a:srgbClr val="2A30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Text 48"/>
          <p:cNvSpPr/>
          <p:nvPr/>
        </p:nvSpPr>
        <p:spPr>
          <a:xfrm>
            <a:off x="952500" y="9382125"/>
            <a:ext cx="40005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kern="0" spc="144" dirty="0">
                <a:solidFill>
                  <a:srgbClr val="8E7C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PRÓXIMA ETAPA ACADÊMICA</a:t>
            </a:r>
            <a:endParaRPr lang="pt-BR" sz="1800" dirty="0"/>
          </a:p>
        </p:txBody>
      </p:sp>
      <p:sp>
        <p:nvSpPr>
          <p:cNvPr id="49" name="Text 49"/>
          <p:cNvSpPr/>
          <p:nvPr/>
        </p:nvSpPr>
        <p:spPr>
          <a:xfrm>
            <a:off x="4953000" y="9382125"/>
            <a:ext cx="123825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pt-BR" sz="1800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Fase 3 do Tech Challenge: protótipo low-code do LogiPredict e do SentimentDesk com os casos reais.</a:t>
            </a:r>
            <a:endParaRPr lang="pt-BR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6263"/>
            <a:ext cx="512982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OLIST · FROM INSIGHT TO IMPACT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684298" y="533400"/>
            <a:ext cx="147528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DESCOBRIR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464382" y="533400"/>
            <a:ext cx="131980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DESENHAR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5088989" y="890587"/>
            <a:ext cx="1088231" cy="25400"/>
          </a:xfrm>
          <a:prstGeom prst="rect">
            <a:avLst/>
          </a:prstGeom>
          <a:solidFill>
            <a:srgbClr val="3CCF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5088989" y="534988"/>
            <a:ext cx="1164431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F3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ESCALAR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558221" y="533400"/>
            <a:ext cx="85348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12/12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52500" y="2095500"/>
            <a:ext cx="10791825" cy="20587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704"/>
              </a:lnSpc>
              <a:buNone/>
            </a:pPr>
            <a:r>
              <a:rPr lang="en-US" sz="7800" b="1" kern="0" spc="-273" dirty="0">
                <a:solidFill>
                  <a:srgbClr val="A3A8B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Não propomos mais agentes.</a:t>
            </a:r>
            <a:endParaRPr lang="en-US" sz="7800" dirty="0"/>
          </a:p>
        </p:txBody>
      </p:sp>
      <p:sp>
        <p:nvSpPr>
          <p:cNvPr id="9" name="Text 7"/>
          <p:cNvSpPr/>
          <p:nvPr/>
        </p:nvSpPr>
        <p:spPr>
          <a:xfrm>
            <a:off x="952500" y="4173339"/>
            <a:ext cx="10791825" cy="20587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704"/>
              </a:lnSpc>
              <a:buNone/>
            </a:pPr>
            <a:r>
              <a:rPr lang="en-US" sz="7800" b="1" kern="0" spc="-273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Propomos agentes melhores.</a:t>
            </a:r>
            <a:endParaRPr lang="en-US" sz="7800" dirty="0"/>
          </a:p>
        </p:txBody>
      </p:sp>
      <p:sp>
        <p:nvSpPr>
          <p:cNvPr id="10" name="Text 8"/>
          <p:cNvSpPr/>
          <p:nvPr/>
        </p:nvSpPr>
        <p:spPr>
          <a:xfrm>
            <a:off x="12763500" y="2209800"/>
            <a:ext cx="470916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3CCFB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DECISÃO AGORA É VALIDAR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763500" y="2698750"/>
            <a:ext cx="4572000" cy="9525"/>
          </a:xfrm>
          <a:prstGeom prst="rect">
            <a:avLst/>
          </a:prstGeom>
          <a:solidFill>
            <a:srgbClr val="2A3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763500" y="2914650"/>
            <a:ext cx="4709160" cy="711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90 dias</a:t>
            </a:r>
            <a:endParaRPr lang="en-US" sz="3900" dirty="0"/>
          </a:p>
        </p:txBody>
      </p:sp>
      <p:sp>
        <p:nvSpPr>
          <p:cNvPr id="13" name="Shape 11"/>
          <p:cNvSpPr/>
          <p:nvPr/>
        </p:nvSpPr>
        <p:spPr>
          <a:xfrm>
            <a:off x="12763500" y="3797300"/>
            <a:ext cx="4572000" cy="9525"/>
          </a:xfrm>
          <a:prstGeom prst="rect">
            <a:avLst/>
          </a:prstGeom>
          <a:solidFill>
            <a:srgbClr val="2A3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763500" y="4013200"/>
            <a:ext cx="4709160" cy="711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F3F4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Dois agentes</a:t>
            </a:r>
            <a:endParaRPr lang="en-US" sz="3900" dirty="0"/>
          </a:p>
        </p:txBody>
      </p:sp>
      <p:sp>
        <p:nvSpPr>
          <p:cNvPr id="15" name="Shape 13"/>
          <p:cNvSpPr/>
          <p:nvPr/>
        </p:nvSpPr>
        <p:spPr>
          <a:xfrm>
            <a:off x="12763500" y="6667500"/>
            <a:ext cx="4572000" cy="9525"/>
          </a:xfrm>
          <a:prstGeom prst="rect">
            <a:avLst/>
          </a:prstGeom>
          <a:solidFill>
            <a:srgbClr val="2A3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2763500" y="4895850"/>
            <a:ext cx="4572000" cy="9525"/>
          </a:xfrm>
          <a:prstGeom prst="rect">
            <a:avLst/>
          </a:prstGeom>
          <a:solidFill>
            <a:srgbClr val="2A3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2763500" y="5111750"/>
            <a:ext cx="4709160" cy="1384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3CCFB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Impacto mensurável</a:t>
            </a:r>
            <a:endParaRPr lang="en-US" sz="3900" dirty="0"/>
          </a:p>
        </p:txBody>
      </p:sp>
      <p:sp>
        <p:nvSpPr>
          <p:cNvPr id="18" name="Shape 16"/>
          <p:cNvSpPr/>
          <p:nvPr/>
        </p:nvSpPr>
        <p:spPr>
          <a:xfrm>
            <a:off x="952500" y="8382000"/>
            <a:ext cx="16383000" cy="19050"/>
          </a:xfrm>
          <a:prstGeom prst="rect">
            <a:avLst/>
          </a:prstGeom>
          <a:solidFill>
            <a:srgbClr val="2A3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096125" y="7810500"/>
            <a:ext cx="19050" cy="571500"/>
          </a:xfrm>
          <a:prstGeom prst="rect">
            <a:avLst/>
          </a:prstGeom>
          <a:solidFill>
            <a:srgbClr val="8E7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3239750" y="7810500"/>
            <a:ext cx="19050" cy="571500"/>
          </a:xfrm>
          <a:prstGeom prst="rect">
            <a:avLst/>
          </a:prstGeom>
          <a:solidFill>
            <a:srgbClr val="8E7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5287625" y="7810500"/>
            <a:ext cx="19050" cy="571500"/>
          </a:xfrm>
          <a:prstGeom prst="rect">
            <a:avLst/>
          </a:prstGeom>
          <a:solidFill>
            <a:srgbClr val="2A3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000875" y="7715250"/>
            <a:ext cx="209550" cy="209550"/>
          </a:xfrm>
          <a:prstGeom prst="ellipse">
            <a:avLst/>
          </a:prstGeom>
          <a:solidFill>
            <a:srgbClr val="8E7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3144500" y="7715250"/>
            <a:ext cx="209550" cy="209550"/>
          </a:xfrm>
          <a:prstGeom prst="ellipse">
            <a:avLst/>
          </a:prstGeom>
          <a:solidFill>
            <a:srgbClr val="8E7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5192375" y="7715250"/>
            <a:ext cx="209550" cy="209550"/>
          </a:xfrm>
          <a:prstGeom prst="ellipse">
            <a:avLst/>
          </a:prstGeom>
          <a:solidFill>
            <a:srgbClr val="0A0D1A"/>
          </a:solidFill>
          <a:ln w="19050">
            <a:solidFill>
              <a:srgbClr val="7C829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85825" y="8324850"/>
            <a:ext cx="133350" cy="133350"/>
          </a:xfrm>
          <a:prstGeom prst="ellipse">
            <a:avLst/>
          </a:prstGeom>
          <a:solidFill>
            <a:srgbClr val="F3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981575" y="8324850"/>
            <a:ext cx="133350" cy="133350"/>
          </a:xfrm>
          <a:prstGeom prst="ellipse">
            <a:avLst/>
          </a:prstGeom>
          <a:solidFill>
            <a:srgbClr val="F3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077325" y="8324850"/>
            <a:ext cx="133350" cy="133350"/>
          </a:xfrm>
          <a:prstGeom prst="ellipse">
            <a:avLst/>
          </a:prstGeom>
          <a:solidFill>
            <a:srgbClr val="F3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3173075" y="8324850"/>
            <a:ext cx="133350" cy="133350"/>
          </a:xfrm>
          <a:prstGeom prst="ellipse">
            <a:avLst/>
          </a:prstGeom>
          <a:solidFill>
            <a:srgbClr val="F3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7268825" y="8324850"/>
            <a:ext cx="133350" cy="133350"/>
          </a:xfrm>
          <a:prstGeom prst="ellipse">
            <a:avLst/>
          </a:prstGeom>
          <a:solidFill>
            <a:srgbClr val="3CCF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52500" y="8648700"/>
            <a:ext cx="1008955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COMPRA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426446" y="8648700"/>
            <a:ext cx="1367969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POSTAGEM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599884" y="8648700"/>
            <a:ext cx="1164431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ENTREGA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2540209" y="8648700"/>
            <a:ext cx="1538992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AVALIAÇÃO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6091892" y="8648700"/>
            <a:ext cx="1367969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7C8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RECOMPRA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52500" y="9556750"/>
            <a:ext cx="13290927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C82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FIAP · Tech Challenge · Fase 2 — Leonardo Granjeiro · Jorge Leandro Piva · Caio Sousa · Lucas Vinicius Oliveira Mendes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2138</Words>
  <Application>Microsoft Office PowerPoint</Application>
  <PresentationFormat>Custom</PresentationFormat>
  <Paragraphs>352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IBM Plex Mono</vt:lpstr>
      <vt:lpstr>Manrope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Olist · From Insight to Impact · Fase 2 · V5 final</dc:title>
  <dc:subject>PptxGenJS Presentation</dc:subject>
  <dc:creator>PptxGenJS</dc:creator>
  <cp:lastModifiedBy>Leonardo Granjeiro</cp:lastModifiedBy>
  <cp:revision>1</cp:revision>
  <dcterms:created xsi:type="dcterms:W3CDTF">2026-10-19T18:32:45Z</dcterms:created>
  <dcterms:modified xsi:type="dcterms:W3CDTF">2026-10-19T22:49:31Z</dcterms:modified>
</cp:coreProperties>
</file>